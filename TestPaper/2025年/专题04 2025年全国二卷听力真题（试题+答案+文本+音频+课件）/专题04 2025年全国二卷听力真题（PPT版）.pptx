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 removePersonalInfoOnSave="1">
  <p:sldMasterIdLst>
    <p:sldMasterId id="2147483648" r:id="rId1"/>
  </p:sldMasterIdLst>
  <p:notesMasterIdLst>
    <p:notesMasterId r:id="rId2"/>
  </p:notesMasterIdLst>
  <p:sldIdLst>
    <p:sldId id="585" r:id="rId3"/>
    <p:sldId id="1263" r:id="rId4"/>
    <p:sldId id="1262" r:id="rId5"/>
    <p:sldId id="1286" r:id="rId6"/>
    <p:sldId id="1253" r:id="rId7"/>
    <p:sldId id="1264" r:id="rId8"/>
    <p:sldId id="1266" r:id="rId9"/>
    <p:sldId id="1265" r:id="rId10"/>
    <p:sldId id="1267" r:id="rId11"/>
    <p:sldId id="1268" r:id="rId12"/>
    <p:sldId id="1269" r:id="rId13"/>
    <p:sldId id="1270" r:id="rId14"/>
    <p:sldId id="1271" r:id="rId15"/>
    <p:sldId id="1272" r:id="rId16"/>
    <p:sldId id="1273" r:id="rId17"/>
    <p:sldId id="1274" r:id="rId18"/>
    <p:sldId id="1275" r:id="rId19"/>
    <p:sldId id="1277" r:id="rId20"/>
    <p:sldId id="1278" r:id="rId21"/>
    <p:sldId id="1279" r:id="rId22"/>
    <p:sldId id="1280" r:id="rId23"/>
    <p:sldId id="1282" r:id="rId24"/>
    <p:sldId id="1283" r:id="rId25"/>
    <p:sldId id="1284" r:id="rId26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orient="horz" pos="1001" userDrawn="1">
          <p15:clr>
            <a:srgbClr val="A4A3A4"/>
          </p15:clr>
        </p15:guide>
        <p15:guide id="3" pos="4930" userDrawn="1">
          <p15:clr>
            <a:srgbClr val="A4A3A4"/>
          </p15:clr>
        </p15:guide>
        <p15:guide id="4" pos="2817" userDrawn="1">
          <p15:clr>
            <a:srgbClr val="A4A3A4"/>
          </p15:clr>
        </p15:guide>
        <p15:guide id="5" pos="3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450" autoAdjust="0"/>
    <p:restoredTop sz="91920" autoAdjust="0"/>
  </p:normalViewPr>
  <p:slideViewPr>
    <p:cSldViewPr snapToGrid="0" showGuides="1">
      <p:cViewPr>
        <p:scale>
          <a:sx n="100" d="100"/>
          <a:sy n="100" d="100"/>
        </p:scale>
        <p:origin x="-852" y="-390"/>
      </p:cViewPr>
      <p:guideLst>
        <p:guide orient="horz" pos="2120"/>
        <p:guide orient="horz" pos="1001"/>
        <p:guide pos="4930"/>
        <p:guide pos="2817"/>
        <p:guide pos="392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tags" Target="tags/tag43.xml" /><Relationship Id="rId28" Type="http://schemas.openxmlformats.org/officeDocument/2006/relationships/presProps" Target="presProps.xml" /><Relationship Id="rId29" Type="http://schemas.openxmlformats.org/officeDocument/2006/relationships/viewProps" Target="viewProps.xml" /><Relationship Id="rId3" Type="http://schemas.openxmlformats.org/officeDocument/2006/relationships/slide" Target="slides/slide1.xml" /><Relationship Id="rId30" Type="http://schemas.openxmlformats.org/officeDocument/2006/relationships/theme" Target="theme/theme1.xml" /><Relationship Id="rId31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E4C1-D3A5-43D2-971C-709C6D848150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4F384-1D1D-4AAD-AE68-D802FD7180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本讲内容&amp;金句"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9" name="图片 36"/>
          <p:cNvPicPr>
            <a:picLocks noChangeAspect="1" noChangeArrowheads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" t="-1" b="909"/>
          <a:stretch>
            <a:fillRect/>
          </a:stretch>
        </p:blipFill>
        <p:spPr bwMode="auto">
          <a:xfrm>
            <a:off x="0" y="6165850"/>
            <a:ext cx="121920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32" descr="图片包含 轮廓  已生成高可信度的说明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3287713" cy="14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【正文】一部分"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350874" y="6582976"/>
            <a:ext cx="754939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【正文】一部分"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41" name="直接箭头连接符 79"/>
          <p:cNvCxnSpPr/>
          <p:nvPr userDrawn="1"/>
        </p:nvCxnSpPr>
        <p:spPr bwMode="auto">
          <a:xfrm>
            <a:off x="4945380" y="258274"/>
            <a:ext cx="6911260" cy="2374"/>
          </a:xfrm>
          <a:prstGeom prst="straightConnector1">
            <a:avLst/>
          </a:prstGeom>
          <a:ln w="635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350874" y="6582976"/>
            <a:ext cx="754939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812" y="0"/>
            <a:ext cx="961839" cy="411359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image" Target="file:///D:\qq&#25991;&#20214;\712321467\Image\C2C\Image2\%7b75232B38-A165-1FB7-499C-2E1C792CACB5%7d.png" TargetMode="External" /><Relationship Id="rId5" Type="http://schemas.openxmlformats.org/officeDocument/2006/relationships/image" Target="../media/image4.png" /><Relationship Id="rId6" Type="http://schemas.openxmlformats.org/officeDocument/2006/relationships/image" Target="../media/image5.png" /><Relationship Id="rId7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/>
          <p:cNvPicPr>
            <a:picLocks noChangeAspect="1"/>
          </p:cNvPicPr>
          <p:nvPr/>
        </p:nvPicPr>
        <p:blipFill>
          <a:blip r:embed="rId5" r:link="rId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3" name="图片 1073743875" descr="学科网 zxxk.com"/>
          <p:cNvPicPr>
            <a:picLocks noChangeAspect="1"/>
          </p:cNvPicPr>
          <p:nvPr/>
        </p:nvPicPr>
        <p:blipFill>
          <a:blip r:embed="rId5" r:link="rId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4" name="图片 1073743875" descr="学科网 zxxk.com" title=""/>
          <p:cNvPicPr>
            <a:picLocks noChangeAspect="1"/>
          </p:cNvPicPr>
          <p:nvPr/>
        </p:nvPicPr>
        <p:blipFill>
          <a:blip r:embed="rId6" r:link="rId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.xml" /><Relationship Id="rId3" Type="http://schemas.openxmlformats.org/officeDocument/2006/relationships/tags" Target="../tags/tag2.xml" /><Relationship Id="rId4" Type="http://schemas.openxmlformats.org/officeDocument/2006/relationships/image" Target="../media/image7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.xml" /><Relationship Id="rId3" Type="http://schemas.openxmlformats.org/officeDocument/2006/relationships/tags" Target="../tags/tag4.xml" /><Relationship Id="rId4" Type="http://schemas.openxmlformats.org/officeDocument/2006/relationships/image" Target="../media/image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5.xml" /><Relationship Id="rId3" Type="http://schemas.openxmlformats.org/officeDocument/2006/relationships/tags" Target="../tags/tag6.xml" /><Relationship Id="rId4" Type="http://schemas.openxmlformats.org/officeDocument/2006/relationships/tags" Target="../tags/tag7.xml" /><Relationship Id="rId5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8.xml" /><Relationship Id="rId3" Type="http://schemas.openxmlformats.org/officeDocument/2006/relationships/tags" Target="../tags/tag9.xml" /><Relationship Id="rId4" Type="http://schemas.openxmlformats.org/officeDocument/2006/relationships/image" Target="../media/image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0.xml" /><Relationship Id="rId3" Type="http://schemas.openxmlformats.org/officeDocument/2006/relationships/tags" Target="../tags/tag11.xml" /><Relationship Id="rId4" Type="http://schemas.openxmlformats.org/officeDocument/2006/relationships/image" Target="../media/image7.png" /><Relationship Id="rId5" Type="http://schemas.openxmlformats.org/officeDocument/2006/relationships/image" Target="../media/image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image" Target="../media/image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4.xml" /><Relationship Id="rId3" Type="http://schemas.openxmlformats.org/officeDocument/2006/relationships/tags" Target="../tags/tag15.xml" /><Relationship Id="rId4" Type="http://schemas.openxmlformats.org/officeDocument/2006/relationships/image" Target="../media/image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6.xml" /><Relationship Id="rId3" Type="http://schemas.openxmlformats.org/officeDocument/2006/relationships/tags" Target="../tags/tag17.xml" /><Relationship Id="rId4" Type="http://schemas.openxmlformats.org/officeDocument/2006/relationships/image" Target="../media/image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8.xml" /><Relationship Id="rId3" Type="http://schemas.openxmlformats.org/officeDocument/2006/relationships/tags" Target="../tags/tag19.xml" /><Relationship Id="rId4" Type="http://schemas.openxmlformats.org/officeDocument/2006/relationships/image" Target="../media/image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0.xml" /><Relationship Id="rId3" Type="http://schemas.openxmlformats.org/officeDocument/2006/relationships/tags" Target="../tags/tag21.xml" /><Relationship Id="rId4" Type="http://schemas.openxmlformats.org/officeDocument/2006/relationships/image" Target="../media/image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2.xml" /><Relationship Id="rId3" Type="http://schemas.openxmlformats.org/officeDocument/2006/relationships/tags" Target="../tags/tag23.xml" /><Relationship Id="rId4" Type="http://schemas.openxmlformats.org/officeDocument/2006/relationships/image" Target="../media/image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4.xml" /><Relationship Id="rId3" Type="http://schemas.openxmlformats.org/officeDocument/2006/relationships/tags" Target="../tags/tag25.xml" /><Relationship Id="rId4" Type="http://schemas.openxmlformats.org/officeDocument/2006/relationships/image" Target="../media/image7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6.xml" /><Relationship Id="rId3" Type="http://schemas.openxmlformats.org/officeDocument/2006/relationships/tags" Target="../tags/tag27.xml" /><Relationship Id="rId4" Type="http://schemas.openxmlformats.org/officeDocument/2006/relationships/image" Target="../media/image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28.xml" /><Relationship Id="rId3" Type="http://schemas.openxmlformats.org/officeDocument/2006/relationships/tags" Target="../tags/tag29.xml" /><Relationship Id="rId4" Type="http://schemas.openxmlformats.org/officeDocument/2006/relationships/image" Target="../media/image7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0.xml" /><Relationship Id="rId3" Type="http://schemas.openxmlformats.org/officeDocument/2006/relationships/tags" Target="../tags/tag31.xml" /><Relationship Id="rId4" Type="http://schemas.openxmlformats.org/officeDocument/2006/relationships/image" Target="../media/image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2.xml" /><Relationship Id="rId3" Type="http://schemas.openxmlformats.org/officeDocument/2006/relationships/tags" Target="../tags/tag33.xml" /><Relationship Id="rId4" Type="http://schemas.openxmlformats.org/officeDocument/2006/relationships/image" Target="../media/image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4.xml" /><Relationship Id="rId3" Type="http://schemas.openxmlformats.org/officeDocument/2006/relationships/tags" Target="../tags/tag35.xml" /><Relationship Id="rId4" Type="http://schemas.openxmlformats.org/officeDocument/2006/relationships/image" Target="../media/image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6.xml" /><Relationship Id="rId3" Type="http://schemas.openxmlformats.org/officeDocument/2006/relationships/tags" Target="../tags/tag37.xml" /><Relationship Id="rId4" Type="http://schemas.openxmlformats.org/officeDocument/2006/relationships/image" Target="../media/image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image" Target="../media/image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40.xml" /><Relationship Id="rId3" Type="http://schemas.openxmlformats.org/officeDocument/2006/relationships/tags" Target="../tags/tag41.xml" /><Relationship Id="rId4" Type="http://schemas.openxmlformats.org/officeDocument/2006/relationships/image" Target="../media/image7.png" /><Relationship Id="rId5" Type="http://schemas.openxmlformats.org/officeDocument/2006/relationships/tags" Target="../tags/tag4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圆角矩形 3" title=""/>
          <p:cNvSpPr/>
          <p:nvPr/>
        </p:nvSpPr>
        <p:spPr>
          <a:xfrm>
            <a:off x="2023110" y="2253615"/>
            <a:ext cx="8482965" cy="2213610"/>
          </a:xfrm>
          <a:prstGeom prst="round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5" name="文本框 4" title=""/>
          <p:cNvSpPr txBox="1"/>
          <p:nvPr/>
        </p:nvSpPr>
        <p:spPr>
          <a:xfrm>
            <a:off x="1969659" y="2316867"/>
            <a:ext cx="84632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真题解析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专题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04 2025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年</a:t>
            </a:r>
            <a:endParaRPr lang="en-US" altLang="zh-CN" sz="4400" b="1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全国二卷英语听力完全解读</a:t>
            </a:r>
            <a:endParaRPr lang="zh-CN" altLang="en-US" sz="4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pic>
        <p:nvPicPr>
          <p:cNvPr id="6" name="图片 5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61" y="268148"/>
            <a:ext cx="962777" cy="2880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 title=""/>
          <p:cNvSpPr txBox="1"/>
          <p:nvPr/>
        </p:nvSpPr>
        <p:spPr>
          <a:xfrm>
            <a:off x="1969659" y="2316867"/>
            <a:ext cx="846328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真题解析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专题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02 2025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年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1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月浙江贵州听力完全解读</a:t>
            </a:r>
            <a:endParaRPr lang="zh-CN" altLang="en-US" sz="4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pic>
        <p:nvPicPr>
          <p:cNvPr id="6" name="图片 5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61" y="268148"/>
            <a:ext cx="962777" cy="288000"/>
          </a:xfrm>
          <a:prstGeom prst="rect">
            <a:avLst/>
          </a:prstGeom>
        </p:spPr>
      </p:pic>
      <p:sp>
        <p:nvSpPr>
          <p:cNvPr id="7" name="Rectangle 1" title=""/>
          <p:cNvSpPr>
            <a:spLocks noChangeArrowheads="1"/>
          </p:cNvSpPr>
          <p:nvPr/>
        </p:nvSpPr>
        <p:spPr bwMode="auto">
          <a:xfrm>
            <a:off x="373711" y="1215046"/>
            <a:ext cx="11473731" cy="501675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      听力部分要求考生听懂有关日常生活中所熟悉的话题，如：出行指路、餐厅结账、购买电脑、学术交流、不小心损坏东西、约会安排、学生使用智能手机的困扰、变更度假计划、工作机会与抉择、暑期夏令营介绍。与往年相同，听力部分中有</a:t>
            </a:r>
            <a:r>
              <a:rPr lang="en-US" altLang="en-US" sz="3200" b="1" smtClean="0">
                <a:latin typeface="微软雅黑" pitchFamily="34" charset="-122"/>
                <a:ea typeface="微软雅黑" pitchFamily="34" charset="-122"/>
              </a:rPr>
              <a:t>10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段听力材料，其中的</a:t>
            </a:r>
            <a:r>
              <a:rPr lang="en-US" altLang="en-US" sz="3200" b="1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段较短，另</a:t>
            </a:r>
            <a:r>
              <a:rPr lang="en-US" altLang="en-US" sz="3200" b="1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段则较长。话题覆盖面广，对话内容逻辑清楚，话语流畅。所考查的听力微技能包括：理解主旨与要义、获取事实性具体信息、对所听内容作出简单推断、理解说话者的意图、观点和态度。问题涉及多个方面和多个角度，采用 </a:t>
            </a:r>
            <a:r>
              <a:rPr lang="en-US" altLang="en-US" sz="3200" b="1" smtClean="0">
                <a:latin typeface="微软雅黑" pitchFamily="34" charset="-122"/>
                <a:ea typeface="微软雅黑" pitchFamily="34" charset="-122"/>
              </a:rPr>
              <a:t>what, where, why, how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等疑问词引出的问句进行提问。</a:t>
            </a:r>
            <a:endParaRPr lang="zh-CN" altLang="en-US" sz="3200" b="1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 title=""/>
          <p:cNvSpPr txBox="1"/>
          <p:nvPr/>
        </p:nvSpPr>
        <p:spPr>
          <a:xfrm>
            <a:off x="1969659" y="2316867"/>
            <a:ext cx="846328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真题解析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专题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02 2025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年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1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月浙江贵州听力完全解读</a:t>
            </a:r>
            <a:endParaRPr lang="zh-CN" altLang="en-US" sz="4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pic>
        <p:nvPicPr>
          <p:cNvPr id="6" name="图片 5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61" y="268148"/>
            <a:ext cx="962777" cy="288000"/>
          </a:xfrm>
          <a:prstGeom prst="rect">
            <a:avLst/>
          </a:prstGeom>
        </p:spPr>
      </p:pic>
      <p:sp>
        <p:nvSpPr>
          <p:cNvPr id="7" name="Rectangle 1" title=""/>
          <p:cNvSpPr>
            <a:spLocks noChangeArrowheads="1"/>
          </p:cNvSpPr>
          <p:nvPr/>
        </p:nvSpPr>
        <p:spPr bwMode="auto">
          <a:xfrm>
            <a:off x="286248" y="1215046"/>
            <a:ext cx="11632758" cy="501675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第二节结构：</a:t>
            </a:r>
            <a:r>
              <a:rPr lang="en-US" altLang="zh-CN" sz="32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2-2-3-4-4</a:t>
            </a:r>
            <a:endParaRPr lang="zh-CN" altLang="en-US" sz="3200" b="1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口 音：美音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3200" b="1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词 数：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841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32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864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词）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3200" b="1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时 间：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6′24″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（单遍录音）</a:t>
            </a:r>
          </a:p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语 速：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129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词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分（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sz="32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词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考 点：</a:t>
            </a:r>
            <a:r>
              <a:rPr lang="en-US" sz="32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2025</a:t>
            </a:r>
            <a:r>
              <a:rPr lang="zh-CN" altLang="en-US" sz="32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年全国二卷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高考英语听力部分的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20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个小题中，理解主旨与要义的题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个，获取事实性具体信息的题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 9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个，对所听内容作出简单推断的题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6 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个，理解说话者的意图、观点和态度的题 </a:t>
            </a:r>
            <a:r>
              <a:rPr lang="en-US" sz="3200" b="1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个，较好地体现了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普通高中英语课程标准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3200" b="1" smtClean="0">
                <a:latin typeface="微软雅黑" pitchFamily="34" charset="-122"/>
                <a:ea typeface="微软雅黑" pitchFamily="34" charset="-122"/>
              </a:rPr>
              <a:t>对考生的要求。</a:t>
            </a:r>
            <a:endParaRPr lang="zh-CN" altLang="en-US" sz="3200" b="1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文本框 4" title=""/>
          <p:cNvSpPr txBox="1"/>
          <p:nvPr/>
        </p:nvSpPr>
        <p:spPr>
          <a:xfrm>
            <a:off x="1969659" y="2316867"/>
            <a:ext cx="846328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真题解析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专题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02 2025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年</a:t>
            </a:r>
            <a:r>
              <a:rPr lang="en-US" altLang="zh-CN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1</a:t>
            </a:r>
            <a:r>
              <a:rPr lang="zh-CN" altLang="en-US" sz="44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月浙江贵州听力完全解读</a:t>
            </a:r>
            <a:endParaRPr lang="zh-CN" altLang="en-US" sz="4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pic>
        <p:nvPicPr>
          <p:cNvPr id="6" name="图片 5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61" y="268148"/>
            <a:ext cx="962777" cy="288000"/>
          </a:xfrm>
          <a:prstGeom prst="rect">
            <a:avLst/>
          </a:prstGeom>
        </p:spPr>
      </p:pic>
      <p:graphicFrame>
        <p:nvGraphicFramePr>
          <p:cNvPr id="8" name="表格 7" title=""/>
          <p:cNvGraphicFramePr>
            <a:graphicFrameLocks noGrp="1"/>
          </p:cNvGraphicFramePr>
          <p:nvPr/>
        </p:nvGraphicFramePr>
        <p:xfrm>
          <a:off x="1485900" y="694793"/>
          <a:ext cx="9077327" cy="4953531"/>
        </p:xfrm>
        <a:graphic>
          <a:graphicData uri="http://schemas.openxmlformats.org/drawingml/2006/table">
            <a:tbl>
              <a:tblPr/>
              <a:tblGrid>
                <a:gridCol w="1123950"/>
                <a:gridCol w="3638550"/>
                <a:gridCol w="1028700"/>
                <a:gridCol w="1076325"/>
                <a:gridCol w="1171294"/>
                <a:gridCol w="1038508"/>
              </a:tblGrid>
              <a:tr h="450321">
                <a:tc>
                  <a:txBody>
                    <a:bodyPr vert="horz" wrap="square"/>
                    <a:lstStyle/>
                    <a:p>
                      <a:pPr algn="ctr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段落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l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话题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轮数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词数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用时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fontAlgn="ctr"/>
                      <a:r>
                        <a:rPr lang="zh-CN" altLang="en-US" sz="28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语速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DDD"/>
                    </a:solidFill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1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 fontAlgn="ctr">
                        <a:spcAft>
                          <a:spcPct val="0"/>
                        </a:spcAft>
                      </a:pPr>
                      <a:r>
                        <a:rPr lang="zh-CN" sz="2400" b="1" kern="0">
                          <a:latin typeface="Times New Roman"/>
                          <a:ea typeface="宋体"/>
                          <a:cs typeface="Times New Roman"/>
                        </a:rPr>
                        <a:t>出行指路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32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14″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138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2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餐厅结账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27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10″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156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3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购买电脑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40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16″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156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4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学术交流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30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15″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119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不小心损坏东西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34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17″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124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6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约会安排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79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41″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116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7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学生使用智能手机的困扰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116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2.5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b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52″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135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8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变更度假计划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125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54″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138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9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工作机会与抉择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185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5.5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 smtClea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  1′20</a:t>
                      </a: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139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321">
                <a:tc>
                  <a:txBody>
                    <a:bodyPr vert="horz" wrap="square"/>
                    <a:lstStyle/>
                    <a:p>
                      <a:pPr algn="ctr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Text 10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spcAft>
                          <a:spcPct val="0"/>
                        </a:spcAft>
                      </a:pPr>
                      <a:r>
                        <a:rPr lang="zh-CN" sz="2400" b="1" kern="100">
                          <a:latin typeface="Calibri"/>
                          <a:ea typeface="宋体"/>
                          <a:cs typeface="Times New Roman"/>
                        </a:rPr>
                        <a:t>暑期夏令营介绍</a:t>
                      </a: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173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indent="262255" algn="l" fontAlgn="ctr">
                        <a:spcAft>
                          <a:spcPct val="0"/>
                        </a:spcAft>
                      </a:pPr>
                      <a:r>
                        <a:rPr lang="en-US" sz="2400" b="1" kern="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1′34″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spcAft>
                          <a:spcPct val="0"/>
                        </a:spcAft>
                      </a:pPr>
                      <a:r>
                        <a:rPr lang="en-US" sz="2400" b="1" kern="100">
                          <a:latin typeface="Calibri"/>
                          <a:ea typeface="宋体"/>
                          <a:cs typeface="Times New Roman"/>
                        </a:rPr>
                        <a:t>110</a:t>
                      </a:r>
                      <a:endParaRPr lang="zh-CN" sz="2400" b="1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73025" marR="73025" marT="36830" marB="3683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01173" y="1231859"/>
            <a:ext cx="11538401" cy="18828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4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1)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话题：出行指路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38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15″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152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Is this bus going to Baxley, sir?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No. I'm afraid not. See the yellow taxi on the corner? 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Turn left there to Madison Street and take BusNo.4.</a:t>
            </a:r>
            <a:endParaRPr lang="zh-CN" altLang="en-US" sz="24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All right, thank you!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75596" y="192878"/>
            <a:ext cx="11583029" cy="830997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1. How will the woman probably get to Baxley?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A. On foot. 	B. By taxi. 		C. By bus.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282795" y="3335120"/>
            <a:ext cx="11518680" cy="180369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。考查考生获取事实性具体信息的能力。根据女士所说“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Is this bus going to Baxley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Sir?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先生，这辆车是去巴克斯利的吗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和男士所说“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See the yellow taxi on the corner? Turn left there to Madison Street and take Bus No.4.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看到街角的黄色出租车了吗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在那里左转到麦迪逊街，然后乘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路公交车。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和女士的回答“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All right, thank you!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””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好的，谢谢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!)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可知，女士可能会乘坐公交车去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Baxley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故选</a:t>
            </a:r>
            <a:r>
              <a:rPr 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2000" b="1" smtClean="0">
              <a:solidFill>
                <a:srgbClr val="FF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0" name="图片 9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843" y="6466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01174" y="1203284"/>
            <a:ext cx="11586026" cy="187329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/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2)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话题：餐厅结账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14″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138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So would you folks like some dessert?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Just bring us the bill, please. We need to get back on the road and continue our journey.</a:t>
            </a:r>
            <a:endParaRPr lang="zh-CN" altLang="en-US" sz="24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No problem.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85121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2. What is the man going to do?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A. Have some dessert. B. Pay the bill. 	C. Cancel the trip.	</a:t>
            </a:r>
            <a:endParaRPr lang="en-US" altLang="zh-CN" sz="2400" b="1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01845" y="3316070"/>
            <a:ext cx="11604405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2.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Just bring us the bill, please.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请把账单拿过来。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可知，男士打算结账。故选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10" name="图片 9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343" y="675198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01174" y="1203284"/>
            <a:ext cx="11586026" cy="19209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/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3)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话题：购买电脑 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27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156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Dad, I can't afford that computer, but I think I really need it for my research.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Don’t worry, Alice. 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Just pay as much as you can and I’ll make up the rest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Thank you. Then I can place the order.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75596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3. What are the speakers talking about?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A. Buying a computer. 	B. Doing research. 	C. Saving money.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01845" y="3363695"/>
            <a:ext cx="11604405" cy="1823576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:3.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。考査考生理解主旨与要义的能力。根据女士所说“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Dad, I can't afford that computer, but I think I really need it for my research.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爸爸，我买不起那台电脑，但我认为我确实需要它来做研究。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Don't worry, Alice. Just pay as much as you can and 'l make up the rest.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别担心，爱丽丝。你能付多少就付多少，剩下的我来补。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以及女士的回答“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Thank you. Then I can place the order.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谢谢你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!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然后我就可以下订单了。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可知，说话者正在讨论购买电脑的事情。故选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9" name="文本框 3" title=""/>
          <p:cNvSpPr txBox="1"/>
          <p:nvPr>
            <p:custDataLst>
              <p:tags r:id="rId4"/>
            </p:custDataLst>
          </p:nvPr>
        </p:nvSpPr>
        <p:spPr>
          <a:xfrm>
            <a:off x="290897" y="5292294"/>
            <a:ext cx="11596303" cy="830997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en-US" altLang="zh-CN" sz="2400" b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语言知识</a:t>
            </a:r>
            <a:r>
              <a:rPr lang="en-US" altLang="zh-CN" sz="2400" b="1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r>
              <a:rPr lang="en-US" sz="24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smtClean="0">
                <a:solidFill>
                  <a:srgbClr val="7030A0"/>
                </a:solidFill>
              </a:rPr>
              <a:t>make up </a:t>
            </a:r>
            <a:r>
              <a:rPr lang="zh-CN" altLang="en-US" sz="2400" b="1" smtClean="0">
                <a:solidFill>
                  <a:srgbClr val="7030A0"/>
                </a:solidFill>
              </a:rPr>
              <a:t>补足</a:t>
            </a:r>
            <a:r>
              <a:rPr lang="en-US" sz="2400" b="1" smtClean="0">
                <a:solidFill>
                  <a:srgbClr val="7030A0"/>
                </a:solidFill>
              </a:rPr>
              <a:t>(</a:t>
            </a:r>
            <a:r>
              <a:rPr lang="zh-CN" altLang="en-US" sz="2400" b="1" smtClean="0">
                <a:solidFill>
                  <a:srgbClr val="7030A0"/>
                </a:solidFill>
              </a:rPr>
              <a:t>某数量</a:t>
            </a:r>
            <a:r>
              <a:rPr lang="en-US" sz="2400" b="1" smtClean="0">
                <a:solidFill>
                  <a:srgbClr val="7030A0"/>
                </a:solidFill>
              </a:rPr>
              <a:t>)                    </a:t>
            </a:r>
            <a:r>
              <a:rPr lang="en-US" sz="24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sz="2400" b="1" smtClean="0">
                <a:solidFill>
                  <a:srgbClr val="7030A0"/>
                </a:solidFill>
              </a:rPr>
              <a:t>place  v</a:t>
            </a:r>
            <a:r>
              <a:rPr lang="zh-CN" altLang="en-US" sz="2400" b="1" smtClean="0">
                <a:solidFill>
                  <a:srgbClr val="7030A0"/>
                </a:solidFill>
              </a:rPr>
              <a:t>下指示</a:t>
            </a:r>
            <a:r>
              <a:rPr lang="en-US" sz="2400" b="1" smtClean="0">
                <a:solidFill>
                  <a:srgbClr val="7030A0"/>
                </a:solidFill>
              </a:rPr>
              <a:t>;</a:t>
            </a:r>
            <a:r>
              <a:rPr lang="zh-CN" altLang="en-US" sz="2400" b="1" smtClean="0">
                <a:solidFill>
                  <a:srgbClr val="7030A0"/>
                </a:solidFill>
              </a:rPr>
              <a:t>请求</a:t>
            </a:r>
            <a:endParaRPr lang="zh-CN" altLang="en-US" sz="24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图片 9" title=""/>
          <p:cNvPicPr/>
          <p:nvPr/>
        </p:nvPicPr>
        <p:blipFill>
          <a:blip r:embed="rId5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43" y="6847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01174" y="1203284"/>
            <a:ext cx="11586026" cy="164469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/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4)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话题：学术交流 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15″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119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Hi, I'm Julie. I'm from the Department of Psychology. What about you?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: I study Biology.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I hope you can understand my English. I‘m still learning.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Well, you speak very clearly.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75596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4. What is the man’s major?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A. Psychology. 	B. Biology. 		C. English</a:t>
            </a:r>
            <a:r>
              <a:rPr lang="en-US" sz="2400" smtClean="0"/>
              <a:t>. </a:t>
            </a:r>
            <a:endParaRPr lang="zh-CN" altLang="en-US" sz="2400"/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01845" y="3381375"/>
            <a:ext cx="11604405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4.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 study Biology.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我学的是生物学。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可知，男士的专业是生物学。故选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10" name="图片 9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318" y="6466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01174" y="1308059"/>
            <a:ext cx="11586026" cy="2035215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/>
            <a:r>
              <a:rPr lang="en-US" altLang="en-US" sz="24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Text 5) 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话题：不小心报坏东西 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34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17″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124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Linda, I need you to help me with my problem.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What did you do? Gee, you broke Mary's sports watch!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Ah. I wish I didn't touch it.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Well, don't worry. 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We’ll have it fixed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221453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5. What does Linda suggest?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A. Buying a sports watch. B. Borrowing Mary’s watch. C. Getting the watch repaired.</a:t>
            </a:r>
            <a:endParaRPr lang="en-US" altLang="zh-CN" sz="2400" b="1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01845" y="3954245"/>
            <a:ext cx="11604405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5.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。考杳考生获取事实性具体信息的能力。根据女士所说“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Gee, you broke Mary's sport watch!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哎呀，你把玛丽的运动手表弄坏了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!)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We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’</a:t>
            </a:r>
            <a:r>
              <a:rPr lang="en-US" altLang="en-US" sz="2000" b="1" err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ll have it fixed.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我们会修好它的。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琳达建议修理手表。故选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。其中选项中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get sth. repaired 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是对原文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fix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的同义转述。</a:t>
            </a:r>
          </a:p>
        </p:txBody>
      </p:sp>
      <p:pic>
        <p:nvPicPr>
          <p:cNvPr id="10" name="图片 9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768" y="665673"/>
            <a:ext cx="206826" cy="285716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515600" y="111887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29749" y="1184234"/>
            <a:ext cx="11586026" cy="38259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700"/>
              </a:lnSpc>
            </a:pP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6)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话题：约会安排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79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41″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116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Hello?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(6)Hi, Delia, this is Peter, Are you doing anything Tuesday evening?</a:t>
            </a:r>
            <a:endParaRPr lang="zh-CN" altLang="en-US" sz="20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Not really.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(6)I've got two tickets for the National Theater. Would you like to come?</a:t>
            </a:r>
            <a:endParaRPr lang="zh-CN" altLang="en-US" sz="20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Thanks. I'd love to. What's on?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Stopper's latest play.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Oh, Sonny told me it was very good.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Yes, everyone said so. Shall I meet you at your office at 6:00? Then we can go and have a quick snack. The play starts at 7:00.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Sounds great. See you Tuesday then.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Good. Bye.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304171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6. Why does Peter make the call?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A. To arrange a visit. B. To extend an invitation. C. To confirm an appointment.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52425" y="5135345"/>
            <a:ext cx="11553825" cy="1477328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6.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。考査考生获取事实性具体信息的能力。根据男士所说“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Hi, Delia, this is Peter. Are you doing anything Tuesday evening?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你好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迪莉娅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我是彼得。星期二晚上你有事吗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I've got two tickets for the National Theatre. Would you like to come?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我有两张国家剧院的票。你想来吗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可知，男士打电话是为了发出邀请。故选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743" y="675198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39274" y="1088983"/>
            <a:ext cx="11586026" cy="44450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700"/>
              </a:lnSpc>
            </a:pP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6)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话题：约会安排 词数：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79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41″</a:t>
            </a:r>
            <a:r>
              <a:rPr lang="zh-CN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4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116</a:t>
            </a:r>
            <a:endParaRPr lang="en-US" altLang="zh-CN" sz="24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Hello?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: (7)Hi, Delia, this is Peter, Are you doing anything Tuesday evening?</a:t>
            </a:r>
            <a:endParaRPr lang="zh-CN" altLang="en-US" sz="24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Not really.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I've got two tickets for the National Theater. Would you like to come?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Thanks. I'd love to. What's on?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Stopper's latest play.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Oh, Sonny told me it was very good.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Yes, everyone said so</a:t>
            </a:r>
            <a:r>
              <a:rPr lang="en-US" altLang="zh-CN" sz="24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. (7)Shall I meet you at your office at 6:00? Then we can go and have a quick snack.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The play starts at 7:00.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(7)Sounds great. See you Tuesday then.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Good. Bye.</a:t>
            </a:r>
            <a:endParaRPr lang="zh-CN" altLang="en-US" sz="24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7. Where will the speakers meet on Tuesday evening?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A. At the theatre. 	B. At a snack bar. 	C. At Delia’s office.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11370" y="5583020"/>
            <a:ext cx="11604405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7.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Shall l meet you at your oficeat6:00?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点在你的办公室见你好吗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Sounds great.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听起来不错。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可知，说话者们计划在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Delia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的办公室见面。故选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10" name="图片 9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618" y="675198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276225" y="1127083"/>
            <a:ext cx="11639550" cy="370209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4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7)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话题：学生使用智能手机的困扰词数：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116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52″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135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Hi, Sam. How is your daughter doing at school?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2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(8)Well, since I bought a smartphone for Julia last summer, it seems the phone has become an extension of her arm. And it has made it impossible for her to concentrate. That really upsets me.</a:t>
            </a:r>
            <a:endParaRPr lang="zh-CN" altLang="en-US" sz="22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You are not alone in that. It is said that 95%% of teenagers either own or have access to a smartphone. Some schools have put in place policies, banning or controlling phone use during school hours.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(9)I'm all in favor of these policies.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Yeah, more and more schools have begun doing this. A friend of mine works at a school, and he told me that these policies had brought about positive changes.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97628"/>
            <a:ext cx="11602079" cy="707886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8. What does Sam say about his daughter?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     A. She dislikes doing homework.   B. She overuses her smartphone.    C. She feels lonely at school.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292320" y="4950678"/>
            <a:ext cx="11604405" cy="1477328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8.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Well, since I bought a smartphone for Julia last summer, it seems the phone has become an extension of her arm. And it has made it impossible for her to concentrate.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嗯，自从去年夏天我给朱莉娅买了一部智能手机以来，手机似乎就成了她手臂的延伸。这让她无法集中注意力。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可知，山姆说他的女儿过度使用智能手机。故选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18" y="47517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29749" y="1069934"/>
            <a:ext cx="11586026" cy="37878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4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7)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话题：学生使用智能手机的困扰词数：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116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52″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135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Hi, Sam. How is your daughter doing at school?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(8) Well, since I bought a smartphone for Julia last summer, it seems the phone has become an extension of her arm. And it has made it impossible for her to concentrate. That really upsets me.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You are not alone in that. </a:t>
            </a:r>
            <a:r>
              <a:rPr lang="en-US" altLang="zh-CN" sz="22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It is said that 95%% of teenagers either own or have access to a smartphone. Some schools have put in place policies, banning or controlling phone use during school hours.</a:t>
            </a:r>
            <a:endParaRPr lang="zh-CN" altLang="en-US" sz="22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2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(9)I'm all in favor of these policies.</a:t>
            </a:r>
            <a:endParaRPr lang="zh-CN" altLang="en-US" sz="22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2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Yeah, more and more schools have begun doing this. A friend of mine works at a school, and he told me that these policies had brought about positive changes.</a:t>
            </a:r>
            <a:endParaRPr lang="zh-CN" altLang="en-US" sz="22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304171" y="1166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9. What is Sam’s attitude towards the school policies?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A. Supportive. 	B. Uncertain. 			C. Disapproving.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49470" y="4941153"/>
            <a:ext cx="11604405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9.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。考査考生理解说话者态度、观点和意图的能力。根据男士所说“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I'm all in favor of these policies.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我完全支持这些政策。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可知，山姆对学校的政策持支持态度。故选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43" y="637098"/>
            <a:ext cx="206826" cy="285716"/>
          </a:xfrm>
          <a:prstGeom prst="rect">
            <a:avLst/>
          </a:prstGeom>
        </p:spPr>
      </p:pic>
      <p:sp>
        <p:nvSpPr>
          <p:cNvPr id="12289" name="Rectangle 1" title=""/>
          <p:cNvSpPr>
            <a:spLocks noChangeArrowheads="1"/>
          </p:cNvSpPr>
          <p:nvPr/>
        </p:nvSpPr>
        <p:spPr bwMode="auto">
          <a:xfrm>
            <a:off x="323850" y="5791200"/>
            <a:ext cx="11630025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extension n. 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延展                                                    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have access to 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能够使用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能够接触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put in place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落实好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指采取措施或行动                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 favor of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支持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赞同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bring about 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引起，导致</a:t>
            </a:r>
            <a:endParaRPr kumimoji="0" lang="zh-CN" altLang="en-US" sz="4400" b="1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29749" y="1193759"/>
            <a:ext cx="11586026" cy="41307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Text 8)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话题：变更度假计划 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125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54″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138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Max, are you ready to go?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(10) Sure, honey. Why are you dressed like that? 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I thought we were going to play table tennis with Billy and Karen.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Oh, change of plan. Billy suggested we go rock climbing instead.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But I was really looking forward to playing table tennis.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 play table tennis all the time. We'd like to go do some outdoor activities for a change, like rock climbing and horseback riding.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Oh, Jessie, I thought the point of this vacation was to relax.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Well, we can do something less demanding tomorrow, How about boating on the lake? What do you think?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That'll be great. I like the idea of spending some time on the water. I'm sure Billy and Karen will like it too.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>
              <a:lnSpc>
                <a:spcPts val="2500"/>
              </a:lnSpc>
            </a:pP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10. What is the probable relationship between the speakers?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Tourist and guide. 	B. Husband and wife. 	C. Trainer and trainee.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11370" y="5579328"/>
            <a:ext cx="11604405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10.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。考查考生对所听内容进行简单推理判断的能力。根据对话中的称呼“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honey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”以及对话内容可推断出，两人是夫妻关系。故选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668" y="66567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58324" y="1241385"/>
            <a:ext cx="11586026" cy="4064040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8)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话题：变更度假计划 词数：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122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54″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136</a:t>
            </a:r>
            <a:endParaRPr lang="en-US" altLang="zh-CN" sz="2000" b="1" smtClean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Max, are you ready to go?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Sure, honey. Why are you dressed like that? I thought we were going to play table tennis with Billy and Karen.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Oh, change of plan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. (11) Billy suggested we go rock climbing instead.</a:t>
            </a:r>
            <a:endParaRPr lang="zh-CN" altLang="en-US" sz="2000" b="1" smtClean="0">
              <a:solidFill>
                <a:srgbClr val="00B0F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But I was really looking forward to playing table tennis.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 play table tennis all the time. We'd like to go do some outdoor activities for a change, like rock climbing and horseback riding.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Oh, Jessie, I thought the point of this vacation was to relax.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Well, we can do something less demanding tomorrow, How about boating on the lake? What do you think?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That'll be great. I like the idea of spending some time on the water. I'm sure Billy and Karen will like it too.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endParaRPr lang="zh-CN" altLang="en-US" sz="2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332746" y="192878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11. Who came up with the idea of going rock climbing?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Billy. 		B. Karen. 		C. Max.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49470" y="5626953"/>
            <a:ext cx="11604405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11.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Billy suggested we go rock climbing instead.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(Billy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建议我们去攀岩。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可知，是比利提出了去攀岩的想法。故选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43" y="675198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29749" y="898484"/>
            <a:ext cx="11586026" cy="37592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8)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话题：变更度假计划 词数：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122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54″</a:t>
            </a:r>
            <a:r>
              <a:rPr lang="zh-CN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136</a:t>
            </a:r>
            <a:endParaRPr lang="en-US" altLang="zh-CN" sz="2000" b="1" smtClean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Max, are you ready to go?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Sure, honey. Why are you dressed like that? I thought we were going to play table tennis with Billy and Karen.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Oh, change of plan. Billy suggested we go rock climbing instead.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But I was really looking forward to playing table tennis.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We play table tennis all the time. We'd like to go do some outdoor activities for a change, like rock climbing and horseback riding.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Oh, Jessie, I thought the point of this vacation was to relax.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(12)Well, we can do something less demanding tomorrow, How about boating on the lake? 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What do you think?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M: That'll be great. I like the idea of spending some time on the water. I'm sure Billy and Karen will like it too.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107153"/>
            <a:ext cx="11602079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12. What is Jessie’s plan for tomorrow?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Going horseback riding. B. Playing table tennis. 	C. Rowing on the lake.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323850" y="4712553"/>
            <a:ext cx="11572875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12.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Well, we can do something less demanding tomorrow, How about boating on the lake? What do you think?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明天我们可以做些轻松点的活动比如去湖上划船怎么样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你觉得怎么样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可知，杰西计划明天去湖上划船。故选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843" y="541848"/>
            <a:ext cx="206826" cy="285716"/>
          </a:xfrm>
          <a:prstGeom prst="rect">
            <a:avLst/>
          </a:prstGeom>
        </p:spPr>
      </p:pic>
      <p:sp>
        <p:nvSpPr>
          <p:cNvPr id="9217" name="Rectangle 1" title=""/>
          <p:cNvSpPr>
            <a:spLocks noChangeArrowheads="1"/>
          </p:cNvSpPr>
          <p:nvPr/>
        </p:nvSpPr>
        <p:spPr bwMode="auto">
          <a:xfrm>
            <a:off x="304800" y="5953125"/>
            <a:ext cx="11553825" cy="40011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rock climbing 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攀岩                                   </a:t>
            </a:r>
            <a:r>
              <a:rPr kumimoji="0" lang="en-US" altLang="zh-CN" sz="20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horseback riding </a:t>
            </a:r>
            <a:r>
              <a:rPr kumimoji="0" lang="zh-CN" altLang="en-US" sz="20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骑马</a:t>
            </a:r>
            <a:endParaRPr kumimoji="0" lang="zh-CN" altLang="en-US" sz="4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329749" y="793709"/>
            <a:ext cx="11586026" cy="473079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3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9)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话题：工作机会与抉择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185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1′20″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139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</a:t>
            </a:r>
            <a:r>
              <a:rPr lang="en-US" sz="2000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(13)Hi, Susanna, I had an interview with Anderson HITECH and they offered me the position of sales manager. I want to let you know before I make my decision.</a:t>
            </a:r>
            <a:endParaRPr lang="zh-CN" altLang="en-US" sz="2000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W: I'm sorry to hear that, Frank, but I appreciate you telling me before you accept the offer.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I really enjoy my work here. I put in effort for 5 years to gain more experience, but there seems no hope of being promoted.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W: What would help you decide to stay?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I would consider staying if I could change my position. I would love working in this same department but I would like to be doing something different. And they offered me 6% more than my present salary.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W: When do you have to tell them your decision?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They want me to respond by Friday.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W: Let me see. I’ll talk to the human resources director and let you know the result on Thursday. Can you wait until then?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That’ll be too late. Wednesday will be better.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W: OK, no problem. I'm going to do everything I can to keep you on board.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M: I appreciate what you are doing for me.</a:t>
            </a:r>
            <a:endParaRPr lang="zh-CN" altLang="en-US" sz="2000" b="1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294646" y="50003"/>
            <a:ext cx="11602079" cy="707886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13. What did Frank do before coming to Susanna?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       A. He went to a tech fair. B. He signed a contract. C. He had a job interview.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292320" y="5703153"/>
            <a:ext cx="11604405" cy="1099275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13. C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Hi, Susanna, I had an interview with Anderson HITECH and they offered me the position of sales manager.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嗨，苏珊娜，我参加了安德森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HITECH 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公司的面试，他们给了我销售经理的职位。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可知，弗兰克在来找苏珊娜之前参加了工作面试故选</a:t>
            </a:r>
            <a:r>
              <a:rPr lang="en-US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16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943" y="3799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908009"/>
            <a:ext cx="11887200" cy="50070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9)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话题：工作机会与抉择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185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1′20″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139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Hi, Susanna, I had an interview with Anderson HITECH and they offered me the position of sales manager, I want to let you know before I make my decision.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I'm sorry to hear that, Frank, but I appreciate you telling me before you accept the offer.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really enjoy my work here. I put in effort for 5 years to gain more experience,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(14) but there seems no hope of being promoted.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What would help you decide to stay?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would consider staying if I could change my position. I would love working in this same department but I would like to be doing something different. And they offered me 6% more than my present salary.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When do you have to tell them your decision?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They want me to respond by Friday.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Let me see. I’ll talk to the human resources director and let you know the result on Thursday. Can you wait until then?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That’ll be too late. Wednesday will be better.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OK, no problem. I'm going to do everything I can to keep you on board.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appreciate what you are doing for me.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14. What does Frank hope to get?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A promotion. 		B. A vacation.	 	C. A bonus.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39920" y="6016764"/>
            <a:ext cx="11861580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14.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but there seems no hope of being promoted.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但似乎没有晋升的希望。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可知，弗兰克希望得到晋升。故选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43" y="5323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936584"/>
            <a:ext cx="11887200" cy="42164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0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9)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话题：工作机会与抉择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185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1′20″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139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Hi, Susanna, I had an interview with Anderson HITECH and they offered me the position of sales manager, I want to let you know before I make my decision.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I'm sorry to hear that, Frank, but I appreciate you telling me before you accept the offer.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really enjoy my work here. I put in effort for 5 years to gain more experience, but there seems no hope of being promoted.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What would help you decide to stay?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would consider staying if I could change my position. I would love working in this same department but I would like to be doing something different. And they offered me 6% more than my present salary.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When do you have to tell them your decision?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They want me to respond by Friday.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Let me see.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(15) I’ll talk to the human resources director and let you know the result on Thursday. Can you wait until then?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That’ll be too late. (15) Wednesday will be better.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OK, no problem. I'm going to do everything I can to keep you on board.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appreciate what you are doing for me.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707886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15. When will Frank know the result from his company?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000" b="1" smtClean="0">
                <a:latin typeface="Times New Roman" pitchFamily="18" charset="0"/>
                <a:ea typeface="+mj-ea"/>
                <a:cs typeface="Times New Roman" pitchFamily="18" charset="0"/>
              </a:rPr>
              <a:t>     A. Wednesday. 		B. Thursday. 			C. Friday. </a:t>
            </a:r>
            <a:endParaRPr lang="zh-CN" altLang="en-US" sz="20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58970" y="5292864"/>
            <a:ext cx="11861580" cy="1477328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15.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。考查考生获取事实性具体信息的能力。根据女士所说“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I’ll talk to the human resources director and let you know the result on Thursday, Can you wait until then?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我会和人力资源总监谈谈，并在周四告诉你结果。你能等那么久吗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?)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和男士所说“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Wednesday will be better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周三会更好。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以及女士的回答“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OK, no problem.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好，没问题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可知，弗兰克将在周三得到公司的结果。故选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A.</a:t>
            </a:r>
            <a:endParaRPr lang="zh-CN" altLang="en-US" sz="2000" b="1" smtClean="0">
              <a:solidFill>
                <a:srgbClr val="FF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3" y="5323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908009"/>
            <a:ext cx="11887200" cy="49308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(Text 9)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话题：工作机会与抉择  词数：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185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1′20″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；语速：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139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(13) Hi, Susanna, I had an interview with Anderson HITECH and they offered me the position of sales manager, I want to let you know before I make my decision.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I'm sorry to hear that, Frank, but I appreciate you telling me before you accept the offer.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really enjoy my work here. I put in effort for 5 years to gain more experience, (14) but there seems no hope of being promoted.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What would help you decide to stay?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would consider staying if I could change my position. I would love working in this same department but I would like to be doing something different. And they offered me 6% more than my present salary.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When do you have to tell them your decision?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They want me to respond by Friday.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Let me see.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(16) I’ll talk to the human resources director and let you know the result on Thursday. Can you wait until then?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That’ll be too late.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(16) Wednesday will be better.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W: OK, no problem. </a:t>
            </a:r>
            <a:r>
              <a:rPr lang="en-US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(16) I'm going to do everything I can to keep you on board.</a:t>
            </a:r>
            <a:endParaRPr lang="zh-CN" altLang="en-US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2400"/>
              </a:lnSpc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M: I appreciate what you are doing for me.</a:t>
            </a:r>
            <a:endParaRPr lang="zh-CN" altLang="en-US" b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16. Who is Susanna?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A. Frank’s client. 		B. Frank’s lawyer.     	C. Frank’s boss.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20870" y="6073170"/>
            <a:ext cx="11861580" cy="784830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16.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。考查考生对所听内容进行简单推理判断的能力。根据对话内容，苏珊娜在公司内部与弗兰克讨论工作事宜，并表示会与人力资源总监沟通，这表明她是弗兰克的上司。故选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43" y="522798"/>
            <a:ext cx="206826" cy="285716"/>
          </a:xfrm>
          <a:prstGeom prst="rect">
            <a:avLst/>
          </a:prstGeom>
        </p:spPr>
      </p:pic>
      <p:sp>
        <p:nvSpPr>
          <p:cNvPr id="5121" name="Rectangle 1" title=""/>
          <p:cNvSpPr>
            <a:spLocks noChangeArrowheads="1"/>
          </p:cNvSpPr>
          <p:nvPr/>
        </p:nvSpPr>
        <p:spPr bwMode="auto">
          <a:xfrm>
            <a:off x="8324849" y="4838700"/>
            <a:ext cx="3248025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smtClean="0">
                <a:solidFill>
                  <a:srgbClr val="7030A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★ </a:t>
            </a:r>
            <a:r>
              <a:rPr kumimoji="0" lang="en-US" altLang="zh-CN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position  n.</a:t>
            </a:r>
            <a:r>
              <a:rPr kumimoji="0" lang="zh-CN" altLang="en-US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职位</a:t>
            </a:r>
            <a:r>
              <a:rPr kumimoji="0" lang="en-US" altLang="zh-CN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</a:t>
            </a:r>
            <a:r>
              <a:rPr kumimoji="0" lang="zh-CN" altLang="en-US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职务</a:t>
            </a:r>
            <a:endParaRPr kumimoji="0" lang="zh-CN" altLang="en-US" sz="1400" b="1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smtClean="0">
                <a:solidFill>
                  <a:srgbClr val="7030A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★ </a:t>
            </a:r>
            <a:r>
              <a:rPr kumimoji="0" lang="en-US" altLang="zh-CN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offer  n.</a:t>
            </a:r>
            <a:r>
              <a:rPr kumimoji="0" lang="zh-CN" altLang="en-US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提供</a:t>
            </a:r>
            <a:r>
              <a:rPr kumimoji="0" lang="en-US" altLang="zh-CN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东西或机会</a:t>
            </a:r>
            <a:r>
              <a:rPr kumimoji="0" lang="en-US" altLang="zh-CN" b="1" i="0" u="none" strike="noStrike" cap="none" normalizeH="0" baseline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endParaRPr kumimoji="0" lang="en-US" altLang="zh-CN" sz="4000" b="1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1441410"/>
            <a:ext cx="11887200" cy="348301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10)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话题：暑期夏令营介绍 词数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173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1′34″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W: Hello everyone. Welcome to Creative Day School. This summer we provide two full-time summer camp programs. Both will last the entire time the children are out of school.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(17)Our first summer camp is for our four-year-olds, called Mini Camp. 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This Mini Camp will still have their normal everyday schedule with a lot of fun activities. At least once a week, our mini campers will go on a field trip. These field trips could consist of a day at the beach or exploring the natural museum. Our Older Summer Camp is provided for ages 5 through 12. There are scheduled summer fun activities and games. The children will participate in art, outdoor play, games and much more. Swimming at a nearby pool is often a weekly field trip for ages 6 and up. Other field trips could include bowling, a day at the movies or a picnic in the park. Permission of parents and activity fees are required to participate in all fieldtrips. Now let's watch a five-minute film about last year’s programs.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17. Who is the Mini Camp intended for?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Four-year-olds. 	B. Five-year-olds. 		C. Six-year-olds.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39920" y="5330964"/>
            <a:ext cx="11861580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17. 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。考查考生获取事实性具体信息的能力。根据说话者所说“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Our first summer camp is for our four-year-olds, called Mini Camp.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我们的第一个夏令营是为四岁的孩子准备的，叫做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Mini Camp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。可知，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Mini Camp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是为四岁的孩子设计的。故选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68" y="57042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908009"/>
            <a:ext cx="11887200" cy="34925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10)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话题：暑期夏令营介绍 词数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173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1′34″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W: Hello everyone. Welcome to Creative Day School. This summer we provide two full-time summer camp programs. Both will last the entire time the children are out of school. Our first summer camp is for our four-year-olds, called Mini Camp. This Mini Camp will still have their normal everyday schedule with a lot of fun activities. At least once a week, our mini campers will go on a field trip. These field trips could consist of a day at the beach or exploring the natural museum.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(18)Our Older Summer Camp is provided for ages 5 through 12. There are scheduled summer fun activities and games. 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children will participate in art, outdoor play, games and much more. Swimming at a nearby pool is often a weekly field trip for ages 6 and up. Other field trips could include bowling, a day at the movies or a picnic in the park. Permission of parents and activity fees are required to participate in all fieldtrips. Now let's watch a five-minute film about last year’s programs.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18. Which activity does the Older Summer Camp organize?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Museum visits. 	B. Bowling games. 		C. Family gatherings.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20870" y="4778514"/>
            <a:ext cx="11861580" cy="1477328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18.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。考查考生获取事实性具体信息的能力。根据说话者所说“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Our Older Summer Camp is provided for ages 5 through 12.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我们的年长夏令营是为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到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12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岁的孩子提供的。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Other field trips could include bowling,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其他户外活动包括保龄球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Older Summer Camp 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组织了保龄球活动。故选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18" y="522798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1479509"/>
            <a:ext cx="11887200" cy="34925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10)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话题：暑期夏令营介绍 词数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173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1′34″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W: Hello everyone. Welcome to Creative Day School. This summer we provide two full-time summer camp programs. Both will last the entire time the children are out of school. Our first summer camp is for our four-year-olds, called Mini Camp. This Mini Camp will still have their normal everyday schedule with a lot of fun activities. At least once a week, our mini campers will go on a field trip. These field trips could consist of a day at the beach or exploring the natural museum. Our Older Summer Camp is provided for ages 5 through 12. There are scheduled summer fun activities and games. The children will participate in art, outdoor play, games and much more. Swimming at a nearby pool is often a weekly field trip for ages 6 and up. Other field trips could include bowling, a day at the movies or a picnic in the park.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(19) Permission of parents and activity fees are required to participate in all fieldtrips. </a:t>
            </a:r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Now let's watch a five-minute film about last year’s programs.</a:t>
            </a:r>
            <a:endParaRPr lang="zh-CN" altLang="en-US" sz="2000" b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19. What is a requirement for joining the field trips?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Camping experience. 	B. Parental permission. 	C. Swimming skills.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20870" y="5169039"/>
            <a:ext cx="11861580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:19. 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。考查考生获取事实性具体信息的能力。根据说话者所说“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Permission of parents and activity fees are required to participate in all field trips.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参加所有户外活动需要家长的许可和活动费用。可知，参加户外活动需要家长的许可。故选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68" y="551373"/>
            <a:ext cx="206826" cy="2857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文本框 4" title=""/>
          <p:cNvSpPr txBox="1"/>
          <p:nvPr/>
        </p:nvSpPr>
        <p:spPr>
          <a:xfrm>
            <a:off x="3239409" y="1738146"/>
            <a:ext cx="61203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48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eiryo UI" panose="020b0604030504040204" pitchFamily="34" charset="-128"/>
              </a:rPr>
              <a:t>适用省份</a:t>
            </a:r>
            <a:endParaRPr lang="zh-CN" altLang="en-US" sz="4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eiryo UI" panose="020b0604030504040204" pitchFamily="34" charset="-128"/>
            </a:endParaRPr>
          </a:p>
        </p:txBody>
      </p:sp>
      <p:sp>
        <p:nvSpPr>
          <p:cNvPr id="6" name="文本框 10" title=""/>
          <p:cNvSpPr txBox="1"/>
          <p:nvPr/>
        </p:nvSpPr>
        <p:spPr>
          <a:xfrm>
            <a:off x="133350" y="888959"/>
            <a:ext cx="11887200" cy="3492541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t" anchorCtr="0">
            <a:noAutofit/>
          </a:bodyPr>
          <a:lstStyle/>
          <a:p>
            <a:pPr algn="just" fontAlgn="auto">
              <a:lnSpc>
                <a:spcPts val="2500"/>
              </a:lnSpc>
            </a:pP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(Text 10) 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话题：暑期夏令营介绍 词数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173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；时间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1′34″</a:t>
            </a:r>
            <a:r>
              <a:rPr lang="zh-CN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；语速</a:t>
            </a:r>
            <a:r>
              <a:rPr lang="en-US" altLang="zh-CN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en-US" sz="2000" b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endParaRPr lang="en-US" altLang="zh-CN" sz="2000" b="1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/>
            <a:r>
              <a:rPr lang="en-US" altLang="zh-CN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W: Hello everyone. Welcome to Creative Day School. This summer we provide two full-time summer camp programs. Both will last the entire time the children are out of school. Our first summer camp is for our four-year-olds, called Mini Camp. This Mini Camp will still have their normal everyday schedule with a lot of fun activities. At least once a week, our mini campers will go on a field trip. These field trips could consist of a day at the beach or exploring the natural museum. Our Older Summer Camp is provided for ages 5 through 12. There are scheduled summer fun activities and games. The children will participate in art, outdoor play, games and much more. Swimming at a nearby pool is often a weekly field trip for ages 6 and up. Other field trips could include bowling, a day at the movies or a picnic in the park. Permission of parents and activity fees are required to participate in all fieldtrips. </a:t>
            </a:r>
            <a:r>
              <a:rPr lang="en-US" altLang="zh-CN" sz="2000" b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(20) Now let's watch a five-minute film about last year’s programs.</a:t>
            </a:r>
            <a:endParaRPr lang="zh-CN" altLang="en-US" sz="2000" b="1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10" title=""/>
          <p:cNvSpPr txBox="1"/>
          <p:nvPr>
            <p:custDataLst>
              <p:tags r:id="rId2"/>
            </p:custDataLst>
          </p:nvPr>
        </p:nvSpPr>
        <p:spPr>
          <a:xfrm>
            <a:off x="152400" y="97628"/>
            <a:ext cx="11820525" cy="83099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20. What will the speaker do next? 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r>
              <a:rPr lang="en-US" altLang="zh-CN" sz="2400" b="1" smtClean="0">
                <a:latin typeface="Times New Roman" pitchFamily="18" charset="0"/>
                <a:ea typeface="+mj-ea"/>
                <a:cs typeface="Times New Roman" pitchFamily="18" charset="0"/>
              </a:rPr>
              <a:t>      A. Collect fees. 	B. Answer questions. 	C. Show a short video.</a:t>
            </a:r>
            <a:endParaRPr lang="zh-CN" altLang="en-US" sz="2400" b="1" smtClean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文本框 3" title=""/>
          <p:cNvSpPr txBox="1"/>
          <p:nvPr>
            <p:custDataLst>
              <p:tags r:id="rId3"/>
            </p:custDataLst>
          </p:nvPr>
        </p:nvSpPr>
        <p:spPr>
          <a:xfrm>
            <a:off x="120870" y="4578489"/>
            <a:ext cx="11861580" cy="1131079"/>
          </a:xfrm>
          <a:prstGeom prst="rect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解析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20. 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。考査考生获取事实性具体信息的能力。根据说话者所说“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Now let’s watch a five-minute film about last year's programs.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现在让我们观看一部关于去年项目的五分钟短片。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可知，说话者接下来会播放一部短片。故选</a:t>
            </a:r>
            <a:r>
              <a:rPr lang="en-US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000" b="1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9" name="图片 8" title=""/>
          <p:cNvPicPr/>
          <p:nvPr/>
        </p:nvPicPr>
        <p:blipFill>
          <a:blip r:embed="rId4">
            <a:extLst>
              <a:ext uri="{28A0092B-C50C-407E-A947-70E740481C1C}">
                <a14:useLocalDpi xmlns:aink="http://schemas.microsoft.com/office/drawing/2016/ink" xmlns:am3d="http://schemas.microsoft.com/office/drawing/2017/model3d" xmlns:arto="http://schemas.microsoft.com/office/word/2006/arto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lc="http://schemas.openxmlformats.org/drawingml/2006/lockedCanvas" xmlns:o="urn:schemas-microsoft-com:office:office" xmlns:oel="http://schemas.microsoft.com/office/2019/extlst" xmlns:pic="http://schemas.openxmlformats.org/drawingml/2006/picture" xmlns:v="urn:schemas-microsoft-com:vml" xmlns:ve="http://schemas.openxmlformats.org/markup-compatibility/2006" xmlns:w10="urn:schemas-microsoft-com:office:word" xmlns:w14="http://schemas.microsoft.com/office/word/2010/wordml" xmlns:w15="http://schemas.microsoft.com/office/word/2012/wordml" xmlns:w16="http://schemas.microsoft.com/office/word/2018/wordml" xmlns:w16cex="http://schemas.microsoft.com/office/word/2018/wordml/cex" xmlns:w16cid="http://schemas.microsoft.com/office/word/2016/wordml/cid" xmlns:w16sdtdh="http://schemas.microsoft.com/office/word/2020/wordml/sdtdatahash" xmlns:w16se="http://schemas.microsoft.com/office/word/2015/wordml/symex" xmlns:wne="http://schemas.microsoft.com/office/word/2006/wordml" xmlns:wp14="http://schemas.microsoft.com/office/word/2010/wordprocessingDrawing" xmlns:wpc="http://schemas.microsoft.com/office/word/2010/wordprocessingCanvas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518" y="598998"/>
            <a:ext cx="206826" cy="285716"/>
          </a:xfrm>
          <a:prstGeom prst="rect">
            <a:avLst/>
          </a:prstGeom>
        </p:spPr>
      </p:pic>
      <p:sp>
        <p:nvSpPr>
          <p:cNvPr id="10" name="文本框 3" title=""/>
          <p:cNvSpPr txBox="1"/>
          <p:nvPr>
            <p:custDataLst>
              <p:tags r:id="rId5"/>
            </p:custDataLst>
          </p:nvPr>
        </p:nvSpPr>
        <p:spPr>
          <a:xfrm>
            <a:off x="167072" y="5865078"/>
            <a:ext cx="11786803" cy="400110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en-US" sz="2000" b="1" smtClean="0">
                <a:solidFill>
                  <a:srgbClr val="7030A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★</a:t>
            </a:r>
            <a:r>
              <a:rPr 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field trip (</a:t>
            </a:r>
            <a:r>
              <a:rPr lang="zh-CN" alt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常指学生</a:t>
            </a:r>
            <a:r>
              <a:rPr 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户外教学  </a:t>
            </a:r>
            <a:r>
              <a:rPr lang="en-US" sz="2000" b="1" smtClean="0">
                <a:solidFill>
                  <a:srgbClr val="7030A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★</a:t>
            </a:r>
            <a:r>
              <a:rPr lang="zh-CN" alt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permission n.</a:t>
            </a:r>
            <a:r>
              <a:rPr lang="zh-CN" altLang="en-US" sz="2000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许可</a:t>
            </a:r>
            <a:endParaRPr lang="zh-CN" altLang="en-US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tags/tag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8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8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0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8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8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4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43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MjQxNzI1M2Y5NjQ2OGI3YzRkNTFiMDU4YmQ0MmY4OTMifQ=="/>
  <p:tag name="KSO_WPP_MARK_KEY" val="369cf29a-0f70-4642-ae7a-6824c4ec562d"/>
</p:tagLst>
</file>

<file path=ppt/theme/theme1.xml><?xml version="1.0" encoding="utf-8"?>
<a:theme xmlns:r="http://schemas.openxmlformats.org/officeDocument/2006/relationships"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239</Paragraphs>
  <Slides>24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baseType="lpstr" size="33">
      <vt:lpstr>Arial</vt:lpstr>
      <vt:lpstr>等线 Light</vt:lpstr>
      <vt:lpstr>等线</vt:lpstr>
      <vt:lpstr>微软雅黑</vt:lpstr>
      <vt:lpstr>Times New Roman</vt:lpstr>
      <vt:lpstr>Meiryo UI</vt:lpstr>
      <vt:lpstr>Calibri</vt:lpstr>
      <vt:lpstr>宋体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2025-06-11T11:27:51.112</cp:lastPrinted>
  <dcterms:created xsi:type="dcterms:W3CDTF">2025-06-11T11:27:51Z</dcterms:created>
  <dcterms:modified xsi:type="dcterms:W3CDTF">2025-06-11T03:27:51Z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