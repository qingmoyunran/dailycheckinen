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removePersonalInfoOnSave="1">
  <p:sldMasterIdLst>
    <p:sldMasterId id="2147483648" r:id="rId1"/>
  </p:sldMasterIdLst>
  <p:notesMasterIdLst>
    <p:notesMasterId r:id="rId2"/>
  </p:notesMasterIdLst>
  <p:sldIdLst>
    <p:sldId id="585" r:id="rId3"/>
    <p:sldId id="1263" r:id="rId4"/>
    <p:sldId id="1262" r:id="rId5"/>
    <p:sldId id="1286" r:id="rId6"/>
    <p:sldId id="1253" r:id="rId7"/>
    <p:sldId id="1264" r:id="rId8"/>
    <p:sldId id="1266" r:id="rId9"/>
    <p:sldId id="1265" r:id="rId10"/>
    <p:sldId id="1267" r:id="rId11"/>
    <p:sldId id="1268" r:id="rId12"/>
    <p:sldId id="1269" r:id="rId13"/>
    <p:sldId id="1270" r:id="rId14"/>
    <p:sldId id="1271" r:id="rId15"/>
    <p:sldId id="1272" r:id="rId16"/>
    <p:sldId id="1273" r:id="rId17"/>
    <p:sldId id="1274" r:id="rId18"/>
    <p:sldId id="1275" r:id="rId19"/>
    <p:sldId id="1277" r:id="rId20"/>
    <p:sldId id="1278" r:id="rId21"/>
    <p:sldId id="1279" r:id="rId22"/>
    <p:sldId id="1280" r:id="rId23"/>
    <p:sldId id="1282" r:id="rId24"/>
    <p:sldId id="1283" r:id="rId25"/>
    <p:sldId id="1284" r:id="rId26"/>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0" userDrawn="1">
          <p15:clr>
            <a:srgbClr val="A4A3A4"/>
          </p15:clr>
        </p15:guide>
        <p15:guide id="2" orient="horz" pos="1001" userDrawn="1">
          <p15:clr>
            <a:srgbClr val="A4A3A4"/>
          </p15:clr>
        </p15:guide>
        <p15:guide id="3" pos="4930" userDrawn="1">
          <p15:clr>
            <a:srgbClr val="A4A3A4"/>
          </p15:clr>
        </p15:guide>
        <p15:guide id="4" pos="2817" userDrawn="1">
          <p15:clr>
            <a:srgbClr val="A4A3A4"/>
          </p15:clr>
        </p15:guide>
        <p15:guide id="5" pos="3922"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450" autoAdjust="0"/>
    <p:restoredTop sz="91920" autoAdjust="0"/>
  </p:normalViewPr>
  <p:slideViewPr>
    <p:cSldViewPr snapToGrid="0" showGuides="1">
      <p:cViewPr>
        <p:scale>
          <a:sx n="100" d="100"/>
          <a:sy n="100" d="100"/>
        </p:scale>
        <p:origin x="-852" y="-390"/>
      </p:cViewPr>
      <p:guideLst>
        <p:guide orient="horz" pos="2120"/>
        <p:guide orient="horz" pos="1001"/>
        <p:guide pos="4930"/>
        <p:guide pos="2817"/>
        <p:guide pos="3922"/>
      </p:guideLst>
    </p:cSldViewPr>
  </p:slideViewPr>
  <p:notesTextViewPr>
    <p:cViewPr>
      <p:scale>
        <a:sx n="3" d="2"/>
        <a:sy n="3" d="2"/>
      </p:scale>
      <p:origin x="0" y="0"/>
    </p:cViewPr>
  </p:notesTextViewPr>
  <p:notesViewPr>
    <p:cSldViewPr>
      <p:cViewPr>
        <p:scale>
          <a:sx n="66" d="100"/>
          <a:sy n="66" d="100"/>
        </p:scale>
        <p:origin x="0" y="0"/>
      </p:cViewPr>
      <p:guideLst/>
    </p:cSldViewPr>
  </p:notesViewPr>
  <p:gridSpacing cx="73736200" cy="7373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tags" Target="tags/tag48.xml" /><Relationship Id="rId28" Type="http://schemas.openxmlformats.org/officeDocument/2006/relationships/presProps" Target="presProps.xml" /><Relationship Id="rId29" Type="http://schemas.openxmlformats.org/officeDocument/2006/relationships/viewProps" Target="viewProps.xml" /><Relationship Id="rId3" Type="http://schemas.openxmlformats.org/officeDocument/2006/relationships/slide" Target="slides/slide1.xml" /><Relationship Id="rId30" Type="http://schemas.openxmlformats.org/officeDocument/2006/relationships/theme" Target="theme/theme1.xml" /><Relationship Id="rId31" Type="http://schemas.openxmlformats.org/officeDocument/2006/relationships/tableStyles" Target="tableStyles.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9E4C1-D3A5-43D2-971C-709C6D848150}" type="datetimeFigureOut">
              <a:rPr lang="zh-CN" altLang="en-US" smtClean="0"/>
              <a:t>2025/6/10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4F384-1D1D-4AAD-AE68-D802FD71803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3.png" /><Relationship Id="rId2"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本讲内容&amp;金句">
    <p:bg>
      <p:bgPr>
        <a:solidFill>
          <a:srgbClr val="FFFFF5"/>
        </a:solidFill>
        <a:effectLst/>
      </p:bgPr>
    </p:bg>
    <p:spTree>
      <p:nvGrpSpPr>
        <p:cNvPr id="1" name=""/>
        <p:cNvGrpSpPr/>
        <p:nvPr/>
      </p:nvGrpSpPr>
      <p:grpSpPr>
        <a:xfrm>
          <a:off x="0" y="0"/>
          <a:ext cx="0" cy="0"/>
        </a:xfrm>
      </p:grpSpPr>
      <p:pic>
        <p:nvPicPr>
          <p:cNvPr id="9" name="图片 36"/>
          <p:cNvPicPr>
            <a:picLocks noChangeAspect="1" noChangeArrowheads="1"/>
          </p:cNvPicPr>
          <p:nvPr userDrawn="1"/>
        </p:nvPicPr>
        <p:blipFill>
          <a:blip r:embed="rId1">
            <a:extLst>
              <a:ext uri="{28A0092B-C50C-407E-A947-70E740481C1C}">
                <a14:useLocalDpi xmlns:a14="http://schemas.microsoft.com/office/drawing/2010/main" val="0"/>
              </a:ext>
            </a:extLst>
          </a:blip>
          <a:srcRect l="247" t="-1" b="909"/>
          <a:stretch>
            <a:fillRect/>
          </a:stretch>
        </p:blipFill>
        <p:spPr bwMode="auto">
          <a:xfrm>
            <a:off x="0" y="6165850"/>
            <a:ext cx="121920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32" descr="图片包含 轮廓  已生成高可信度的说明"/>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0" y="0"/>
            <a:ext cx="3287713" cy="1441450"/>
          </a:xfrm>
          <a:prstGeom prst="rect">
            <a:avLst/>
          </a:prstGeom>
          <a:noFill/>
          <a:ln>
            <a:noFill/>
          </a:ln>
        </p:spPr>
      </p:pic>
    </p:spTree>
  </p:cSld>
  <p:clrMapOvr>
    <a:masterClrMapping/>
  </p:clrMapOvr>
  <p:transition/>
  <p:timing/>
  <p:hf hdr="0" ftr="0" dt="0"/>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正文】一部分">
    <p:bg>
      <p:bgPr>
        <a:solidFill>
          <a:srgbClr val="FFFFF5"/>
        </a:solidFill>
        <a:effectLst/>
      </p:bgPr>
    </p:bg>
    <p:spTree>
      <p:nvGrpSpPr>
        <p:cNvPr id="1" name=""/>
        <p:cNvGrpSpPr/>
        <p:nvPr/>
      </p:nvGrpSpPr>
      <p:grpSpPr>
        <a:xfrm>
          <a:off x="0" y="0"/>
          <a:ext cx="0" cy="0"/>
        </a:xfrm>
      </p:grpSpPr>
      <p:cxnSp>
        <p:nvCxnSpPr>
          <p:cNvPr id="9" name="直接连接符 8"/>
          <p:cNvCxnSpPr/>
          <p:nvPr userDrawn="1"/>
        </p:nvCxnSpPr>
        <p:spPr>
          <a:xfrm>
            <a:off x="350874" y="6582976"/>
            <a:ext cx="7549394"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_【正文】一部分">
    <p:bg>
      <p:bgPr>
        <a:solidFill>
          <a:srgbClr val="FFFFF5"/>
        </a:solidFill>
        <a:effectLst/>
      </p:bgPr>
    </p:bg>
    <p:spTree>
      <p:nvGrpSpPr>
        <p:cNvPr id="1" name=""/>
        <p:cNvGrpSpPr/>
        <p:nvPr/>
      </p:nvGrpSpPr>
      <p:grpSpPr>
        <a:xfrm>
          <a:off x="0" y="0"/>
          <a:ext cx="0" cy="0"/>
        </a:xfrm>
      </p:grpSpPr>
      <p:cxnSp>
        <p:nvCxnSpPr>
          <p:cNvPr id="41" name="直接箭头连接符 79"/>
          <p:cNvCxnSpPr/>
          <p:nvPr userDrawn="1"/>
        </p:nvCxnSpPr>
        <p:spPr bwMode="auto">
          <a:xfrm>
            <a:off x="4945380" y="258274"/>
            <a:ext cx="6911260" cy="2374"/>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350874" y="6582976"/>
            <a:ext cx="7549394"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userDrawn="1"/>
        </p:nvPicPr>
        <p:blipFill>
          <a:blip r:embed="rId1">
            <a:extLst>
              <a:ext uri="{28A0092B-C50C-407E-A947-70E740481C1C}">
                <a14:useLocalDpi xmlns:a14="http://schemas.microsoft.com/office/drawing/2010/main" val="0"/>
              </a:ext>
            </a:extLst>
          </a:blip>
          <a:stretch>
            <a:fillRect/>
          </a:stretch>
        </p:blipFill>
        <p:spPr>
          <a:xfrm>
            <a:off x="10963812" y="0"/>
            <a:ext cx="961839" cy="411359"/>
          </a:xfrm>
          <a:prstGeom prst="rect">
            <a:avLst/>
          </a:prstGeom>
        </p:spPr>
      </p:pic>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image" Target="file:///D:\qq&#25991;&#20214;\712321467\Image\C2C\Image2\%7b75232B38-A165-1FB7-499C-2E1C792CACB5%7d.png" TargetMode="External" /><Relationship Id="rId5" Type="http://schemas.openxmlformats.org/officeDocument/2006/relationships/image" Target="../media/image4.png" /><Relationship Id="rId6" Type="http://schemas.openxmlformats.org/officeDocument/2006/relationships/image" Target="../media/image5.png" /><Relationship Id="rId7"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rgbClr val="FFFFF5"/>
        </a:solidFill>
        <a:effectLst/>
      </p:bgPr>
    </p:bg>
    <p:spTree>
      <p:nvGrpSpPr>
        <p:cNvPr id="1" name=""/>
        <p:cNvGrpSpPr/>
        <p:nvPr/>
      </p:nvGrpSpPr>
      <p:grpSpPr>
        <a:xfrm>
          <a:off x="0" y="0"/>
          <a:ext cx="0" cy="0"/>
        </a:xfrm>
      </p:grpSpPr>
      <p:pic>
        <p:nvPicPr>
          <p:cNvPr id="2" name="图片 1073743875" descr="学科网 zxxk.com"/>
          <p:cNvPicPr>
            <a:picLocks noChangeAspect="1"/>
          </p:cNvPicPr>
          <p:nvPr/>
        </p:nvPicPr>
        <p:blipFill>
          <a:blip r:embed="rId5" r:link="rId4"/>
          <a:stretch>
            <a:fillRect/>
          </a:stretch>
        </p:blipFill>
        <p:spPr>
          <a:xfrm>
            <a:off x="838200" y="365125"/>
            <a:ext cx="9525" cy="9525"/>
          </a:xfrm>
          <a:prstGeom prst="rect">
            <a:avLst/>
          </a:prstGeom>
          <a:noFill/>
          <a:ln>
            <a:noFill/>
            <a:miter lim="800000"/>
          </a:ln>
        </p:spPr>
      </p:pic>
      <p:pic>
        <p:nvPicPr>
          <p:cNvPr id="3" name="图片 1073743875" descr="学科网 zxxk.com"/>
          <p:cNvPicPr>
            <a:picLocks noChangeAspect="1"/>
          </p:cNvPicPr>
          <p:nvPr/>
        </p:nvPicPr>
        <p:blipFill>
          <a:blip r:embed="rId5" r:link="rId4"/>
          <a:stretch>
            <a:fillRect/>
          </a:stretch>
        </p:blipFill>
        <p:spPr>
          <a:xfrm>
            <a:off x="838200" y="365125"/>
            <a:ext cx="9525" cy="9525"/>
          </a:xfrm>
          <a:prstGeom prst="rect">
            <a:avLst/>
          </a:prstGeom>
          <a:noFill/>
          <a:ln>
            <a:noFill/>
            <a:miter lim="800000"/>
          </a:ln>
        </p:spPr>
      </p:pic>
      <p:pic>
        <p:nvPicPr>
          <p:cNvPr id="4" name="图片 1073743875" descr="学科网 zxxk.com" title=""/>
          <p:cNvPicPr>
            <a:picLocks noChangeAspect="1"/>
          </p:cNvPicPr>
          <p:nvPr/>
        </p:nvPicPr>
        <p:blipFill>
          <a:blip r:embed="rId6" r:link="rId4"/>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pn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pn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1.xml" /><Relationship Id="rId3" Type="http://schemas.openxmlformats.org/officeDocument/2006/relationships/tags" Target="../tags/tag2.xml" /><Relationship Id="rId4" Type="http://schemas.openxmlformats.org/officeDocument/2006/relationships/tags" Target="../tags/tag3.xml" /><Relationship Id="rId5" Type="http://schemas.openxmlformats.org/officeDocument/2006/relationships/image" Target="../media/image7.pn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4.xml" /><Relationship Id="rId3" Type="http://schemas.openxmlformats.org/officeDocument/2006/relationships/tags" Target="../tags/tag5.xml" /><Relationship Id="rId4" Type="http://schemas.openxmlformats.org/officeDocument/2006/relationships/tags" Target="../tags/tag6.xml" /><Relationship Id="rId5" Type="http://schemas.openxmlformats.org/officeDocument/2006/relationships/image" Target="../media/image7.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image" Target="../media/image7.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10.xml" /><Relationship Id="rId3" Type="http://schemas.openxmlformats.org/officeDocument/2006/relationships/tags" Target="../tags/tag11.xml" /><Relationship Id="rId4" Type="http://schemas.openxmlformats.org/officeDocument/2006/relationships/tags" Target="../tags/tag12.xml" /><Relationship Id="rId5" Type="http://schemas.openxmlformats.org/officeDocument/2006/relationships/image" Target="../media/image7.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13.xml" /><Relationship Id="rId3" Type="http://schemas.openxmlformats.org/officeDocument/2006/relationships/tags" Target="../tags/tag14.xml" /><Relationship Id="rId4" Type="http://schemas.openxmlformats.org/officeDocument/2006/relationships/tags" Target="../tags/tag15.xml" /><Relationship Id="rId5" Type="http://schemas.openxmlformats.org/officeDocument/2006/relationships/image" Target="../media/image7.png" /><Relationship Id="rId6" Type="http://schemas.openxmlformats.org/officeDocument/2006/relationships/image" Target="../media/image8.pn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16.xml" /><Relationship Id="rId3" Type="http://schemas.openxmlformats.org/officeDocument/2006/relationships/tags" Target="../tags/tag17.xml" /><Relationship Id="rId4" Type="http://schemas.openxmlformats.org/officeDocument/2006/relationships/image" Target="../media/image7.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18.xml" /><Relationship Id="rId3" Type="http://schemas.openxmlformats.org/officeDocument/2006/relationships/tags" Target="../tags/tag19.xml" /><Relationship Id="rId4" Type="http://schemas.openxmlformats.org/officeDocument/2006/relationships/tags" Target="../tags/tag20.xml" /><Relationship Id="rId5" Type="http://schemas.openxmlformats.org/officeDocument/2006/relationships/image" Target="../media/image7.png"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1.xml" /><Relationship Id="rId3" Type="http://schemas.openxmlformats.org/officeDocument/2006/relationships/tags" Target="../tags/tag22.xml" /><Relationship Id="rId4" Type="http://schemas.openxmlformats.org/officeDocument/2006/relationships/image" Target="../media/image7.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image" Target="../media/image7.pn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5.xml" /><Relationship Id="rId3" Type="http://schemas.openxmlformats.org/officeDocument/2006/relationships/tags" Target="../tags/tag26.xml" /><Relationship Id="rId4" Type="http://schemas.openxmlformats.org/officeDocument/2006/relationships/image" Target="../media/image7.pn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7.xml" /><Relationship Id="rId3" Type="http://schemas.openxmlformats.org/officeDocument/2006/relationships/tags" Target="../tags/tag28.xml" /><Relationship Id="rId4" Type="http://schemas.openxmlformats.org/officeDocument/2006/relationships/image" Target="../media/image7.png"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9.xml" /><Relationship Id="rId3" Type="http://schemas.openxmlformats.org/officeDocument/2006/relationships/tags" Target="../tags/tag30.xml" /><Relationship Id="rId4" Type="http://schemas.openxmlformats.org/officeDocument/2006/relationships/image" Target="../media/image7.png"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image" Target="../media/image7.png"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3.xml" /><Relationship Id="rId3" Type="http://schemas.openxmlformats.org/officeDocument/2006/relationships/tags" Target="../tags/tag34.xml" /><Relationship Id="rId4" Type="http://schemas.openxmlformats.org/officeDocument/2006/relationships/image" Target="../media/image7.png"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image" Target="../media/image7.png"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7.xml" /><Relationship Id="rId3" Type="http://schemas.openxmlformats.org/officeDocument/2006/relationships/tags" Target="../tags/tag38.xml" /><Relationship Id="rId4" Type="http://schemas.openxmlformats.org/officeDocument/2006/relationships/image" Target="../media/image7.png"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39.xml" /><Relationship Id="rId3" Type="http://schemas.openxmlformats.org/officeDocument/2006/relationships/tags" Target="../tags/tag40.xml" /><Relationship Id="rId4" Type="http://schemas.openxmlformats.org/officeDocument/2006/relationships/image" Target="../media/image7.png"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41.xml" /><Relationship Id="rId3" Type="http://schemas.openxmlformats.org/officeDocument/2006/relationships/tags" Target="../tags/tag42.xml" /><Relationship Id="rId4" Type="http://schemas.openxmlformats.org/officeDocument/2006/relationships/image" Target="../media/image7.png"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43.xml" /><Relationship Id="rId3" Type="http://schemas.openxmlformats.org/officeDocument/2006/relationships/tags" Target="../tags/tag44.xml" /><Relationship Id="rId4" Type="http://schemas.openxmlformats.org/officeDocument/2006/relationships/image" Target="../media/image7.png"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45.xml" /><Relationship Id="rId3" Type="http://schemas.openxmlformats.org/officeDocument/2006/relationships/tags" Target="../tags/tag46.xml" /><Relationship Id="rId4" Type="http://schemas.openxmlformats.org/officeDocument/2006/relationships/image" Target="../media/image7.png" /><Relationship Id="rId5" Type="http://schemas.openxmlformats.org/officeDocument/2006/relationships/tags" Target="../tags/tag47.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圆角矩形 3" title=""/>
          <p:cNvSpPr/>
          <p:nvPr/>
        </p:nvSpPr>
        <p:spPr>
          <a:xfrm>
            <a:off x="2023110" y="2253615"/>
            <a:ext cx="8482965" cy="2213610"/>
          </a:xfrm>
          <a:prstGeom prst="roundRect">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5" name="文本框 4" title=""/>
          <p:cNvSpPr txBox="1"/>
          <p:nvPr/>
        </p:nvSpPr>
        <p:spPr>
          <a:xfrm>
            <a:off x="1969659" y="2316867"/>
            <a:ext cx="8463280" cy="2123658"/>
          </a:xfrm>
          <a:prstGeom prst="rect">
            <a:avLst/>
          </a:prstGeom>
          <a:noFill/>
        </p:spPr>
        <p:txBody>
          <a:bodyPr wrap="square" rtlCol="0">
            <a:spAutoFit/>
          </a:bodyPr>
          <a:lstStyle/>
          <a:p>
            <a:pPr lvl="0" algn="ctr">
              <a:lnSpc>
                <a:spcPct val="150000"/>
              </a:lnSpc>
              <a:spcBef>
                <a:spcPct val="0"/>
              </a:spcBef>
              <a:defRPr/>
            </a:pPr>
            <a:r>
              <a:rPr lang="en-US" altLang="zh-CN" sz="4400" b="1" smtClean="0">
                <a:solidFill>
                  <a:schemeClr val="bg1"/>
                </a:solidFill>
                <a:latin typeface="微软雅黑" pitchFamily="34" charset="-122"/>
                <a:ea typeface="微软雅黑" pitchFamily="34" charset="-122"/>
                <a:cs typeface="Times New Roman" pitchFamily="18" charset="0"/>
              </a:rPr>
              <a:t>【</a:t>
            </a:r>
            <a:r>
              <a:rPr lang="zh-CN" altLang="en-US" sz="4400" b="1" smtClean="0">
                <a:solidFill>
                  <a:schemeClr val="bg1"/>
                </a:solidFill>
                <a:latin typeface="微软雅黑" pitchFamily="34" charset="-122"/>
                <a:ea typeface="微软雅黑" pitchFamily="34" charset="-122"/>
                <a:cs typeface="Times New Roman" pitchFamily="18" charset="0"/>
              </a:rPr>
              <a:t>真题解析</a:t>
            </a:r>
            <a:r>
              <a:rPr lang="en-US" altLang="zh-CN" sz="4400" b="1" smtClean="0">
                <a:solidFill>
                  <a:schemeClr val="bg1"/>
                </a:solidFill>
                <a:latin typeface="微软雅黑" pitchFamily="34" charset="-122"/>
                <a:ea typeface="微软雅黑" pitchFamily="34" charset="-122"/>
                <a:cs typeface="Times New Roman" pitchFamily="18" charset="0"/>
              </a:rPr>
              <a:t>】</a:t>
            </a:r>
            <a:r>
              <a:rPr lang="zh-CN" altLang="en-US" sz="4400" b="1" smtClean="0">
                <a:solidFill>
                  <a:schemeClr val="bg1"/>
                </a:solidFill>
                <a:latin typeface="微软雅黑" pitchFamily="34" charset="-122"/>
                <a:ea typeface="微软雅黑" pitchFamily="34" charset="-122"/>
                <a:cs typeface="Meiryo UI" panose="020b0604030504040204" pitchFamily="34" charset="-128"/>
              </a:rPr>
              <a:t>专题</a:t>
            </a:r>
            <a:r>
              <a:rPr lang="en-US" altLang="zh-CN" sz="4400" b="1" smtClean="0">
                <a:solidFill>
                  <a:schemeClr val="bg1"/>
                </a:solidFill>
                <a:latin typeface="微软雅黑" pitchFamily="34" charset="-122"/>
                <a:ea typeface="微软雅黑" pitchFamily="34" charset="-122"/>
                <a:cs typeface="Meiryo UI" panose="020b0604030504040204" pitchFamily="34" charset="-128"/>
              </a:rPr>
              <a:t>03 2025</a:t>
            </a:r>
            <a:r>
              <a:rPr lang="zh-CN" altLang="en-US" sz="4400" b="1" smtClean="0">
                <a:solidFill>
                  <a:schemeClr val="bg1"/>
                </a:solidFill>
                <a:latin typeface="微软雅黑" pitchFamily="34" charset="-122"/>
                <a:ea typeface="微软雅黑" pitchFamily="34" charset="-122"/>
                <a:cs typeface="Meiryo UI" panose="020b0604030504040204" pitchFamily="34" charset="-128"/>
              </a:rPr>
              <a:t>年</a:t>
            </a:r>
            <a:endParaRPr lang="en-US" altLang="zh-CN" sz="4400" b="1" smtClean="0">
              <a:solidFill>
                <a:schemeClr val="bg1"/>
              </a:solidFill>
              <a:latin typeface="微软雅黑" pitchFamily="34" charset="-122"/>
              <a:ea typeface="微软雅黑" pitchFamily="34" charset="-122"/>
              <a:cs typeface="Meiryo UI" panose="020b0604030504040204" pitchFamily="34" charset="-128"/>
            </a:endParaRPr>
          </a:p>
          <a:p>
            <a:pPr lvl="0" algn="ctr">
              <a:lnSpc>
                <a:spcPct val="150000"/>
              </a:lnSpc>
              <a:spcBef>
                <a:spcPct val="0"/>
              </a:spcBef>
              <a:defRPr/>
            </a:pPr>
            <a:r>
              <a:rPr lang="zh-CN" altLang="en-US" sz="4400" b="1" smtClean="0">
                <a:solidFill>
                  <a:schemeClr val="bg1"/>
                </a:solidFill>
                <a:latin typeface="微软雅黑" pitchFamily="34" charset="-122"/>
                <a:ea typeface="微软雅黑" pitchFamily="34" charset="-122"/>
                <a:cs typeface="Meiryo UI" panose="020b0604030504040204" pitchFamily="34" charset="-128"/>
              </a:rPr>
              <a:t>全国一卷英语听力完全解读</a:t>
            </a:r>
            <a:endParaRPr lang="zh-CN" altLang="en-US" sz="4400" b="1">
              <a:solidFill>
                <a:schemeClr val="bg1"/>
              </a:solidFill>
              <a:latin typeface="微软雅黑" pitchFamily="34" charset="-122"/>
              <a:ea typeface="微软雅黑" pitchFamily="34" charset="-122"/>
              <a:cs typeface="Meiryo UI" panose="020b0604030504040204" pitchFamily="34" charset="-128"/>
            </a:endParaRPr>
          </a:p>
        </p:txBody>
      </p:sp>
      <p:pic>
        <p:nvPicPr>
          <p:cNvPr id="6" name="图片 5" titl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161" y="268148"/>
            <a:ext cx="962777" cy="288000"/>
          </a:xfrm>
          <a:prstGeom prst="rect">
            <a:avLst/>
          </a:prstGeom>
        </p:spPr>
      </p:pic>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 name="文本框 4" title=""/>
          <p:cNvSpPr txBox="1"/>
          <p:nvPr/>
        </p:nvSpPr>
        <p:spPr>
          <a:xfrm>
            <a:off x="1969659" y="2316867"/>
            <a:ext cx="8463280" cy="1311128"/>
          </a:xfrm>
          <a:prstGeom prst="rect">
            <a:avLst/>
          </a:prstGeom>
          <a:noFill/>
        </p:spPr>
        <p:txBody>
          <a:bodyPr wrap="square" rtlCol="0">
            <a:spAutoFit/>
          </a:bodyPr>
          <a:lstStyle/>
          <a:p>
            <a:pPr lvl="0" algn="ctr">
              <a:lnSpc>
                <a:spcPct val="90000"/>
              </a:lnSpc>
              <a:spcBef>
                <a:spcPct val="0"/>
              </a:spcBef>
              <a:defRPr/>
            </a:pPr>
            <a:r>
              <a:rPr lang="en-US" altLang="zh-CN" sz="4400" b="1" smtClean="0">
                <a:solidFill>
                  <a:schemeClr val="bg1"/>
                </a:solidFill>
                <a:latin typeface="微软雅黑" pitchFamily="34" charset="-122"/>
                <a:ea typeface="微软雅黑" pitchFamily="34" charset="-122"/>
                <a:cs typeface="Times New Roman" pitchFamily="18" charset="0"/>
              </a:rPr>
              <a:t>【</a:t>
            </a:r>
            <a:r>
              <a:rPr lang="zh-CN" altLang="en-US" sz="4400" b="1" smtClean="0">
                <a:solidFill>
                  <a:schemeClr val="bg1"/>
                </a:solidFill>
                <a:latin typeface="微软雅黑" pitchFamily="34" charset="-122"/>
                <a:ea typeface="微软雅黑" pitchFamily="34" charset="-122"/>
                <a:cs typeface="Times New Roman" pitchFamily="18" charset="0"/>
              </a:rPr>
              <a:t>真题解析</a:t>
            </a:r>
            <a:r>
              <a:rPr lang="en-US" altLang="zh-CN" sz="4400" b="1" smtClean="0">
                <a:solidFill>
                  <a:schemeClr val="bg1"/>
                </a:solidFill>
                <a:latin typeface="微软雅黑" pitchFamily="34" charset="-122"/>
                <a:ea typeface="微软雅黑" pitchFamily="34" charset="-122"/>
                <a:cs typeface="Times New Roman" pitchFamily="18" charset="0"/>
              </a:rPr>
              <a:t>】</a:t>
            </a:r>
            <a:r>
              <a:rPr lang="zh-CN" altLang="en-US" sz="4400" b="1" smtClean="0">
                <a:solidFill>
                  <a:schemeClr val="bg1"/>
                </a:solidFill>
                <a:latin typeface="微软雅黑" pitchFamily="34" charset="-122"/>
                <a:ea typeface="微软雅黑" pitchFamily="34" charset="-122"/>
                <a:cs typeface="Meiryo UI" panose="020b0604030504040204" pitchFamily="34" charset="-128"/>
              </a:rPr>
              <a:t>专题</a:t>
            </a:r>
            <a:r>
              <a:rPr lang="en-US" altLang="zh-CN" sz="4400" b="1" smtClean="0">
                <a:solidFill>
                  <a:schemeClr val="bg1"/>
                </a:solidFill>
                <a:latin typeface="微软雅黑" pitchFamily="34" charset="-122"/>
                <a:ea typeface="微软雅黑" pitchFamily="34" charset="-122"/>
                <a:cs typeface="Meiryo UI" panose="020b0604030504040204" pitchFamily="34" charset="-128"/>
              </a:rPr>
              <a:t>02 2025</a:t>
            </a:r>
            <a:r>
              <a:rPr lang="zh-CN" altLang="en-US" sz="4400" b="1" smtClean="0">
                <a:solidFill>
                  <a:schemeClr val="bg1"/>
                </a:solidFill>
                <a:latin typeface="微软雅黑" pitchFamily="34" charset="-122"/>
                <a:ea typeface="微软雅黑" pitchFamily="34" charset="-122"/>
                <a:cs typeface="Meiryo UI" panose="020b0604030504040204" pitchFamily="34" charset="-128"/>
              </a:rPr>
              <a:t>年</a:t>
            </a:r>
            <a:r>
              <a:rPr lang="en-US" altLang="zh-CN" sz="4400" b="1" smtClean="0">
                <a:solidFill>
                  <a:schemeClr val="bg1"/>
                </a:solidFill>
                <a:latin typeface="微软雅黑" pitchFamily="34" charset="-122"/>
                <a:ea typeface="微软雅黑" pitchFamily="34" charset="-122"/>
                <a:cs typeface="Meiryo UI" panose="020b0604030504040204" pitchFamily="34" charset="-128"/>
              </a:rPr>
              <a:t>1</a:t>
            </a:r>
            <a:r>
              <a:rPr lang="zh-CN" altLang="en-US" sz="4400" b="1" smtClean="0">
                <a:solidFill>
                  <a:schemeClr val="bg1"/>
                </a:solidFill>
                <a:latin typeface="微软雅黑" pitchFamily="34" charset="-122"/>
                <a:ea typeface="微软雅黑" pitchFamily="34" charset="-122"/>
                <a:cs typeface="Meiryo UI" panose="020b0604030504040204" pitchFamily="34" charset="-128"/>
              </a:rPr>
              <a:t>月浙江贵州听力完全解读</a:t>
            </a:r>
            <a:endParaRPr lang="zh-CN" altLang="en-US" sz="4400" b="1">
              <a:solidFill>
                <a:schemeClr val="bg1"/>
              </a:solidFill>
              <a:latin typeface="微软雅黑" pitchFamily="34" charset="-122"/>
              <a:ea typeface="微软雅黑" pitchFamily="34" charset="-122"/>
              <a:cs typeface="Meiryo UI" panose="020b0604030504040204" pitchFamily="34" charset="-128"/>
            </a:endParaRPr>
          </a:p>
        </p:txBody>
      </p:sp>
      <p:pic>
        <p:nvPicPr>
          <p:cNvPr id="6" name="图片 5" titl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161" y="268148"/>
            <a:ext cx="962777" cy="288000"/>
          </a:xfrm>
          <a:prstGeom prst="rect">
            <a:avLst/>
          </a:prstGeom>
        </p:spPr>
      </p:pic>
      <p:sp>
        <p:nvSpPr>
          <p:cNvPr id="7" name="Rectangle 1" title=""/>
          <p:cNvSpPr>
            <a:spLocks noChangeArrowheads="1"/>
          </p:cNvSpPr>
          <p:nvPr/>
        </p:nvSpPr>
        <p:spPr bwMode="auto">
          <a:xfrm>
            <a:off x="373711" y="1215046"/>
            <a:ext cx="11473731" cy="5016758"/>
          </a:xfrm>
          <a:prstGeom prst="rect">
            <a:avLst/>
          </a:prstGeom>
          <a:noFill/>
          <a:ln w="28575">
            <a:solidFill>
              <a:schemeClr val="accent1"/>
            </a:solidFill>
            <a:miter lim="800000"/>
          </a:ln>
          <a:effectLst/>
        </p:spPr>
        <p:txBody>
          <a:bodyPr vert="horz" wrap="square" lIns="91440" tIns="45720" rIns="91440" bIns="45720" numCol="1" anchor="ctr" anchorCtr="0" compatLnSpc="1">
            <a:prstTxWarp prst="textNoShape">
              <a:avLst/>
            </a:prstTxWarp>
            <a:spAutoFit/>
          </a:bodyPr>
          <a:lstStyle/>
          <a:p>
            <a:pPr algn="just"/>
            <a:r>
              <a:rPr lang="zh-CN" altLang="en-US" sz="3200" b="1" smtClean="0">
                <a:latin typeface="微软雅黑" pitchFamily="34" charset="-122"/>
                <a:ea typeface="微软雅黑" pitchFamily="34" charset="-122"/>
              </a:rPr>
              <a:t>        听力部分要求考生听懂有关日常生活中所熟悉的话题，如：申报行李丢失、讨论毕业后计划、讨论搬家、初次滑雪体验、指路、学校区域超速、偶遇熟人并邀请聚餐、探讨电视节目、学校服务项目、艺术如何传播气候变化意识。与往年相同，听力部分中有</a:t>
            </a:r>
            <a:r>
              <a:rPr lang="en-US" altLang="en-US" sz="3200" b="1" smtClean="0">
                <a:latin typeface="微软雅黑" pitchFamily="34" charset="-122"/>
                <a:ea typeface="微软雅黑" pitchFamily="34" charset="-122"/>
              </a:rPr>
              <a:t>10 </a:t>
            </a:r>
            <a:r>
              <a:rPr lang="zh-CN" altLang="en-US" sz="3200" b="1" smtClean="0">
                <a:latin typeface="微软雅黑" pitchFamily="34" charset="-122"/>
                <a:ea typeface="微软雅黑" pitchFamily="34" charset="-122"/>
              </a:rPr>
              <a:t>段听力材料，其中的</a:t>
            </a:r>
            <a:r>
              <a:rPr lang="en-US" altLang="en-US" sz="3200" b="1" smtClean="0">
                <a:latin typeface="微软雅黑" pitchFamily="34" charset="-122"/>
                <a:ea typeface="微软雅黑" pitchFamily="34" charset="-122"/>
              </a:rPr>
              <a:t>5</a:t>
            </a:r>
            <a:r>
              <a:rPr lang="zh-CN" altLang="en-US" sz="3200" b="1" smtClean="0">
                <a:latin typeface="微软雅黑" pitchFamily="34" charset="-122"/>
                <a:ea typeface="微软雅黑" pitchFamily="34" charset="-122"/>
              </a:rPr>
              <a:t>段较短，另</a:t>
            </a:r>
            <a:r>
              <a:rPr lang="en-US" altLang="en-US" sz="3200" b="1" smtClean="0">
                <a:latin typeface="微软雅黑" pitchFamily="34" charset="-122"/>
                <a:ea typeface="微软雅黑" pitchFamily="34" charset="-122"/>
              </a:rPr>
              <a:t>5</a:t>
            </a:r>
            <a:r>
              <a:rPr lang="zh-CN" altLang="en-US" sz="3200" b="1" smtClean="0">
                <a:latin typeface="微软雅黑" pitchFamily="34" charset="-122"/>
                <a:ea typeface="微软雅黑" pitchFamily="34" charset="-122"/>
              </a:rPr>
              <a:t>段则较长。话题覆盖面广，对话内容逻辑清楚，话语流畅。所考查的听力微技能包括：理解主旨与要义、获取事实性具体信息、对所听内容作出简单推断、理解说话者的意图、观点和态度。问题涉及多个方面和多个角度，采用 </a:t>
            </a:r>
            <a:r>
              <a:rPr lang="en-US" altLang="en-US" sz="3200" b="1" smtClean="0">
                <a:latin typeface="微软雅黑" pitchFamily="34" charset="-122"/>
                <a:ea typeface="微软雅黑" pitchFamily="34" charset="-122"/>
              </a:rPr>
              <a:t>what, where, why, how</a:t>
            </a:r>
            <a:r>
              <a:rPr lang="zh-CN" altLang="en-US" sz="3200" b="1" smtClean="0">
                <a:latin typeface="微软雅黑" pitchFamily="34" charset="-122"/>
                <a:ea typeface="微软雅黑" pitchFamily="34" charset="-122"/>
              </a:rPr>
              <a:t>等疑问词引出的问句进行提问。</a:t>
            </a:r>
            <a:endParaRPr lang="zh-CN" altLang="en-US" sz="3200" b="1">
              <a:latin typeface="微软雅黑" pitchFamily="34" charset="-122"/>
              <a:ea typeface="微软雅黑" pitchFamily="34"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 name="文本框 4" title=""/>
          <p:cNvSpPr txBox="1"/>
          <p:nvPr/>
        </p:nvSpPr>
        <p:spPr>
          <a:xfrm>
            <a:off x="1969659" y="2316867"/>
            <a:ext cx="8463280" cy="1311128"/>
          </a:xfrm>
          <a:prstGeom prst="rect">
            <a:avLst/>
          </a:prstGeom>
          <a:noFill/>
        </p:spPr>
        <p:txBody>
          <a:bodyPr wrap="square" rtlCol="0">
            <a:spAutoFit/>
          </a:bodyPr>
          <a:lstStyle/>
          <a:p>
            <a:pPr lvl="0" algn="ctr">
              <a:lnSpc>
                <a:spcPct val="90000"/>
              </a:lnSpc>
              <a:spcBef>
                <a:spcPct val="0"/>
              </a:spcBef>
              <a:defRPr/>
            </a:pPr>
            <a:r>
              <a:rPr lang="en-US" altLang="zh-CN" sz="4400" b="1" smtClean="0">
                <a:solidFill>
                  <a:schemeClr val="bg1"/>
                </a:solidFill>
                <a:latin typeface="微软雅黑" pitchFamily="34" charset="-122"/>
                <a:ea typeface="微软雅黑" pitchFamily="34" charset="-122"/>
                <a:cs typeface="Times New Roman" pitchFamily="18" charset="0"/>
              </a:rPr>
              <a:t>【</a:t>
            </a:r>
            <a:r>
              <a:rPr lang="zh-CN" altLang="en-US" sz="4400" b="1" smtClean="0">
                <a:solidFill>
                  <a:schemeClr val="bg1"/>
                </a:solidFill>
                <a:latin typeface="微软雅黑" pitchFamily="34" charset="-122"/>
                <a:ea typeface="微软雅黑" pitchFamily="34" charset="-122"/>
                <a:cs typeface="Times New Roman" pitchFamily="18" charset="0"/>
              </a:rPr>
              <a:t>真题解析</a:t>
            </a:r>
            <a:r>
              <a:rPr lang="en-US" altLang="zh-CN" sz="4400" b="1" smtClean="0">
                <a:solidFill>
                  <a:schemeClr val="bg1"/>
                </a:solidFill>
                <a:latin typeface="微软雅黑" pitchFamily="34" charset="-122"/>
                <a:ea typeface="微软雅黑" pitchFamily="34" charset="-122"/>
                <a:cs typeface="Times New Roman" pitchFamily="18" charset="0"/>
              </a:rPr>
              <a:t>】</a:t>
            </a:r>
            <a:r>
              <a:rPr lang="zh-CN" altLang="en-US" sz="4400" b="1" smtClean="0">
                <a:solidFill>
                  <a:schemeClr val="bg1"/>
                </a:solidFill>
                <a:latin typeface="微软雅黑" pitchFamily="34" charset="-122"/>
                <a:ea typeface="微软雅黑" pitchFamily="34" charset="-122"/>
                <a:cs typeface="Meiryo UI" panose="020b0604030504040204" pitchFamily="34" charset="-128"/>
              </a:rPr>
              <a:t>专题</a:t>
            </a:r>
            <a:r>
              <a:rPr lang="en-US" altLang="zh-CN" sz="4400" b="1" smtClean="0">
                <a:solidFill>
                  <a:schemeClr val="bg1"/>
                </a:solidFill>
                <a:latin typeface="微软雅黑" pitchFamily="34" charset="-122"/>
                <a:ea typeface="微软雅黑" pitchFamily="34" charset="-122"/>
                <a:cs typeface="Meiryo UI" panose="020b0604030504040204" pitchFamily="34" charset="-128"/>
              </a:rPr>
              <a:t>02 2025</a:t>
            </a:r>
            <a:r>
              <a:rPr lang="zh-CN" altLang="en-US" sz="4400" b="1" smtClean="0">
                <a:solidFill>
                  <a:schemeClr val="bg1"/>
                </a:solidFill>
                <a:latin typeface="微软雅黑" pitchFamily="34" charset="-122"/>
                <a:ea typeface="微软雅黑" pitchFamily="34" charset="-122"/>
                <a:cs typeface="Meiryo UI" panose="020b0604030504040204" pitchFamily="34" charset="-128"/>
              </a:rPr>
              <a:t>年</a:t>
            </a:r>
            <a:r>
              <a:rPr lang="en-US" altLang="zh-CN" sz="4400" b="1" smtClean="0">
                <a:solidFill>
                  <a:schemeClr val="bg1"/>
                </a:solidFill>
                <a:latin typeface="微软雅黑" pitchFamily="34" charset="-122"/>
                <a:ea typeface="微软雅黑" pitchFamily="34" charset="-122"/>
                <a:cs typeface="Meiryo UI" panose="020b0604030504040204" pitchFamily="34" charset="-128"/>
              </a:rPr>
              <a:t>1</a:t>
            </a:r>
            <a:r>
              <a:rPr lang="zh-CN" altLang="en-US" sz="4400" b="1" smtClean="0">
                <a:solidFill>
                  <a:schemeClr val="bg1"/>
                </a:solidFill>
                <a:latin typeface="微软雅黑" pitchFamily="34" charset="-122"/>
                <a:ea typeface="微软雅黑" pitchFamily="34" charset="-122"/>
                <a:cs typeface="Meiryo UI" panose="020b0604030504040204" pitchFamily="34" charset="-128"/>
              </a:rPr>
              <a:t>月浙江贵州听力完全解读</a:t>
            </a:r>
            <a:endParaRPr lang="zh-CN" altLang="en-US" sz="4400" b="1">
              <a:solidFill>
                <a:schemeClr val="bg1"/>
              </a:solidFill>
              <a:latin typeface="微软雅黑" pitchFamily="34" charset="-122"/>
              <a:ea typeface="微软雅黑" pitchFamily="34" charset="-122"/>
              <a:cs typeface="Meiryo UI" panose="020b0604030504040204" pitchFamily="34" charset="-128"/>
            </a:endParaRPr>
          </a:p>
        </p:txBody>
      </p:sp>
      <p:pic>
        <p:nvPicPr>
          <p:cNvPr id="6" name="图片 5" titl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161" y="268148"/>
            <a:ext cx="962777" cy="288000"/>
          </a:xfrm>
          <a:prstGeom prst="rect">
            <a:avLst/>
          </a:prstGeom>
        </p:spPr>
      </p:pic>
      <p:sp>
        <p:nvSpPr>
          <p:cNvPr id="7" name="Rectangle 1" title=""/>
          <p:cNvSpPr>
            <a:spLocks noChangeArrowheads="1"/>
          </p:cNvSpPr>
          <p:nvPr/>
        </p:nvSpPr>
        <p:spPr bwMode="auto">
          <a:xfrm>
            <a:off x="286248" y="1215046"/>
            <a:ext cx="11632758" cy="5016758"/>
          </a:xfrm>
          <a:prstGeom prst="rect">
            <a:avLst/>
          </a:prstGeom>
          <a:noFill/>
          <a:ln w="28575">
            <a:solidFill>
              <a:schemeClr val="accent1"/>
            </a:solidFill>
            <a:miter lim="800000"/>
          </a:ln>
          <a:effectLst/>
        </p:spPr>
        <p:txBody>
          <a:bodyPr vert="horz" wrap="square" lIns="91440" tIns="45720" rIns="91440" bIns="45720" numCol="1" anchor="ctr" anchorCtr="0" compatLnSpc="1">
            <a:prstTxWarp prst="textNoShape">
              <a:avLst/>
            </a:prstTxWarp>
            <a:spAutoFit/>
          </a:bodyPr>
          <a:lstStyle/>
          <a:p>
            <a:r>
              <a:rPr lang="zh-CN" altLang="en-US" sz="3200" b="1" smtClean="0">
                <a:latin typeface="微软雅黑" pitchFamily="34" charset="-122"/>
                <a:ea typeface="微软雅黑" pitchFamily="34" charset="-122"/>
              </a:rPr>
              <a:t>第二节结构：</a:t>
            </a:r>
            <a:r>
              <a:rPr lang="en-US" altLang="zh-CN" sz="3200" b="1" smtClean="0">
                <a:solidFill>
                  <a:srgbClr val="FF0000"/>
                </a:solidFill>
                <a:latin typeface="Times New Roman" pitchFamily="18" charset="0"/>
                <a:cs typeface="Times New Roman" pitchFamily="18" charset="0"/>
              </a:rPr>
              <a:t>2-3-3-4-3</a:t>
            </a:r>
            <a:endParaRPr lang="zh-CN" altLang="en-US" sz="3200" b="1" smtClean="0">
              <a:solidFill>
                <a:srgbClr val="FF0000"/>
              </a:solidFill>
              <a:latin typeface="Times New Roman" pitchFamily="18" charset="0"/>
              <a:cs typeface="Times New Roman" pitchFamily="18" charset="0"/>
            </a:endParaRPr>
          </a:p>
          <a:p>
            <a:r>
              <a:rPr lang="zh-CN" altLang="en-US" sz="3200" b="1" smtClean="0">
                <a:latin typeface="微软雅黑" pitchFamily="34" charset="-122"/>
                <a:ea typeface="微软雅黑" pitchFamily="34" charset="-122"/>
              </a:rPr>
              <a:t>口 音：美音</a:t>
            </a:r>
            <a:r>
              <a:rPr lang="en-US" sz="3200" b="1" smtClean="0">
                <a:latin typeface="微软雅黑" pitchFamily="34" charset="-122"/>
                <a:ea typeface="微软雅黑" pitchFamily="34" charset="-122"/>
              </a:rPr>
              <a:t> </a:t>
            </a:r>
            <a:endParaRPr lang="zh-CN" altLang="en-US" sz="3200" b="1" smtClean="0">
              <a:latin typeface="微软雅黑" pitchFamily="34" charset="-122"/>
              <a:ea typeface="微软雅黑" pitchFamily="34" charset="-122"/>
            </a:endParaRPr>
          </a:p>
          <a:p>
            <a:r>
              <a:rPr lang="zh-CN" altLang="en-US" sz="3200" b="1" smtClean="0">
                <a:latin typeface="微软雅黑" pitchFamily="34" charset="-122"/>
                <a:ea typeface="微软雅黑" pitchFamily="34" charset="-122"/>
              </a:rPr>
              <a:t>词 数：</a:t>
            </a:r>
            <a:r>
              <a:rPr lang="en-US" sz="3200" b="1" smtClean="0">
                <a:latin typeface="微软雅黑" pitchFamily="34" charset="-122"/>
                <a:ea typeface="微软雅黑" pitchFamily="34" charset="-122"/>
              </a:rPr>
              <a:t>847</a:t>
            </a:r>
            <a:r>
              <a:rPr lang="zh-CN" altLang="en-US" sz="3200" b="1" smtClean="0">
                <a:latin typeface="微软雅黑" pitchFamily="34" charset="-122"/>
                <a:ea typeface="微软雅黑" pitchFamily="34" charset="-122"/>
              </a:rPr>
              <a:t>（比</a:t>
            </a:r>
            <a:r>
              <a:rPr lang="en-US" altLang="zh-CN" sz="3200" b="1" smtClean="0">
                <a:latin typeface="微软雅黑" pitchFamily="34" charset="-122"/>
                <a:ea typeface="微软雅黑" pitchFamily="34" charset="-122"/>
              </a:rPr>
              <a:t>2024</a:t>
            </a:r>
            <a:r>
              <a:rPr lang="zh-CN" altLang="en-US" sz="3200" b="1" smtClean="0">
                <a:latin typeface="微软雅黑" pitchFamily="34" charset="-122"/>
                <a:ea typeface="微软雅黑" pitchFamily="34" charset="-122"/>
              </a:rPr>
              <a:t>年减少</a:t>
            </a:r>
            <a:r>
              <a:rPr lang="en-US" altLang="zh-CN" sz="3200" b="1" smtClean="0">
                <a:solidFill>
                  <a:srgbClr val="FF0000"/>
                </a:solidFill>
                <a:latin typeface="微软雅黑" pitchFamily="34" charset="-122"/>
                <a:ea typeface="微软雅黑" pitchFamily="34" charset="-122"/>
              </a:rPr>
              <a:t>38</a:t>
            </a:r>
            <a:r>
              <a:rPr lang="zh-CN" altLang="en-US" sz="3200" b="1" smtClean="0">
                <a:latin typeface="微软雅黑" pitchFamily="34" charset="-122"/>
                <a:ea typeface="微软雅黑" pitchFamily="34" charset="-122"/>
              </a:rPr>
              <a:t>词）</a:t>
            </a:r>
            <a:r>
              <a:rPr lang="en-US" sz="3200" b="1" smtClean="0">
                <a:latin typeface="微软雅黑" pitchFamily="34" charset="-122"/>
                <a:ea typeface="微软雅黑" pitchFamily="34" charset="-122"/>
              </a:rPr>
              <a:t> </a:t>
            </a:r>
            <a:endParaRPr lang="zh-CN" altLang="en-US" sz="3200" b="1" smtClean="0">
              <a:latin typeface="微软雅黑" pitchFamily="34" charset="-122"/>
              <a:ea typeface="微软雅黑" pitchFamily="34" charset="-122"/>
            </a:endParaRPr>
          </a:p>
          <a:p>
            <a:r>
              <a:rPr lang="zh-CN" altLang="en-US" sz="3200" b="1" smtClean="0">
                <a:latin typeface="微软雅黑" pitchFamily="34" charset="-122"/>
                <a:ea typeface="微软雅黑" pitchFamily="34" charset="-122"/>
              </a:rPr>
              <a:t>时 间：</a:t>
            </a:r>
            <a:r>
              <a:rPr lang="en-US" altLang="zh-CN" sz="3200" b="1" smtClean="0">
                <a:latin typeface="微软雅黑" pitchFamily="34" charset="-122"/>
                <a:ea typeface="微软雅黑" pitchFamily="34" charset="-122"/>
              </a:rPr>
              <a:t>6′22″</a:t>
            </a:r>
            <a:r>
              <a:rPr lang="zh-CN" altLang="en-US" sz="3200" b="1" smtClean="0">
                <a:latin typeface="微软雅黑" pitchFamily="34" charset="-122"/>
                <a:ea typeface="微软雅黑" pitchFamily="34" charset="-122"/>
              </a:rPr>
              <a:t>（单遍录音）</a:t>
            </a:r>
          </a:p>
          <a:p>
            <a:r>
              <a:rPr lang="zh-CN" altLang="en-US" sz="3200" b="1" smtClean="0">
                <a:latin typeface="微软雅黑" pitchFamily="34" charset="-122"/>
                <a:ea typeface="微软雅黑" pitchFamily="34" charset="-122"/>
              </a:rPr>
              <a:t>语 速：</a:t>
            </a:r>
            <a:r>
              <a:rPr lang="en-US" sz="3200" b="1" smtClean="0">
                <a:latin typeface="微软雅黑" pitchFamily="34" charset="-122"/>
                <a:ea typeface="微软雅黑" pitchFamily="34" charset="-122"/>
              </a:rPr>
              <a:t>136</a:t>
            </a:r>
            <a:r>
              <a:rPr lang="zh-CN" altLang="en-US" sz="3200" b="1" smtClean="0">
                <a:latin typeface="微软雅黑" pitchFamily="34" charset="-122"/>
                <a:ea typeface="微软雅黑" pitchFamily="34" charset="-122"/>
              </a:rPr>
              <a:t>词 </a:t>
            </a:r>
            <a:r>
              <a:rPr lang="en-US" sz="3200" b="1" smtClean="0">
                <a:latin typeface="微软雅黑" pitchFamily="34" charset="-122"/>
                <a:ea typeface="微软雅黑" pitchFamily="34" charset="-122"/>
              </a:rPr>
              <a:t>/ </a:t>
            </a:r>
            <a:r>
              <a:rPr lang="zh-CN" altLang="en-US" sz="3200" b="1" smtClean="0">
                <a:latin typeface="微软雅黑" pitchFamily="34" charset="-122"/>
                <a:ea typeface="微软雅黑" pitchFamily="34" charset="-122"/>
              </a:rPr>
              <a:t>分（</a:t>
            </a:r>
            <a:r>
              <a:rPr lang="en-US" altLang="zh-CN" sz="3200" b="1" smtClean="0">
                <a:latin typeface="微软雅黑" pitchFamily="34" charset="-122"/>
                <a:ea typeface="微软雅黑" pitchFamily="34" charset="-122"/>
              </a:rPr>
              <a:t>2024</a:t>
            </a:r>
            <a:r>
              <a:rPr lang="zh-CN" altLang="en-US" sz="3200" b="1" smtClean="0">
                <a:latin typeface="微软雅黑" pitchFamily="34" charset="-122"/>
                <a:ea typeface="微软雅黑" pitchFamily="34" charset="-122"/>
              </a:rPr>
              <a:t>年</a:t>
            </a:r>
            <a:r>
              <a:rPr lang="en-US" sz="3200" b="1" smtClean="0">
                <a:solidFill>
                  <a:srgbClr val="FF0000"/>
                </a:solidFill>
                <a:latin typeface="微软雅黑" pitchFamily="34" charset="-122"/>
                <a:ea typeface="微软雅黑" pitchFamily="34" charset="-122"/>
              </a:rPr>
              <a:t>139</a:t>
            </a:r>
            <a:r>
              <a:rPr lang="zh-CN" altLang="en-US" sz="3200" b="1" smtClean="0">
                <a:latin typeface="微软雅黑" pitchFamily="34" charset="-122"/>
                <a:ea typeface="微软雅黑" pitchFamily="34" charset="-122"/>
              </a:rPr>
              <a:t>词 </a:t>
            </a:r>
            <a:r>
              <a:rPr lang="en-US" sz="3200" b="1" smtClean="0">
                <a:latin typeface="微软雅黑" pitchFamily="34" charset="-122"/>
                <a:ea typeface="微软雅黑" pitchFamily="34" charset="-122"/>
              </a:rPr>
              <a:t>/ </a:t>
            </a:r>
            <a:r>
              <a:rPr lang="zh-CN" altLang="en-US" sz="3200" b="1" smtClean="0">
                <a:latin typeface="微软雅黑" pitchFamily="34" charset="-122"/>
                <a:ea typeface="微软雅黑" pitchFamily="34" charset="-122"/>
              </a:rPr>
              <a:t>分</a:t>
            </a:r>
            <a:r>
              <a:rPr lang="en-US" sz="3200" b="1" smtClean="0">
                <a:latin typeface="微软雅黑" pitchFamily="34" charset="-122"/>
                <a:ea typeface="微软雅黑" pitchFamily="34" charset="-122"/>
              </a:rPr>
              <a:t> </a:t>
            </a:r>
            <a:r>
              <a:rPr lang="zh-CN" altLang="en-US" sz="3200" b="1" smtClean="0">
                <a:latin typeface="微软雅黑" pitchFamily="34" charset="-122"/>
                <a:ea typeface="微软雅黑" pitchFamily="34" charset="-122"/>
              </a:rPr>
              <a:t>）</a:t>
            </a:r>
          </a:p>
          <a:p>
            <a:r>
              <a:rPr lang="zh-CN" altLang="en-US" sz="3200" b="1" smtClean="0">
                <a:latin typeface="微软雅黑" pitchFamily="34" charset="-122"/>
                <a:ea typeface="微软雅黑" pitchFamily="34" charset="-122"/>
              </a:rPr>
              <a:t>考 点：</a:t>
            </a:r>
            <a:r>
              <a:rPr lang="en-US" sz="3200" b="1" smtClean="0">
                <a:solidFill>
                  <a:srgbClr val="FF0000"/>
                </a:solidFill>
                <a:latin typeface="微软雅黑" pitchFamily="34" charset="-122"/>
                <a:ea typeface="微软雅黑" pitchFamily="34" charset="-122"/>
              </a:rPr>
              <a:t>2025</a:t>
            </a:r>
            <a:r>
              <a:rPr lang="zh-CN" altLang="en-US" sz="3200" b="1" smtClean="0">
                <a:solidFill>
                  <a:srgbClr val="FF0000"/>
                </a:solidFill>
                <a:latin typeface="微软雅黑" pitchFamily="34" charset="-122"/>
                <a:ea typeface="微软雅黑" pitchFamily="34" charset="-122"/>
              </a:rPr>
              <a:t>年全国一卷</a:t>
            </a:r>
            <a:r>
              <a:rPr lang="zh-CN" altLang="en-US" sz="3200" b="1" smtClean="0">
                <a:latin typeface="微软雅黑" pitchFamily="34" charset="-122"/>
                <a:ea typeface="微软雅黑" pitchFamily="34" charset="-122"/>
              </a:rPr>
              <a:t>高考英语听力部分的 </a:t>
            </a:r>
            <a:r>
              <a:rPr lang="en-US" sz="3200" b="1" smtClean="0">
                <a:latin typeface="微软雅黑" pitchFamily="34" charset="-122"/>
                <a:ea typeface="微软雅黑" pitchFamily="34" charset="-122"/>
              </a:rPr>
              <a:t>20 </a:t>
            </a:r>
            <a:r>
              <a:rPr lang="zh-CN" altLang="en-US" sz="3200" b="1" smtClean="0">
                <a:latin typeface="微软雅黑" pitchFamily="34" charset="-122"/>
                <a:ea typeface="微软雅黑" pitchFamily="34" charset="-122"/>
              </a:rPr>
              <a:t>个小题中，理解主旨与要义的题 </a:t>
            </a:r>
            <a:r>
              <a:rPr lang="en-US" sz="3200" b="1" smtClean="0">
                <a:latin typeface="微软雅黑" pitchFamily="34" charset="-122"/>
                <a:ea typeface="微软雅黑" pitchFamily="34" charset="-122"/>
              </a:rPr>
              <a:t>2 </a:t>
            </a:r>
            <a:r>
              <a:rPr lang="zh-CN" altLang="en-US" sz="3200" b="1" smtClean="0">
                <a:latin typeface="微软雅黑" pitchFamily="34" charset="-122"/>
                <a:ea typeface="微软雅黑" pitchFamily="34" charset="-122"/>
              </a:rPr>
              <a:t>个，获取事实性具体信息的题</a:t>
            </a:r>
            <a:r>
              <a:rPr lang="en-US" sz="3200" b="1" smtClean="0">
                <a:latin typeface="微软雅黑" pitchFamily="34" charset="-122"/>
                <a:ea typeface="微软雅黑" pitchFamily="34" charset="-122"/>
              </a:rPr>
              <a:t> 8 </a:t>
            </a:r>
            <a:r>
              <a:rPr lang="zh-CN" altLang="en-US" sz="3200" b="1" smtClean="0">
                <a:latin typeface="微软雅黑" pitchFamily="34" charset="-122"/>
                <a:ea typeface="微软雅黑" pitchFamily="34" charset="-122"/>
              </a:rPr>
              <a:t>个，对所听内容作出简单推断的题 </a:t>
            </a:r>
            <a:r>
              <a:rPr lang="en-US" sz="3200" b="1" smtClean="0">
                <a:latin typeface="微软雅黑" pitchFamily="34" charset="-122"/>
                <a:ea typeface="微软雅黑" pitchFamily="34" charset="-122"/>
              </a:rPr>
              <a:t>7 </a:t>
            </a:r>
            <a:r>
              <a:rPr lang="zh-CN" altLang="en-US" sz="3200" b="1" smtClean="0">
                <a:latin typeface="微软雅黑" pitchFamily="34" charset="-122"/>
                <a:ea typeface="微软雅黑" pitchFamily="34" charset="-122"/>
              </a:rPr>
              <a:t>个，理解说话者的意图、观点和态度的题 </a:t>
            </a:r>
            <a:r>
              <a:rPr lang="en-US" sz="3200" b="1" smtClean="0">
                <a:latin typeface="微软雅黑" pitchFamily="34" charset="-122"/>
                <a:ea typeface="微软雅黑" pitchFamily="34" charset="-122"/>
              </a:rPr>
              <a:t>3 </a:t>
            </a:r>
            <a:r>
              <a:rPr lang="zh-CN" altLang="en-US" sz="3200" b="1" smtClean="0">
                <a:latin typeface="微软雅黑" pitchFamily="34" charset="-122"/>
                <a:ea typeface="微软雅黑" pitchFamily="34" charset="-122"/>
              </a:rPr>
              <a:t>个，较好地体现了</a:t>
            </a:r>
            <a:r>
              <a:rPr lang="en-US" altLang="zh-CN" sz="3200" b="1" smtClean="0">
                <a:latin typeface="微软雅黑" pitchFamily="34" charset="-122"/>
                <a:ea typeface="微软雅黑" pitchFamily="34" charset="-122"/>
              </a:rPr>
              <a:t>《</a:t>
            </a:r>
            <a:r>
              <a:rPr lang="zh-CN" altLang="en-US" sz="3200" b="1" smtClean="0">
                <a:latin typeface="微软雅黑" pitchFamily="34" charset="-122"/>
                <a:ea typeface="微软雅黑" pitchFamily="34" charset="-122"/>
              </a:rPr>
              <a:t>普通高中英语课程标准</a:t>
            </a:r>
            <a:r>
              <a:rPr lang="en-US" altLang="zh-CN" sz="3200" b="1" smtClean="0">
                <a:latin typeface="微软雅黑" pitchFamily="34" charset="-122"/>
                <a:ea typeface="微软雅黑" pitchFamily="34" charset="-122"/>
              </a:rPr>
              <a:t>》</a:t>
            </a:r>
            <a:r>
              <a:rPr lang="zh-CN" altLang="en-US" sz="3200" b="1" smtClean="0">
                <a:latin typeface="微软雅黑" pitchFamily="34" charset="-122"/>
                <a:ea typeface="微软雅黑" pitchFamily="34" charset="-122"/>
              </a:rPr>
              <a:t>对考生的要求。</a:t>
            </a:r>
            <a:endParaRPr lang="zh-CN" altLang="en-US" sz="3200" b="1">
              <a:latin typeface="微软雅黑" pitchFamily="34" charset="-122"/>
              <a:ea typeface="微软雅黑" pitchFamily="34"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 name="文本框 4" title=""/>
          <p:cNvSpPr txBox="1"/>
          <p:nvPr/>
        </p:nvSpPr>
        <p:spPr>
          <a:xfrm>
            <a:off x="1969659" y="2316867"/>
            <a:ext cx="8463280" cy="1311128"/>
          </a:xfrm>
          <a:prstGeom prst="rect">
            <a:avLst/>
          </a:prstGeom>
          <a:noFill/>
        </p:spPr>
        <p:txBody>
          <a:bodyPr wrap="square" rtlCol="0">
            <a:spAutoFit/>
          </a:bodyPr>
          <a:lstStyle/>
          <a:p>
            <a:pPr lvl="0" algn="ctr">
              <a:lnSpc>
                <a:spcPct val="90000"/>
              </a:lnSpc>
              <a:spcBef>
                <a:spcPct val="0"/>
              </a:spcBef>
              <a:defRPr/>
            </a:pPr>
            <a:r>
              <a:rPr lang="en-US" altLang="zh-CN" sz="4400" b="1" smtClean="0">
                <a:solidFill>
                  <a:schemeClr val="bg1"/>
                </a:solidFill>
                <a:latin typeface="微软雅黑" pitchFamily="34" charset="-122"/>
                <a:ea typeface="微软雅黑" pitchFamily="34" charset="-122"/>
                <a:cs typeface="Times New Roman" pitchFamily="18" charset="0"/>
              </a:rPr>
              <a:t>【</a:t>
            </a:r>
            <a:r>
              <a:rPr lang="zh-CN" altLang="en-US" sz="4400" b="1" smtClean="0">
                <a:solidFill>
                  <a:schemeClr val="bg1"/>
                </a:solidFill>
                <a:latin typeface="微软雅黑" pitchFamily="34" charset="-122"/>
                <a:ea typeface="微软雅黑" pitchFamily="34" charset="-122"/>
                <a:cs typeface="Times New Roman" pitchFamily="18" charset="0"/>
              </a:rPr>
              <a:t>真题解析</a:t>
            </a:r>
            <a:r>
              <a:rPr lang="en-US" altLang="zh-CN" sz="4400" b="1" smtClean="0">
                <a:solidFill>
                  <a:schemeClr val="bg1"/>
                </a:solidFill>
                <a:latin typeface="微软雅黑" pitchFamily="34" charset="-122"/>
                <a:ea typeface="微软雅黑" pitchFamily="34" charset="-122"/>
                <a:cs typeface="Times New Roman" pitchFamily="18" charset="0"/>
              </a:rPr>
              <a:t>】</a:t>
            </a:r>
            <a:r>
              <a:rPr lang="zh-CN" altLang="en-US" sz="4400" b="1" smtClean="0">
                <a:solidFill>
                  <a:schemeClr val="bg1"/>
                </a:solidFill>
                <a:latin typeface="微软雅黑" pitchFamily="34" charset="-122"/>
                <a:ea typeface="微软雅黑" pitchFamily="34" charset="-122"/>
                <a:cs typeface="Meiryo UI" panose="020b0604030504040204" pitchFamily="34" charset="-128"/>
              </a:rPr>
              <a:t>专题</a:t>
            </a:r>
            <a:r>
              <a:rPr lang="en-US" altLang="zh-CN" sz="4400" b="1" smtClean="0">
                <a:solidFill>
                  <a:schemeClr val="bg1"/>
                </a:solidFill>
                <a:latin typeface="微软雅黑" pitchFamily="34" charset="-122"/>
                <a:ea typeface="微软雅黑" pitchFamily="34" charset="-122"/>
                <a:cs typeface="Meiryo UI" panose="020b0604030504040204" pitchFamily="34" charset="-128"/>
              </a:rPr>
              <a:t>02 2025</a:t>
            </a:r>
            <a:r>
              <a:rPr lang="zh-CN" altLang="en-US" sz="4400" b="1" smtClean="0">
                <a:solidFill>
                  <a:schemeClr val="bg1"/>
                </a:solidFill>
                <a:latin typeface="微软雅黑" pitchFamily="34" charset="-122"/>
                <a:ea typeface="微软雅黑" pitchFamily="34" charset="-122"/>
                <a:cs typeface="Meiryo UI" panose="020b0604030504040204" pitchFamily="34" charset="-128"/>
              </a:rPr>
              <a:t>年</a:t>
            </a:r>
            <a:r>
              <a:rPr lang="en-US" altLang="zh-CN" sz="4400" b="1" smtClean="0">
                <a:solidFill>
                  <a:schemeClr val="bg1"/>
                </a:solidFill>
                <a:latin typeface="微软雅黑" pitchFamily="34" charset="-122"/>
                <a:ea typeface="微软雅黑" pitchFamily="34" charset="-122"/>
                <a:cs typeface="Meiryo UI" panose="020b0604030504040204" pitchFamily="34" charset="-128"/>
              </a:rPr>
              <a:t>1</a:t>
            </a:r>
            <a:r>
              <a:rPr lang="zh-CN" altLang="en-US" sz="4400" b="1" smtClean="0">
                <a:solidFill>
                  <a:schemeClr val="bg1"/>
                </a:solidFill>
                <a:latin typeface="微软雅黑" pitchFamily="34" charset="-122"/>
                <a:ea typeface="微软雅黑" pitchFamily="34" charset="-122"/>
                <a:cs typeface="Meiryo UI" panose="020b0604030504040204" pitchFamily="34" charset="-128"/>
              </a:rPr>
              <a:t>月浙江贵州听力完全解读</a:t>
            </a:r>
            <a:endParaRPr lang="zh-CN" altLang="en-US" sz="4400" b="1">
              <a:solidFill>
                <a:schemeClr val="bg1"/>
              </a:solidFill>
              <a:latin typeface="微软雅黑" pitchFamily="34" charset="-122"/>
              <a:ea typeface="微软雅黑" pitchFamily="34" charset="-122"/>
              <a:cs typeface="Meiryo UI" panose="020b0604030504040204" pitchFamily="34" charset="-128"/>
            </a:endParaRPr>
          </a:p>
        </p:txBody>
      </p:sp>
      <p:pic>
        <p:nvPicPr>
          <p:cNvPr id="6" name="图片 5" titl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161" y="268148"/>
            <a:ext cx="962777" cy="288000"/>
          </a:xfrm>
          <a:prstGeom prst="rect">
            <a:avLst/>
          </a:prstGeom>
        </p:spPr>
      </p:pic>
      <p:graphicFrame>
        <p:nvGraphicFramePr>
          <p:cNvPr id="8" name="表格 7" title=""/>
          <p:cNvGraphicFramePr>
            <a:graphicFrameLocks noGrp="1"/>
          </p:cNvGraphicFramePr>
          <p:nvPr/>
        </p:nvGraphicFramePr>
        <p:xfrm>
          <a:off x="1485900" y="694793"/>
          <a:ext cx="9077327" cy="4953531"/>
        </p:xfrm>
        <a:graphic>
          <a:graphicData uri="http://schemas.openxmlformats.org/drawingml/2006/table">
            <a:tbl>
              <a:tblPr/>
              <a:tblGrid>
                <a:gridCol w="1123950"/>
                <a:gridCol w="3799345"/>
                <a:gridCol w="1038508"/>
                <a:gridCol w="1038508"/>
                <a:gridCol w="1038508"/>
                <a:gridCol w="1038508"/>
              </a:tblGrid>
              <a:tr h="450321">
                <a:tc>
                  <a:txBody>
                    <a:bodyPr vert="horz" wrap="square"/>
                    <a:lstStyle/>
                    <a:p>
                      <a:pPr algn="ctr" fontAlgn="ctr"/>
                      <a:r>
                        <a:rPr lang="zh-CN" altLang="en-US" sz="2800" b="1" i="0" u="none" strike="noStrike">
                          <a:solidFill>
                            <a:srgbClr val="000000"/>
                          </a:solidFill>
                          <a:latin typeface="Times New Roman" pitchFamily="18" charset="0"/>
                          <a:ea typeface="微软雅黑" pitchFamily="34" charset="-122"/>
                          <a:cs typeface="Times New Roman" pitchFamily="18" charset="0"/>
                        </a:rPr>
                        <a:t>段落</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c>
                  <a:txBody>
                    <a:bodyPr vert="horz" wrap="square"/>
                    <a:lstStyle/>
                    <a:p>
                      <a:pPr algn="ctr" fontAlgn="ctr"/>
                      <a:r>
                        <a:rPr lang="zh-CN" altLang="en-US" sz="2800" b="1" i="0" u="none" strike="noStrike">
                          <a:solidFill>
                            <a:srgbClr val="000000"/>
                          </a:solidFill>
                          <a:latin typeface="Times New Roman" pitchFamily="18" charset="0"/>
                          <a:ea typeface="微软雅黑" pitchFamily="34" charset="-122"/>
                          <a:cs typeface="Times New Roman" pitchFamily="18" charset="0"/>
                        </a:rPr>
                        <a:t>话题</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c>
                  <a:txBody>
                    <a:bodyPr vert="horz" wrap="square"/>
                    <a:lstStyle/>
                    <a:p>
                      <a:pPr algn="ctr" fontAlgn="ctr"/>
                      <a:r>
                        <a:rPr lang="zh-CN" altLang="en-US" sz="2800" b="1" i="0" u="none" strike="noStrike">
                          <a:solidFill>
                            <a:srgbClr val="000000"/>
                          </a:solidFill>
                          <a:latin typeface="Times New Roman" pitchFamily="18" charset="0"/>
                          <a:ea typeface="微软雅黑" pitchFamily="34" charset="-122"/>
                          <a:cs typeface="Times New Roman" pitchFamily="18" charset="0"/>
                        </a:rPr>
                        <a:t>轮数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c>
                  <a:txBody>
                    <a:bodyPr vert="horz" wrap="square"/>
                    <a:lstStyle/>
                    <a:p>
                      <a:pPr algn="ctr" fontAlgn="ctr"/>
                      <a:r>
                        <a:rPr lang="zh-CN" altLang="en-US" sz="2800" b="1" i="0" u="none" strike="noStrike">
                          <a:solidFill>
                            <a:srgbClr val="000000"/>
                          </a:solidFill>
                          <a:latin typeface="Times New Roman" pitchFamily="18" charset="0"/>
                          <a:ea typeface="微软雅黑" pitchFamily="34" charset="-122"/>
                          <a:cs typeface="Times New Roman" pitchFamily="18" charset="0"/>
                        </a:rPr>
                        <a:t>词数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c>
                  <a:txBody>
                    <a:bodyPr vert="horz" wrap="square"/>
                    <a:lstStyle/>
                    <a:p>
                      <a:pPr algn="ctr" fontAlgn="ctr"/>
                      <a:r>
                        <a:rPr lang="zh-CN" altLang="en-US" sz="2800" b="1" i="0" u="none" strike="noStrike">
                          <a:solidFill>
                            <a:srgbClr val="000000"/>
                          </a:solidFill>
                          <a:latin typeface="Times New Roman" pitchFamily="18" charset="0"/>
                          <a:ea typeface="微软雅黑" pitchFamily="34" charset="-122"/>
                          <a:cs typeface="Times New Roman" pitchFamily="18" charset="0"/>
                        </a:rPr>
                        <a:t>用时</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c>
                  <a:txBody>
                    <a:bodyPr vert="horz" wrap="square"/>
                    <a:lstStyle/>
                    <a:p>
                      <a:pPr algn="ctr" fontAlgn="ctr"/>
                      <a:r>
                        <a:rPr lang="zh-CN" altLang="en-US" sz="2800" b="1" i="0" u="none" strike="noStrike">
                          <a:solidFill>
                            <a:srgbClr val="000000"/>
                          </a:solidFill>
                          <a:latin typeface="Times New Roman" pitchFamily="18" charset="0"/>
                          <a:ea typeface="微软雅黑" pitchFamily="34" charset="-122"/>
                          <a:cs typeface="Times New Roman" pitchFamily="18" charset="0"/>
                        </a:rPr>
                        <a:t>语速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CDDD"/>
                    </a:solidFill>
                  </a:tcPr>
                </a:tc>
              </a:tr>
              <a:tr h="450321">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Text 1</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just" fontAlgn="ctr">
                        <a:spcAft>
                          <a:spcPct val="0"/>
                        </a:spcAft>
                      </a:pPr>
                      <a:r>
                        <a:rPr lang="zh-CN" sz="2000" b="1" kern="0">
                          <a:latin typeface="Times New Roman" pitchFamily="18" charset="0"/>
                          <a:ea typeface="宋体"/>
                          <a:cs typeface="Times New Roman" pitchFamily="18" charset="0"/>
                        </a:rPr>
                        <a:t>旅客申报行李丢失</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38</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1.5</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15</a:t>
                      </a:r>
                      <a:r>
                        <a:rPr lang="zh-CN"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smtClean="0">
                          <a:solidFill>
                            <a:srgbClr val="000000"/>
                          </a:solidFill>
                          <a:latin typeface="Times New Roman" pitchFamily="18" charset="0"/>
                          <a:ea typeface="宋体"/>
                          <a:cs typeface="Times New Roman" pitchFamily="18" charset="0"/>
                        </a:rPr>
                        <a:t>152</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0321">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Text 2</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just" fontAlgn="ctr">
                        <a:spcAft>
                          <a:spcPct val="0"/>
                        </a:spcAft>
                      </a:pPr>
                      <a:r>
                        <a:rPr lang="zh-CN" sz="2000" b="1" kern="0">
                          <a:latin typeface="Times New Roman" pitchFamily="18" charset="0"/>
                          <a:ea typeface="宋体"/>
                          <a:cs typeface="Times New Roman" pitchFamily="18" charset="0"/>
                        </a:rPr>
                        <a:t>讨论毕业后计划</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38</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1.5</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15</a:t>
                      </a:r>
                      <a:r>
                        <a:rPr lang="zh-CN"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smtClean="0">
                          <a:solidFill>
                            <a:srgbClr val="000000"/>
                          </a:solidFill>
                          <a:latin typeface="Times New Roman" pitchFamily="18" charset="0"/>
                          <a:ea typeface="宋体"/>
                          <a:cs typeface="Times New Roman" pitchFamily="18" charset="0"/>
                        </a:rPr>
                        <a:t>152</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0321">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Text 3</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just" fontAlgn="ctr">
                        <a:spcAft>
                          <a:spcPct val="0"/>
                        </a:spcAft>
                      </a:pPr>
                      <a:r>
                        <a:rPr lang="zh-CN" sz="2000" b="1" kern="0">
                          <a:latin typeface="Times New Roman" pitchFamily="18" charset="0"/>
                          <a:ea typeface="宋体"/>
                          <a:cs typeface="Times New Roman" pitchFamily="18" charset="0"/>
                        </a:rPr>
                        <a:t>搬家</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42</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1.5</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16</a:t>
                      </a:r>
                      <a:r>
                        <a:rPr lang="zh-CN"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smtClean="0">
                          <a:solidFill>
                            <a:srgbClr val="000000"/>
                          </a:solidFill>
                          <a:latin typeface="Times New Roman" pitchFamily="18" charset="0"/>
                          <a:ea typeface="宋体"/>
                          <a:cs typeface="Times New Roman" pitchFamily="18" charset="0"/>
                        </a:rPr>
                        <a:t>157</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0321">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Text 4</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just" fontAlgn="ctr">
                        <a:spcAft>
                          <a:spcPct val="0"/>
                        </a:spcAft>
                      </a:pPr>
                      <a:r>
                        <a:rPr lang="zh-CN" sz="2000" b="1" kern="0">
                          <a:latin typeface="Times New Roman" pitchFamily="18" charset="0"/>
                          <a:ea typeface="宋体"/>
                          <a:cs typeface="Times New Roman" pitchFamily="18" charset="0"/>
                        </a:rPr>
                        <a:t>初次滑雪体验</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32</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2</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14</a:t>
                      </a:r>
                      <a:r>
                        <a:rPr lang="zh-CN"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smtClean="0">
                          <a:solidFill>
                            <a:srgbClr val="000000"/>
                          </a:solidFill>
                          <a:latin typeface="Times New Roman" pitchFamily="18" charset="0"/>
                          <a:ea typeface="宋体"/>
                          <a:cs typeface="Times New Roman" pitchFamily="18" charset="0"/>
                        </a:rPr>
                        <a:t>137</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0321">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Text 5</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just" fontAlgn="ctr">
                        <a:spcAft>
                          <a:spcPct val="0"/>
                        </a:spcAft>
                      </a:pPr>
                      <a:r>
                        <a:rPr lang="zh-CN" sz="2000" b="1" kern="0">
                          <a:latin typeface="Times New Roman" pitchFamily="18" charset="0"/>
                          <a:ea typeface="宋体"/>
                          <a:cs typeface="Times New Roman" pitchFamily="18" charset="0"/>
                        </a:rPr>
                        <a:t>去剧院的路上</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28</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1</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15</a:t>
                      </a:r>
                      <a:r>
                        <a:rPr lang="zh-CN"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smtClean="0">
                          <a:solidFill>
                            <a:srgbClr val="000000"/>
                          </a:solidFill>
                          <a:latin typeface="Times New Roman" pitchFamily="18" charset="0"/>
                          <a:ea typeface="宋体"/>
                          <a:cs typeface="Times New Roman" pitchFamily="18" charset="0"/>
                        </a:rPr>
                        <a:t>112</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0321">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Text 6</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just" fontAlgn="ctr">
                        <a:spcAft>
                          <a:spcPct val="0"/>
                        </a:spcAft>
                      </a:pPr>
                      <a:r>
                        <a:rPr lang="zh-CN" sz="2000" b="1" kern="0">
                          <a:latin typeface="Times New Roman" pitchFamily="18" charset="0"/>
                          <a:ea typeface="宋体"/>
                          <a:cs typeface="Times New Roman" pitchFamily="18" charset="0"/>
                        </a:rPr>
                        <a:t>学校区域超速</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71</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3</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31</a:t>
                      </a:r>
                      <a:r>
                        <a:rPr lang="zh-CN"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smtClean="0">
                          <a:solidFill>
                            <a:srgbClr val="000000"/>
                          </a:solidFill>
                          <a:latin typeface="Times New Roman" pitchFamily="18" charset="0"/>
                          <a:ea typeface="宋体"/>
                          <a:cs typeface="Times New Roman" pitchFamily="18" charset="0"/>
                        </a:rPr>
                        <a:t>137</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0321">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Text 7</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just" fontAlgn="b">
                        <a:spcAft>
                          <a:spcPct val="0"/>
                        </a:spcAft>
                      </a:pPr>
                      <a:r>
                        <a:rPr lang="zh-CN" sz="2000" b="1" kern="0">
                          <a:latin typeface="Times New Roman" pitchFamily="18" charset="0"/>
                          <a:ea typeface="宋体"/>
                          <a:cs typeface="Times New Roman" pitchFamily="18" charset="0"/>
                        </a:rPr>
                        <a:t>偶遇熟人并邀请聚餐</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122</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4.5</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a:solidFill>
                            <a:srgbClr val="000000"/>
                          </a:solidFill>
                          <a:latin typeface="Times New Roman" pitchFamily="18" charset="0"/>
                          <a:ea typeface="宋体"/>
                          <a:cs typeface="Times New Roman" pitchFamily="18" charset="0"/>
                        </a:rPr>
                        <a:t>54</a:t>
                      </a:r>
                      <a:r>
                        <a:rPr lang="zh-CN"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b">
                        <a:spcAft>
                          <a:spcPct val="0"/>
                        </a:spcAft>
                      </a:pPr>
                      <a:r>
                        <a:rPr lang="en-US" sz="2000" b="1" kern="0" smtClean="0">
                          <a:solidFill>
                            <a:srgbClr val="000000"/>
                          </a:solidFill>
                          <a:latin typeface="Times New Roman" pitchFamily="18" charset="0"/>
                          <a:ea typeface="宋体"/>
                          <a:cs typeface="Times New Roman" pitchFamily="18" charset="0"/>
                        </a:rPr>
                        <a:t>136</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0321">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Text 8</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just" fontAlgn="ctr">
                        <a:spcAft>
                          <a:spcPct val="0"/>
                        </a:spcAft>
                      </a:pPr>
                      <a:r>
                        <a:rPr lang="zh-CN" sz="2000" b="1" kern="0">
                          <a:latin typeface="Times New Roman" pitchFamily="18" charset="0"/>
                          <a:ea typeface="宋体"/>
                          <a:cs typeface="Times New Roman" pitchFamily="18" charset="0"/>
                        </a:rPr>
                        <a:t>探讨电视节目的娱乐性和教育性</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123</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3.5</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55</a:t>
                      </a:r>
                      <a:r>
                        <a:rPr lang="zh-CN"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smtClean="0">
                          <a:solidFill>
                            <a:srgbClr val="000000"/>
                          </a:solidFill>
                          <a:latin typeface="Times New Roman" pitchFamily="18" charset="0"/>
                          <a:ea typeface="宋体"/>
                          <a:cs typeface="Times New Roman" pitchFamily="18" charset="0"/>
                        </a:rPr>
                        <a:t>134</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0321">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Text 9</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just" fontAlgn="ctr">
                        <a:spcAft>
                          <a:spcPct val="0"/>
                        </a:spcAft>
                      </a:pPr>
                      <a:r>
                        <a:rPr lang="zh-CN" sz="2000" b="1" kern="0">
                          <a:latin typeface="Times New Roman" pitchFamily="18" charset="0"/>
                          <a:ea typeface="宋体"/>
                          <a:cs typeface="Times New Roman" pitchFamily="18" charset="0"/>
                        </a:rPr>
                        <a:t>学校服务项目介绍</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180</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5.5</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1</a:t>
                      </a:r>
                      <a:r>
                        <a:rPr lang="zh-CN" sz="2000" b="1" kern="0">
                          <a:solidFill>
                            <a:srgbClr val="000000"/>
                          </a:solidFill>
                          <a:latin typeface="Times New Roman" pitchFamily="18" charset="0"/>
                          <a:ea typeface="宋体"/>
                          <a:cs typeface="Times New Roman" pitchFamily="18" charset="0"/>
                        </a:rPr>
                        <a:t>′</a:t>
                      </a:r>
                      <a:r>
                        <a:rPr lang="en-US" sz="2000" b="1" kern="0">
                          <a:solidFill>
                            <a:srgbClr val="000000"/>
                          </a:solidFill>
                          <a:latin typeface="Times New Roman" pitchFamily="18" charset="0"/>
                          <a:ea typeface="宋体"/>
                          <a:cs typeface="Times New Roman" pitchFamily="18" charset="0"/>
                        </a:rPr>
                        <a:t>21</a:t>
                      </a:r>
                      <a:r>
                        <a:rPr lang="zh-CN"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smtClean="0">
                          <a:solidFill>
                            <a:srgbClr val="000000"/>
                          </a:solidFill>
                          <a:latin typeface="Times New Roman" pitchFamily="18" charset="0"/>
                          <a:ea typeface="宋体"/>
                          <a:cs typeface="Times New Roman" pitchFamily="18" charset="0"/>
                        </a:rPr>
                        <a:t>133</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0321">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Text 10</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C090"/>
                    </a:solidFill>
                  </a:tcPr>
                </a:tc>
                <a:tc>
                  <a:txBody>
                    <a:bodyPr vert="horz" wrap="square"/>
                    <a:lstStyle/>
                    <a:p>
                      <a:pPr algn="just" fontAlgn="ctr">
                        <a:spcAft>
                          <a:spcPct val="0"/>
                        </a:spcAft>
                      </a:pPr>
                      <a:r>
                        <a:rPr lang="zh-CN" sz="2000" b="1" kern="0">
                          <a:latin typeface="Times New Roman" pitchFamily="18" charset="0"/>
                          <a:ea typeface="宋体"/>
                          <a:cs typeface="Times New Roman" pitchFamily="18" charset="0"/>
                        </a:rPr>
                        <a:t>通过艺术项目传播气候变化信息</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a:solidFill>
                            <a:srgbClr val="000000"/>
                          </a:solidFill>
                          <a:latin typeface="Times New Roman" pitchFamily="18" charset="0"/>
                          <a:ea typeface="宋体"/>
                          <a:cs typeface="Times New Roman" pitchFamily="18" charset="0"/>
                        </a:rPr>
                        <a:t>173</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a:spcAft>
                          <a:spcPct val="0"/>
                        </a:spcAft>
                      </a:pPr>
                      <a:r>
                        <a:rPr lang="en-US"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just" fontAlgn="ctr">
                        <a:spcAft>
                          <a:spcPct val="0"/>
                        </a:spcAft>
                      </a:pPr>
                      <a:r>
                        <a:rPr lang="en-US" sz="2000" b="1" kern="0">
                          <a:solidFill>
                            <a:srgbClr val="000000"/>
                          </a:solidFill>
                          <a:latin typeface="Times New Roman" pitchFamily="18" charset="0"/>
                          <a:ea typeface="宋体"/>
                          <a:cs typeface="Times New Roman" pitchFamily="18" charset="0"/>
                        </a:rPr>
                        <a:t>1</a:t>
                      </a:r>
                      <a:r>
                        <a:rPr lang="zh-CN" sz="2000" b="1" kern="0">
                          <a:solidFill>
                            <a:srgbClr val="000000"/>
                          </a:solidFill>
                          <a:latin typeface="Times New Roman" pitchFamily="18" charset="0"/>
                          <a:ea typeface="宋体"/>
                          <a:cs typeface="Times New Roman" pitchFamily="18" charset="0"/>
                        </a:rPr>
                        <a:t>′</a:t>
                      </a:r>
                      <a:r>
                        <a:rPr lang="en-US" sz="2000" b="1" kern="0">
                          <a:solidFill>
                            <a:srgbClr val="000000"/>
                          </a:solidFill>
                          <a:latin typeface="Times New Roman" pitchFamily="18" charset="0"/>
                          <a:ea typeface="宋体"/>
                          <a:cs typeface="Times New Roman" pitchFamily="18" charset="0"/>
                        </a:rPr>
                        <a:t>17</a:t>
                      </a:r>
                      <a:r>
                        <a:rPr lang="zh-CN" sz="2000" b="1" kern="0">
                          <a:solidFill>
                            <a:srgbClr val="000000"/>
                          </a:solidFill>
                          <a:latin typeface="Times New Roman" pitchFamily="18" charset="0"/>
                          <a:ea typeface="宋体"/>
                          <a:cs typeface="Times New Roman" pitchFamily="18" charset="0"/>
                        </a:rPr>
                        <a:t>″</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vert="horz" wrap="square"/>
                    <a:lstStyle/>
                    <a:p>
                      <a:pPr algn="ctr" fontAlgn="ctr">
                        <a:spcAft>
                          <a:spcPct val="0"/>
                        </a:spcAft>
                      </a:pPr>
                      <a:r>
                        <a:rPr lang="en-US" sz="2000" b="1" kern="0" smtClean="0">
                          <a:solidFill>
                            <a:srgbClr val="000000"/>
                          </a:solidFill>
                          <a:latin typeface="Times New Roman" pitchFamily="18" charset="0"/>
                          <a:ea typeface="宋体"/>
                          <a:cs typeface="Times New Roman" pitchFamily="18" charset="0"/>
                        </a:rPr>
                        <a:t>135</a:t>
                      </a:r>
                      <a:endParaRPr lang="zh-CN" sz="2800" b="1" kern="100">
                        <a:latin typeface="Times New Roman" pitchFamily="18" charset="0"/>
                        <a:ea typeface="宋体"/>
                        <a:cs typeface="Times New Roman" pitchFamily="18" charset="0"/>
                      </a:endParaRPr>
                    </a:p>
                  </a:txBody>
                  <a:tcPr marL="73025" marR="73025" marT="36830" marB="368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01173" y="1146134"/>
            <a:ext cx="11538401" cy="188281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400"/>
              </a:lnSpc>
            </a:pPr>
            <a:r>
              <a:rPr lang="en-US" altLang="en-US" sz="2400" b="1" smtClean="0">
                <a:solidFill>
                  <a:srgbClr val="0000FF"/>
                </a:solidFill>
                <a:latin typeface="Times New Roman" pitchFamily="18" charset="0"/>
                <a:ea typeface="微软雅黑" pitchFamily="34" charset="-122"/>
                <a:cs typeface="Times New Roman" pitchFamily="18" charset="0"/>
              </a:rPr>
              <a:t>(Text 1) </a:t>
            </a:r>
            <a:r>
              <a:rPr lang="zh-CN" altLang="en-US" sz="2400" b="1" smtClean="0">
                <a:solidFill>
                  <a:srgbClr val="0000FF"/>
                </a:solidFill>
                <a:latin typeface="微软雅黑" pitchFamily="34" charset="-122"/>
                <a:ea typeface="微软雅黑" pitchFamily="34" charset="-122"/>
              </a:rPr>
              <a:t>话题：旅客申报行李丢失及处理 词数：</a:t>
            </a:r>
            <a:r>
              <a:rPr lang="en-US" sz="2400" b="1" smtClean="0">
                <a:solidFill>
                  <a:srgbClr val="0000FF"/>
                </a:solidFill>
                <a:latin typeface="微软雅黑" pitchFamily="34" charset="-122"/>
                <a:ea typeface="微软雅黑" pitchFamily="34" charset="-122"/>
              </a:rPr>
              <a:t>38</a:t>
            </a:r>
            <a:r>
              <a:rPr lang="zh-CN" altLang="en-US" sz="2400" b="1" smtClean="0">
                <a:solidFill>
                  <a:srgbClr val="0000FF"/>
                </a:solidFill>
                <a:latin typeface="微软雅黑" pitchFamily="34" charset="-122"/>
                <a:ea typeface="微软雅黑" pitchFamily="34" charset="-122"/>
              </a:rPr>
              <a:t>；时间：</a:t>
            </a:r>
            <a:r>
              <a:rPr lang="en-US" sz="2400" b="1" smtClean="0">
                <a:solidFill>
                  <a:srgbClr val="0000FF"/>
                </a:solidFill>
                <a:latin typeface="微软雅黑" pitchFamily="34" charset="-122"/>
                <a:ea typeface="微软雅黑" pitchFamily="34" charset="-122"/>
              </a:rPr>
              <a:t>15″</a:t>
            </a:r>
            <a:r>
              <a:rPr lang="zh-CN" altLang="en-US" sz="2400" b="1" smtClean="0">
                <a:solidFill>
                  <a:srgbClr val="0000FF"/>
                </a:solidFill>
                <a:latin typeface="微软雅黑" pitchFamily="34" charset="-122"/>
                <a:ea typeface="微软雅黑" pitchFamily="34" charset="-122"/>
              </a:rPr>
              <a:t>；语速：</a:t>
            </a:r>
            <a:r>
              <a:rPr lang="en-US" sz="2400" b="1" smtClean="0">
                <a:solidFill>
                  <a:srgbClr val="0000FF"/>
                </a:solidFill>
                <a:latin typeface="微软雅黑" pitchFamily="34" charset="-122"/>
                <a:ea typeface="微软雅黑" pitchFamily="34" charset="-122"/>
              </a:rPr>
              <a:t>152</a:t>
            </a:r>
            <a:endParaRPr lang="en-US" altLang="zh-CN" sz="2400" b="1" smtClean="0">
              <a:solidFill>
                <a:srgbClr val="0000FF"/>
              </a:solidFill>
              <a:latin typeface="微软雅黑" pitchFamily="34" charset="-122"/>
              <a:ea typeface="微软雅黑" pitchFamily="34" charset="-122"/>
            </a:endParaRPr>
          </a:p>
          <a:p>
            <a:r>
              <a:rPr lang="en-US" altLang="zh-CN" sz="2400" b="1" smtClean="0">
                <a:solidFill>
                  <a:schemeClr val="tx1"/>
                </a:solidFill>
                <a:latin typeface="Times New Roman" pitchFamily="18" charset="0"/>
                <a:ea typeface="+mj-ea"/>
                <a:cs typeface="Times New Roman" pitchFamily="18" charset="0"/>
              </a:rPr>
              <a:t>M: Excuse me, I just arrived on the flight from </a:t>
            </a:r>
            <a:r>
              <a:rPr lang="en-US" altLang="zh-CN" sz="2400" b="1" u="sng" smtClean="0">
                <a:solidFill>
                  <a:srgbClr val="FF0000"/>
                </a:solidFill>
                <a:latin typeface="Times New Roman" pitchFamily="18" charset="0"/>
                <a:ea typeface="+mj-ea"/>
                <a:cs typeface="Times New Roman" pitchFamily="18" charset="0"/>
              </a:rPr>
              <a:t>Melbourne</a:t>
            </a:r>
            <a:r>
              <a:rPr lang="en-US" altLang="zh-CN" sz="2400" b="1" smtClean="0">
                <a:solidFill>
                  <a:schemeClr val="tx1"/>
                </a:solidFill>
                <a:latin typeface="Times New Roman" pitchFamily="18" charset="0"/>
                <a:ea typeface="+mj-ea"/>
                <a:cs typeface="Times New Roman" pitchFamily="18" charset="0"/>
              </a:rPr>
              <a:t>, and my </a:t>
            </a:r>
            <a:r>
              <a:rPr lang="en-US" altLang="zh-CN" sz="2400" b="1" u="sng" smtClean="0">
                <a:solidFill>
                  <a:srgbClr val="FF0000"/>
                </a:solidFill>
                <a:latin typeface="Times New Roman" pitchFamily="18" charset="0"/>
                <a:ea typeface="+mj-ea"/>
                <a:cs typeface="Times New Roman" pitchFamily="18" charset="0"/>
              </a:rPr>
              <a:t>suitcase</a:t>
            </a:r>
            <a:r>
              <a:rPr lang="en-US" altLang="zh-CN" sz="2400" b="1" smtClean="0">
                <a:solidFill>
                  <a:schemeClr val="tx1"/>
                </a:solidFill>
                <a:latin typeface="Times New Roman" pitchFamily="18" charset="0"/>
                <a:ea typeface="+mj-ea"/>
                <a:cs typeface="Times New Roman" pitchFamily="18" charset="0"/>
              </a:rPr>
              <a:t> is missing.</a:t>
            </a:r>
            <a:endParaRPr lang="zh-CN" altLang="en-US" sz="2400" b="1" smtClean="0">
              <a:solidFill>
                <a:schemeClr val="tx1"/>
              </a:solidFill>
              <a:latin typeface="Times New Roman" pitchFamily="18" charset="0"/>
              <a:ea typeface="+mj-ea"/>
              <a:cs typeface="Times New Roman" pitchFamily="18" charset="0"/>
            </a:endParaRPr>
          </a:p>
          <a:p>
            <a:r>
              <a:rPr lang="en-US" altLang="zh-CN" sz="2400" b="1" smtClean="0">
                <a:solidFill>
                  <a:schemeClr val="tx1"/>
                </a:solidFill>
                <a:latin typeface="Times New Roman" pitchFamily="18" charset="0"/>
                <a:ea typeface="+mj-ea"/>
                <a:cs typeface="Times New Roman" pitchFamily="18" charset="0"/>
              </a:rPr>
              <a:t>W: We're very sorry, sir, could you </a:t>
            </a:r>
            <a:r>
              <a:rPr lang="en-US" altLang="zh-CN" sz="2400" b="1" u="sng" smtClean="0">
                <a:solidFill>
                  <a:srgbClr val="FF0000"/>
                </a:solidFill>
                <a:latin typeface="Times New Roman" pitchFamily="18" charset="0"/>
                <a:ea typeface="+mj-ea"/>
                <a:cs typeface="Times New Roman" pitchFamily="18" charset="0"/>
              </a:rPr>
              <a:t>put down </a:t>
            </a:r>
            <a:r>
              <a:rPr lang="en-US" altLang="zh-CN" sz="2400" b="1" smtClean="0">
                <a:solidFill>
                  <a:schemeClr val="tx1"/>
                </a:solidFill>
                <a:latin typeface="Times New Roman" pitchFamily="18" charset="0"/>
                <a:ea typeface="+mj-ea"/>
                <a:cs typeface="Times New Roman" pitchFamily="18" charset="0"/>
              </a:rPr>
              <a:t>your information in this form? We'll do everything we can to find your suitcase.</a:t>
            </a:r>
            <a:endParaRPr lang="zh-CN" altLang="en-US" sz="2400" b="1" smtClean="0">
              <a:solidFill>
                <a:schemeClr val="tx1"/>
              </a:solidFill>
              <a:latin typeface="Times New Roman" pitchFamily="18" charset="0"/>
              <a:ea typeface="+mj-ea"/>
              <a:cs typeface="Times New Roman" pitchFamily="18" charset="0"/>
            </a:endParaRPr>
          </a:p>
          <a:p>
            <a:r>
              <a:rPr lang="en-US" altLang="zh-CN" sz="2400" b="1" smtClean="0">
                <a:solidFill>
                  <a:schemeClr val="tx1"/>
                </a:solidFill>
                <a:latin typeface="Times New Roman" pitchFamily="18" charset="0"/>
                <a:ea typeface="+mj-ea"/>
                <a:cs typeface="Times New Roman" pitchFamily="18" charset="0"/>
              </a:rPr>
              <a:t>M: Okay.</a:t>
            </a:r>
            <a:endParaRPr lang="zh-CN" altLang="en-US" sz="2400" b="1">
              <a:solidFill>
                <a:schemeClr val="tx1"/>
              </a:solidFill>
              <a:latin typeface="Times New Roman" pitchFamily="18" charset="0"/>
              <a:ea typeface="+mj-ea"/>
              <a:cs typeface="Times New Roman" pitchFamily="18" charset="0"/>
            </a:endParaRPr>
          </a:p>
        </p:txBody>
      </p:sp>
      <p:sp>
        <p:nvSpPr>
          <p:cNvPr id="7" name="文本框 10" title=""/>
          <p:cNvSpPr txBox="1"/>
          <p:nvPr>
            <p:custDataLst>
              <p:tags r:id="rId2"/>
            </p:custDataLst>
          </p:nvPr>
        </p:nvSpPr>
        <p:spPr>
          <a:xfrm>
            <a:off x="275596" y="192878"/>
            <a:ext cx="11583029" cy="830997"/>
          </a:xfrm>
          <a:prstGeom prst="rect">
            <a:avLst/>
          </a:prstGeom>
          <a:solidFill>
            <a:srgbClr val="FFFFCC"/>
          </a:solidFill>
          <a:ln w="28575">
            <a:solidFill>
              <a:schemeClr val="tx1"/>
            </a:solidFill>
          </a:ln>
        </p:spPr>
        <p:txBody>
          <a:bodyPr wrap="square" anchor="t" anchorCtr="0">
            <a:spAutoFit/>
          </a:bodyPr>
          <a:lstStyle/>
          <a:p>
            <a:r>
              <a:rPr lang="en-US" altLang="zh-CN" sz="2400" b="1" smtClean="0">
                <a:latin typeface="Times New Roman" pitchFamily="18" charset="0"/>
                <a:ea typeface="+mj-ea"/>
                <a:cs typeface="Times New Roman" pitchFamily="18" charset="0"/>
              </a:rPr>
              <a:t>1. What will the man do next?</a:t>
            </a:r>
            <a:endParaRPr lang="zh-CN" altLang="en-US" sz="2400" b="1" smtClean="0">
              <a:latin typeface="Times New Roman" pitchFamily="18" charset="0"/>
              <a:ea typeface="+mj-ea"/>
              <a:cs typeface="Times New Roman" pitchFamily="18" charset="0"/>
            </a:endParaRPr>
          </a:p>
          <a:p>
            <a:r>
              <a:rPr lang="en-US" altLang="zh-CN" sz="2400" b="1" smtClean="0">
                <a:latin typeface="Times New Roman" pitchFamily="18" charset="0"/>
                <a:ea typeface="+mj-ea"/>
                <a:cs typeface="Times New Roman" pitchFamily="18" charset="0"/>
              </a:rPr>
              <a:t>     A. Unpack his suitcase.	B. Board a flight.	C. Fill out a form.</a:t>
            </a:r>
            <a:endParaRPr lang="zh-CN" altLang="en-US" sz="2400" b="1" smtClean="0">
              <a:latin typeface="Times New Roman" pitchFamily="18" charset="0"/>
              <a:ea typeface="+mj-ea"/>
              <a:cs typeface="Times New Roman" pitchFamily="18" charset="0"/>
            </a:endParaRPr>
          </a:p>
        </p:txBody>
      </p:sp>
      <p:sp>
        <p:nvSpPr>
          <p:cNvPr id="8" name="文本框 3" title=""/>
          <p:cNvSpPr txBox="1"/>
          <p:nvPr>
            <p:custDataLst>
              <p:tags r:id="rId3"/>
            </p:custDataLst>
          </p:nvPr>
        </p:nvSpPr>
        <p:spPr>
          <a:xfrm>
            <a:off x="282795" y="3306545"/>
            <a:ext cx="11518680" cy="1131079"/>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】1. </a:t>
            </a:r>
            <a:r>
              <a:rPr lang="en-US" sz="2000" b="1" smtClean="0">
                <a:solidFill>
                  <a:srgbClr val="FF00FF"/>
                </a:solidFill>
                <a:latin typeface="Times New Roman" pitchFamily="18" charset="0"/>
                <a:ea typeface="微软雅黑" pitchFamily="34" charset="-122"/>
                <a:cs typeface="Times New Roman" pitchFamily="18" charset="0"/>
              </a:rPr>
              <a:t>C。</a:t>
            </a:r>
            <a:r>
              <a:rPr lang="zh-CN" altLang="en-US" sz="2000" b="1" smtClean="0">
                <a:solidFill>
                  <a:srgbClr val="FF00FF"/>
                </a:solidFill>
                <a:latin typeface="Times New Roman" pitchFamily="18" charset="0"/>
                <a:ea typeface="微软雅黑" pitchFamily="34" charset="-122"/>
                <a:cs typeface="Times New Roman" pitchFamily="18" charset="0"/>
              </a:rPr>
              <a:t>事实细节题。对话一开始，男士表示他的行李箱丢失。根据女士的话“</a:t>
            </a:r>
            <a:r>
              <a:rPr lang="en-US" sz="2000" b="1" smtClean="0">
                <a:solidFill>
                  <a:srgbClr val="FF00FF"/>
                </a:solidFill>
                <a:latin typeface="Times New Roman" pitchFamily="18" charset="0"/>
                <a:ea typeface="微软雅黑" pitchFamily="34" charset="-122"/>
                <a:cs typeface="Times New Roman" pitchFamily="18" charset="0"/>
              </a:rPr>
              <a:t>Could you put down your information in this form?”</a:t>
            </a:r>
            <a:r>
              <a:rPr lang="zh-CN" altLang="en-US" sz="2000" b="1" smtClean="0">
                <a:solidFill>
                  <a:srgbClr val="FF00FF"/>
                </a:solidFill>
                <a:latin typeface="Times New Roman" pitchFamily="18" charset="0"/>
                <a:ea typeface="微软雅黑" pitchFamily="34" charset="-122"/>
                <a:cs typeface="Times New Roman" pitchFamily="18" charset="0"/>
              </a:rPr>
              <a:t>及男士的回复“</a:t>
            </a:r>
            <a:r>
              <a:rPr lang="en-US" sz="2000" b="1" smtClean="0">
                <a:solidFill>
                  <a:srgbClr val="FF00FF"/>
                </a:solidFill>
                <a:latin typeface="Times New Roman" pitchFamily="18" charset="0"/>
                <a:ea typeface="微软雅黑" pitchFamily="34" charset="-122"/>
                <a:cs typeface="Times New Roman" pitchFamily="18" charset="0"/>
              </a:rPr>
              <a:t>Okay.”</a:t>
            </a:r>
            <a:r>
              <a:rPr lang="zh-CN" altLang="en-US" sz="2000" b="1" smtClean="0">
                <a:solidFill>
                  <a:srgbClr val="FF00FF"/>
                </a:solidFill>
                <a:latin typeface="Times New Roman" pitchFamily="18" charset="0"/>
                <a:ea typeface="微软雅黑" pitchFamily="34" charset="-122"/>
                <a:cs typeface="Times New Roman" pitchFamily="18" charset="0"/>
              </a:rPr>
              <a:t>可知，男士接下来需要填写一份表格。正确选项是对原文的意思进行了同义转换。</a:t>
            </a:r>
          </a:p>
        </p:txBody>
      </p:sp>
      <p:sp>
        <p:nvSpPr>
          <p:cNvPr id="9" name="文本框 3" title=""/>
          <p:cNvSpPr txBox="1"/>
          <p:nvPr>
            <p:custDataLst>
              <p:tags r:id="rId4"/>
            </p:custDataLst>
          </p:nvPr>
        </p:nvSpPr>
        <p:spPr>
          <a:xfrm>
            <a:off x="309947" y="4882719"/>
            <a:ext cx="11558203" cy="1138773"/>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000" b="1" smtClean="0">
                <a:solidFill>
                  <a:srgbClr val="00B0F0"/>
                </a:solidFill>
                <a:latin typeface="微软雅黑" pitchFamily="34" charset="-122"/>
                <a:ea typeface="微软雅黑" pitchFamily="34" charset="-122"/>
              </a:rPr>
              <a:t>【</a:t>
            </a:r>
            <a:r>
              <a:rPr lang="zh-CN" altLang="en-US" sz="2000" b="1" smtClean="0">
                <a:solidFill>
                  <a:srgbClr val="00B0F0"/>
                </a:solidFill>
                <a:latin typeface="微软雅黑" pitchFamily="34" charset="-122"/>
                <a:ea typeface="微软雅黑" pitchFamily="34" charset="-122"/>
              </a:rPr>
              <a:t>语言知识</a:t>
            </a:r>
            <a:r>
              <a:rPr lang="en-US" altLang="zh-CN" sz="2000" b="1" smtClean="0">
                <a:solidFill>
                  <a:srgbClr val="00B0F0"/>
                </a:solidFill>
                <a:latin typeface="微软雅黑" pitchFamily="34" charset="-122"/>
                <a:ea typeface="微软雅黑" pitchFamily="34" charset="-122"/>
              </a:rPr>
              <a:t>】 </a:t>
            </a:r>
          </a:p>
          <a:p>
            <a:r>
              <a:rPr lang="en-US" sz="2400" b="1" smtClean="0">
                <a:solidFill>
                  <a:srgbClr val="7030A0"/>
                </a:solidFill>
              </a:rPr>
              <a:t>*Melbourne n. </a:t>
            </a:r>
            <a:r>
              <a:rPr lang="zh-CN" altLang="en-US" sz="2400" b="1" smtClean="0">
                <a:solidFill>
                  <a:srgbClr val="7030A0"/>
                </a:solidFill>
              </a:rPr>
              <a:t>墨尔本（澳大利亚一城市）</a:t>
            </a:r>
            <a:r>
              <a:rPr lang="en-US" sz="2400" b="1" smtClean="0">
                <a:solidFill>
                  <a:srgbClr val="7030A0"/>
                </a:solidFill>
              </a:rPr>
              <a:t>*flight n.</a:t>
            </a:r>
            <a:r>
              <a:rPr lang="zh-CN" altLang="en-US" sz="2400" b="1" smtClean="0">
                <a:solidFill>
                  <a:srgbClr val="7030A0"/>
                </a:solidFill>
              </a:rPr>
              <a:t>航班 </a:t>
            </a:r>
            <a:endParaRPr lang="zh-CN" altLang="en-US" sz="2400" smtClean="0">
              <a:solidFill>
                <a:srgbClr val="7030A0"/>
              </a:solidFill>
            </a:endParaRPr>
          </a:p>
          <a:p>
            <a:r>
              <a:rPr lang="en-US" sz="2400" b="1" smtClean="0">
                <a:solidFill>
                  <a:srgbClr val="7030A0"/>
                </a:solidFill>
              </a:rPr>
              <a:t>*suitcase n.</a:t>
            </a:r>
            <a:r>
              <a:rPr lang="zh-CN" altLang="en-US" sz="2400" b="1" smtClean="0">
                <a:solidFill>
                  <a:srgbClr val="7030A0"/>
                </a:solidFill>
              </a:rPr>
              <a:t>行李箱                                       </a:t>
            </a:r>
            <a:r>
              <a:rPr lang="en-US" sz="2400" b="1" smtClean="0">
                <a:solidFill>
                  <a:srgbClr val="7030A0"/>
                </a:solidFill>
              </a:rPr>
              <a:t>*put down </a:t>
            </a:r>
            <a:r>
              <a:rPr lang="zh-CN" altLang="en-US" sz="2400" b="1" smtClean="0">
                <a:solidFill>
                  <a:srgbClr val="7030A0"/>
                </a:solidFill>
              </a:rPr>
              <a:t>写下</a:t>
            </a:r>
            <a:endParaRPr lang="zh-CN" altLang="en-US" sz="2400">
              <a:solidFill>
                <a:srgbClr val="7030A0"/>
              </a:solidFill>
            </a:endParaRPr>
          </a:p>
        </p:txBody>
      </p:sp>
      <p:pic>
        <p:nvPicPr>
          <p:cNvPr id="10" name="图片 9" title=""/>
          <p:cNvPicPr/>
          <p:nvPr/>
        </p:nvPicPr>
        <p:blipFill>
          <a:blip r:embed="rId5">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6777918" y="646623"/>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01174" y="1203284"/>
            <a:ext cx="11586026" cy="1873291"/>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400" b="1" smtClean="0">
                <a:solidFill>
                  <a:srgbClr val="0000FF"/>
                </a:solidFill>
                <a:latin typeface="Times New Roman" pitchFamily="18" charset="0"/>
                <a:ea typeface="微软雅黑" pitchFamily="34" charset="-122"/>
                <a:cs typeface="Times New Roman" pitchFamily="18" charset="0"/>
              </a:rPr>
              <a:t>(Text 2)</a:t>
            </a:r>
            <a:r>
              <a:rPr lang="zh-CN" altLang="en-US" sz="2400" b="1" smtClean="0">
                <a:solidFill>
                  <a:srgbClr val="0000FF"/>
                </a:solidFill>
                <a:latin typeface="微软雅黑" pitchFamily="34" charset="-122"/>
                <a:ea typeface="微软雅黑" pitchFamily="34" charset="-122"/>
              </a:rPr>
              <a:t>话题：讨论毕业后计划  词数：</a:t>
            </a:r>
            <a:r>
              <a:rPr lang="en-US" sz="2400" b="1" smtClean="0">
                <a:solidFill>
                  <a:srgbClr val="0000FF"/>
                </a:solidFill>
                <a:latin typeface="微软雅黑" pitchFamily="34" charset="-122"/>
                <a:ea typeface="微软雅黑" pitchFamily="34" charset="-122"/>
              </a:rPr>
              <a:t>38</a:t>
            </a:r>
            <a:r>
              <a:rPr lang="zh-CN" altLang="en-US" sz="2400" b="1" smtClean="0">
                <a:solidFill>
                  <a:srgbClr val="0000FF"/>
                </a:solidFill>
                <a:latin typeface="微软雅黑" pitchFamily="34" charset="-122"/>
                <a:ea typeface="微软雅黑" pitchFamily="34" charset="-122"/>
              </a:rPr>
              <a:t>；时间：</a:t>
            </a:r>
            <a:r>
              <a:rPr lang="en-US" sz="2400" b="1" smtClean="0">
                <a:solidFill>
                  <a:srgbClr val="0000FF"/>
                </a:solidFill>
                <a:latin typeface="微软雅黑" pitchFamily="34" charset="-122"/>
                <a:ea typeface="微软雅黑" pitchFamily="34" charset="-122"/>
              </a:rPr>
              <a:t>15″</a:t>
            </a:r>
            <a:r>
              <a:rPr lang="zh-CN" altLang="en-US" sz="2400" b="1" smtClean="0">
                <a:solidFill>
                  <a:srgbClr val="0000FF"/>
                </a:solidFill>
                <a:latin typeface="微软雅黑" pitchFamily="34" charset="-122"/>
                <a:ea typeface="微软雅黑" pitchFamily="34" charset="-122"/>
              </a:rPr>
              <a:t>；语速：</a:t>
            </a:r>
            <a:r>
              <a:rPr lang="en-US" sz="2400" b="1" smtClean="0">
                <a:solidFill>
                  <a:srgbClr val="0000FF"/>
                </a:solidFill>
                <a:latin typeface="微软雅黑" pitchFamily="34" charset="-122"/>
                <a:ea typeface="微软雅黑" pitchFamily="34" charset="-122"/>
              </a:rPr>
              <a:t>152</a:t>
            </a:r>
            <a:endParaRPr lang="en-US" altLang="zh-CN" sz="2400" b="1" smtClean="0">
              <a:solidFill>
                <a:srgbClr val="0000FF"/>
              </a:solidFill>
              <a:latin typeface="微软雅黑" pitchFamily="34" charset="-122"/>
              <a:ea typeface="微软雅黑" pitchFamily="34" charset="-122"/>
            </a:endParaRPr>
          </a:p>
          <a:p>
            <a:r>
              <a:rPr lang="en-US" altLang="zh-CN" sz="2400" b="1" smtClean="0">
                <a:solidFill>
                  <a:schemeClr val="tx1"/>
                </a:solidFill>
                <a:latin typeface="Times New Roman" pitchFamily="18" charset="0"/>
                <a:ea typeface="+mj-ea"/>
                <a:cs typeface="Times New Roman" pitchFamily="18" charset="0"/>
              </a:rPr>
              <a:t>M: Have you talked over your future plan with your parents, Sarah?</a:t>
            </a:r>
            <a:endParaRPr lang="zh-CN" altLang="en-US" sz="2400" b="1" smtClean="0">
              <a:solidFill>
                <a:schemeClr val="tx1"/>
              </a:solidFill>
              <a:latin typeface="Times New Roman" pitchFamily="18" charset="0"/>
              <a:ea typeface="+mj-ea"/>
              <a:cs typeface="Times New Roman" pitchFamily="18" charset="0"/>
            </a:endParaRPr>
          </a:p>
          <a:p>
            <a:r>
              <a:rPr lang="en-US" altLang="zh-CN" sz="2400" b="1" smtClean="0">
                <a:solidFill>
                  <a:schemeClr val="tx1"/>
                </a:solidFill>
                <a:latin typeface="Times New Roman" pitchFamily="18" charset="0"/>
                <a:ea typeface="+mj-ea"/>
                <a:cs typeface="Times New Roman" pitchFamily="18" charset="0"/>
              </a:rPr>
              <a:t>W: Well, my parents would like me to </a:t>
            </a:r>
            <a:r>
              <a:rPr lang="en-US" altLang="zh-CN" sz="2400" b="1" u="sng" smtClean="0">
                <a:solidFill>
                  <a:srgbClr val="FF0000"/>
                </a:solidFill>
                <a:latin typeface="Times New Roman" pitchFamily="18" charset="0"/>
                <a:ea typeface="+mj-ea"/>
                <a:cs typeface="Times New Roman" pitchFamily="18" charset="0"/>
              </a:rPr>
              <a:t>do my master's </a:t>
            </a:r>
            <a:r>
              <a:rPr lang="en-US" altLang="zh-CN" sz="2400" b="1" smtClean="0">
                <a:solidFill>
                  <a:schemeClr val="tx1"/>
                </a:solidFill>
                <a:latin typeface="Times New Roman" pitchFamily="18" charset="0"/>
                <a:ea typeface="+mj-ea"/>
                <a:cs typeface="Times New Roman" pitchFamily="18" charset="0"/>
              </a:rPr>
              <a:t>after graduation. I'm thinking of volunteering as a social worker for a year</a:t>
            </a:r>
            <a:endParaRPr lang="zh-CN" altLang="en-US" sz="2400" b="1" smtClean="0">
              <a:solidFill>
                <a:schemeClr val="tx1"/>
              </a:solidFill>
              <a:latin typeface="Times New Roman" pitchFamily="18" charset="0"/>
              <a:ea typeface="+mj-ea"/>
              <a:cs typeface="Times New Roman" pitchFamily="18" charset="0"/>
            </a:endParaRPr>
          </a:p>
          <a:p>
            <a:r>
              <a:rPr lang="en-US" altLang="zh-CN" sz="2400" b="1" smtClean="0">
                <a:solidFill>
                  <a:schemeClr val="tx1"/>
                </a:solidFill>
                <a:latin typeface="Times New Roman" pitchFamily="18" charset="0"/>
                <a:ea typeface="+mj-ea"/>
                <a:cs typeface="Times New Roman" pitchFamily="18" charset="0"/>
              </a:rPr>
              <a:t>M: Good for you.</a:t>
            </a:r>
            <a:endParaRPr lang="zh-CN" altLang="en-US" sz="2400" b="1">
              <a:solidFill>
                <a:schemeClr val="tx1"/>
              </a:solidFill>
              <a:latin typeface="Times New Roman" pitchFamily="18" charset="0"/>
              <a:ea typeface="+mj-ea"/>
              <a:cs typeface="Times New Roman" pitchFamily="18" charset="0"/>
            </a:endParaRPr>
          </a:p>
        </p:txBody>
      </p:sp>
      <p:sp>
        <p:nvSpPr>
          <p:cNvPr id="7" name="文本框 10" title=""/>
          <p:cNvSpPr txBox="1"/>
          <p:nvPr>
            <p:custDataLst>
              <p:tags r:id="rId2"/>
            </p:custDataLst>
          </p:nvPr>
        </p:nvSpPr>
        <p:spPr>
          <a:xfrm>
            <a:off x="285121" y="192878"/>
            <a:ext cx="11602079" cy="830997"/>
          </a:xfrm>
          <a:prstGeom prst="rect">
            <a:avLst/>
          </a:prstGeom>
          <a:solidFill>
            <a:srgbClr val="FFFFCC"/>
          </a:solidFill>
          <a:ln w="19050">
            <a:solidFill>
              <a:schemeClr val="tx1"/>
            </a:solidFill>
          </a:ln>
        </p:spPr>
        <p:txBody>
          <a:bodyPr wrap="square" anchor="t" anchorCtr="0">
            <a:spAutoFit/>
          </a:bodyPr>
          <a:lstStyle/>
          <a:p>
            <a:r>
              <a:rPr lang="en-US" sz="2400" b="1" smtClean="0">
                <a:latin typeface="Times New Roman" pitchFamily="18" charset="0"/>
                <a:cs typeface="Times New Roman" pitchFamily="18" charset="0"/>
              </a:rPr>
              <a:t>2. What does Sarah plan to do after graduation?</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    A. Do volunteer work. B. Pursue a higher degree. C. Run the family business.</a:t>
            </a:r>
            <a:r>
              <a:rPr lang="en-US" altLang="zh-CN" sz="2400" b="1" smtClean="0">
                <a:latin typeface="Times New Roman" pitchFamily="18" charset="0"/>
                <a:ea typeface="+mj-ea"/>
                <a:cs typeface="Times New Roman" pitchFamily="18" charset="0"/>
              </a:rPr>
              <a:t>	</a:t>
            </a:r>
            <a:endParaRPr lang="en-US" altLang="zh-CN" sz="2400" b="1">
              <a:latin typeface="Times New Roman" pitchFamily="18" charset="0"/>
              <a:ea typeface="+mj-ea"/>
              <a:cs typeface="Times New Roman" pitchFamily="18" charset="0"/>
            </a:endParaRPr>
          </a:p>
        </p:txBody>
      </p:sp>
      <p:sp>
        <p:nvSpPr>
          <p:cNvPr id="8" name="文本框 3" title=""/>
          <p:cNvSpPr txBox="1"/>
          <p:nvPr>
            <p:custDataLst>
              <p:tags r:id="rId3"/>
            </p:custDataLst>
          </p:nvPr>
        </p:nvSpPr>
        <p:spPr>
          <a:xfrm>
            <a:off x="301845" y="3316070"/>
            <a:ext cx="11604405" cy="147732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】2. A。</a:t>
            </a:r>
            <a:r>
              <a:rPr lang="zh-CN" altLang="en-US" sz="2000" b="1" smtClean="0">
                <a:solidFill>
                  <a:srgbClr val="FF00FF"/>
                </a:solidFill>
                <a:latin typeface="Times New Roman" pitchFamily="18" charset="0"/>
                <a:ea typeface="微软雅黑" pitchFamily="34" charset="-122"/>
                <a:cs typeface="Times New Roman" pitchFamily="18" charset="0"/>
              </a:rPr>
              <a:t>事实细节题。男士询问</a:t>
            </a:r>
            <a:r>
              <a:rPr lang="en-US" altLang="zh-CN" sz="2000" b="1" smtClean="0">
                <a:solidFill>
                  <a:srgbClr val="FF00FF"/>
                </a:solidFill>
                <a:latin typeface="Times New Roman" pitchFamily="18" charset="0"/>
                <a:ea typeface="微软雅黑" pitchFamily="34" charset="-122"/>
                <a:cs typeface="Times New Roman" pitchFamily="18" charset="0"/>
              </a:rPr>
              <a:t>Sarah</a:t>
            </a:r>
            <a:r>
              <a:rPr lang="zh-CN" altLang="en-US" sz="2000" b="1" smtClean="0">
                <a:solidFill>
                  <a:srgbClr val="FF00FF"/>
                </a:solidFill>
                <a:latin typeface="Times New Roman" pitchFamily="18" charset="0"/>
                <a:ea typeface="微软雅黑" pitchFamily="34" charset="-122"/>
                <a:cs typeface="Times New Roman" pitchFamily="18" charset="0"/>
              </a:rPr>
              <a:t>是否和她的父母讨论过未来的计划。根据</a:t>
            </a:r>
            <a:r>
              <a:rPr lang="en-US" altLang="zh-CN" sz="2000" b="1" smtClean="0">
                <a:solidFill>
                  <a:srgbClr val="FF00FF"/>
                </a:solidFill>
                <a:latin typeface="Times New Roman" pitchFamily="18" charset="0"/>
                <a:ea typeface="微软雅黑" pitchFamily="34" charset="-122"/>
                <a:cs typeface="Times New Roman" pitchFamily="18" charset="0"/>
              </a:rPr>
              <a:t>Sarah</a:t>
            </a:r>
            <a:r>
              <a:rPr lang="zh-CN" altLang="en-US" sz="2000" b="1" smtClean="0">
                <a:solidFill>
                  <a:srgbClr val="FF00FF"/>
                </a:solidFill>
                <a:latin typeface="Times New Roman" pitchFamily="18" charset="0"/>
                <a:ea typeface="微软雅黑" pitchFamily="34" charset="-122"/>
                <a:cs typeface="Times New Roman" pitchFamily="18" charset="0"/>
              </a:rPr>
              <a:t>的回答“</a:t>
            </a:r>
            <a:r>
              <a:rPr lang="en-US" altLang="zh-CN" sz="2000" b="1" smtClean="0">
                <a:solidFill>
                  <a:srgbClr val="FF00FF"/>
                </a:solidFill>
                <a:latin typeface="Times New Roman" pitchFamily="18" charset="0"/>
                <a:ea typeface="微软雅黑" pitchFamily="34" charset="-122"/>
                <a:cs typeface="Times New Roman" pitchFamily="18" charset="0"/>
              </a:rPr>
              <a:t>Well, my parents would like me to do my master’s after graduation. But I’m thinking of volunteering as a social worker for a year.”</a:t>
            </a:r>
            <a:r>
              <a:rPr lang="zh-CN" altLang="en-US" sz="2000" b="1" smtClean="0">
                <a:solidFill>
                  <a:srgbClr val="FF00FF"/>
                </a:solidFill>
                <a:latin typeface="Times New Roman" pitchFamily="18" charset="0"/>
                <a:ea typeface="微软雅黑" pitchFamily="34" charset="-122"/>
                <a:cs typeface="Times New Roman" pitchFamily="18" charset="0"/>
              </a:rPr>
              <a:t>可知，她父母希望她毕业后攻读硕士，但是，她正在考虑做一年的志愿社工。由此可知，</a:t>
            </a:r>
            <a:r>
              <a:rPr lang="en-US" altLang="zh-CN" sz="2000" b="1" smtClean="0">
                <a:solidFill>
                  <a:srgbClr val="FF00FF"/>
                </a:solidFill>
                <a:latin typeface="Times New Roman" pitchFamily="18" charset="0"/>
                <a:ea typeface="微软雅黑" pitchFamily="34" charset="-122"/>
                <a:cs typeface="Times New Roman" pitchFamily="18" charset="0"/>
              </a:rPr>
              <a:t>Sarah</a:t>
            </a:r>
            <a:r>
              <a:rPr lang="zh-CN" altLang="en-US" sz="2000" b="1" smtClean="0">
                <a:solidFill>
                  <a:srgbClr val="FF00FF"/>
                </a:solidFill>
                <a:latin typeface="Times New Roman" pitchFamily="18" charset="0"/>
                <a:ea typeface="微软雅黑" pitchFamily="34" charset="-122"/>
                <a:cs typeface="Times New Roman" pitchFamily="18" charset="0"/>
              </a:rPr>
              <a:t>毕业后打算做志愿工作。</a:t>
            </a:r>
          </a:p>
        </p:txBody>
      </p:sp>
      <p:sp>
        <p:nvSpPr>
          <p:cNvPr id="9" name="文本框 3" title=""/>
          <p:cNvSpPr txBox="1"/>
          <p:nvPr>
            <p:custDataLst>
              <p:tags r:id="rId4"/>
            </p:custDataLst>
          </p:nvPr>
        </p:nvSpPr>
        <p:spPr>
          <a:xfrm>
            <a:off x="281372" y="5311344"/>
            <a:ext cx="11596303" cy="830997"/>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400" b="1" smtClean="0">
                <a:solidFill>
                  <a:srgbClr val="00B0F0"/>
                </a:solidFill>
                <a:latin typeface="微软雅黑" pitchFamily="34" charset="-122"/>
                <a:ea typeface="微软雅黑" pitchFamily="34" charset="-122"/>
              </a:rPr>
              <a:t>【</a:t>
            </a:r>
            <a:r>
              <a:rPr lang="zh-CN" altLang="en-US" sz="2400" b="1" smtClean="0">
                <a:solidFill>
                  <a:srgbClr val="00B0F0"/>
                </a:solidFill>
                <a:latin typeface="微软雅黑" pitchFamily="34" charset="-122"/>
                <a:ea typeface="微软雅黑" pitchFamily="34" charset="-122"/>
              </a:rPr>
              <a:t>语言知识</a:t>
            </a:r>
            <a:r>
              <a:rPr lang="en-US" altLang="zh-CN" sz="2400" b="1" smtClean="0">
                <a:solidFill>
                  <a:srgbClr val="00B0F0"/>
                </a:solidFill>
                <a:latin typeface="微软雅黑" pitchFamily="34" charset="-122"/>
                <a:ea typeface="微软雅黑" pitchFamily="34" charset="-122"/>
              </a:rPr>
              <a:t>】</a:t>
            </a:r>
          </a:p>
          <a:p>
            <a:r>
              <a:rPr lang="en-US" sz="2400" b="1" smtClean="0">
                <a:solidFill>
                  <a:srgbClr val="7030A0"/>
                </a:solidFill>
                <a:latin typeface="Times New Roman" pitchFamily="18" charset="0"/>
                <a:cs typeface="Times New Roman" pitchFamily="18" charset="0"/>
              </a:rPr>
              <a:t>*do my master’s </a:t>
            </a:r>
            <a:r>
              <a:rPr lang="zh-CN" altLang="en-US" sz="2400" b="1" smtClean="0">
                <a:solidFill>
                  <a:srgbClr val="7030A0"/>
                </a:solidFill>
                <a:latin typeface="Times New Roman" pitchFamily="18" charset="0"/>
                <a:cs typeface="Times New Roman" pitchFamily="18" charset="0"/>
              </a:rPr>
              <a:t>攻读硕士</a:t>
            </a:r>
            <a:endParaRPr lang="zh-CN" altLang="en-US" sz="2400" b="1">
              <a:solidFill>
                <a:srgbClr val="7030A0"/>
              </a:solidFill>
              <a:latin typeface="Times New Roman" pitchFamily="18" charset="0"/>
              <a:ea typeface="微软雅黑" pitchFamily="34" charset="-122"/>
              <a:cs typeface="Times New Roman" pitchFamily="18" charset="0"/>
            </a:endParaRPr>
          </a:p>
        </p:txBody>
      </p:sp>
      <p:pic>
        <p:nvPicPr>
          <p:cNvPr id="10" name="图片 9" title=""/>
          <p:cNvPicPr/>
          <p:nvPr/>
        </p:nvPicPr>
        <p:blipFill>
          <a:blip r:embed="rId5">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643818" y="675198"/>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01174" y="1203284"/>
            <a:ext cx="11586026" cy="192091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400" b="1" smtClean="0">
                <a:solidFill>
                  <a:srgbClr val="0000FF"/>
                </a:solidFill>
                <a:latin typeface="Times New Roman" pitchFamily="18" charset="0"/>
                <a:ea typeface="微软雅黑" pitchFamily="34" charset="-122"/>
                <a:cs typeface="Times New Roman" pitchFamily="18" charset="0"/>
              </a:rPr>
              <a:t>(Text 3)</a:t>
            </a:r>
            <a:r>
              <a:rPr lang="zh-CN" altLang="en-US" sz="2400" b="1" smtClean="0">
                <a:solidFill>
                  <a:srgbClr val="0000FF"/>
                </a:solidFill>
                <a:latin typeface="微软雅黑" pitchFamily="34" charset="-122"/>
                <a:ea typeface="微软雅黑" pitchFamily="34" charset="-122"/>
              </a:rPr>
              <a:t>话题：讨论搬家意向及郊区看房计划 词数：</a:t>
            </a:r>
            <a:r>
              <a:rPr lang="en-US" sz="2400" b="1" smtClean="0">
                <a:solidFill>
                  <a:srgbClr val="0000FF"/>
                </a:solidFill>
                <a:latin typeface="微软雅黑" pitchFamily="34" charset="-122"/>
                <a:ea typeface="微软雅黑" pitchFamily="34" charset="-122"/>
              </a:rPr>
              <a:t>42</a:t>
            </a:r>
            <a:r>
              <a:rPr lang="zh-CN" altLang="en-US" sz="2400" b="1" smtClean="0">
                <a:solidFill>
                  <a:srgbClr val="0000FF"/>
                </a:solidFill>
                <a:latin typeface="微软雅黑" pitchFamily="34" charset="-122"/>
                <a:ea typeface="微软雅黑" pitchFamily="34" charset="-122"/>
              </a:rPr>
              <a:t>；时间：</a:t>
            </a:r>
            <a:r>
              <a:rPr lang="en-US" sz="2400" b="1" smtClean="0">
                <a:solidFill>
                  <a:srgbClr val="0000FF"/>
                </a:solidFill>
                <a:latin typeface="微软雅黑" pitchFamily="34" charset="-122"/>
                <a:ea typeface="微软雅黑" pitchFamily="34" charset="-122"/>
              </a:rPr>
              <a:t>16″</a:t>
            </a:r>
            <a:r>
              <a:rPr lang="zh-CN" altLang="en-US" sz="2400" b="1" smtClean="0">
                <a:solidFill>
                  <a:srgbClr val="0000FF"/>
                </a:solidFill>
                <a:latin typeface="微软雅黑" pitchFamily="34" charset="-122"/>
                <a:ea typeface="微软雅黑" pitchFamily="34" charset="-122"/>
              </a:rPr>
              <a:t>；语速：</a:t>
            </a:r>
            <a:r>
              <a:rPr lang="en-US" sz="2400" b="1" smtClean="0">
                <a:solidFill>
                  <a:srgbClr val="0000FF"/>
                </a:solidFill>
                <a:latin typeface="微软雅黑" pitchFamily="34" charset="-122"/>
                <a:ea typeface="微软雅黑" pitchFamily="34" charset="-122"/>
              </a:rPr>
              <a:t>157</a:t>
            </a:r>
            <a:endParaRPr lang="en-US" altLang="zh-CN" sz="2400" b="1" smtClean="0">
              <a:solidFill>
                <a:srgbClr val="0000FF"/>
              </a:solidFill>
              <a:latin typeface="微软雅黑" pitchFamily="34" charset="-122"/>
              <a:ea typeface="微软雅黑" pitchFamily="34" charset="-122"/>
            </a:endParaRPr>
          </a:p>
          <a:p>
            <a:pPr algn="just"/>
            <a:r>
              <a:rPr lang="en-US" sz="2400" b="1" smtClean="0">
                <a:latin typeface="Times New Roman" pitchFamily="18" charset="0"/>
                <a:cs typeface="Times New Roman" pitchFamily="18" charset="0"/>
              </a:rPr>
              <a:t>W: We really need to </a:t>
            </a:r>
            <a:r>
              <a:rPr lang="en-US" sz="2400" b="1" u="sng" smtClean="0">
                <a:solidFill>
                  <a:srgbClr val="FF0000"/>
                </a:solidFill>
                <a:latin typeface="Times New Roman" pitchFamily="18" charset="0"/>
                <a:cs typeface="Times New Roman" pitchFamily="18" charset="0"/>
              </a:rPr>
              <a:t>move</a:t>
            </a:r>
            <a:r>
              <a:rPr lang="en-US" sz="2400" b="1" smtClean="0">
                <a:latin typeface="Times New Roman" pitchFamily="18" charset="0"/>
                <a:cs typeface="Times New Roman" pitchFamily="18" charset="0"/>
              </a:rPr>
              <a:t>, Steve. So many cars go by every day and no sun comes through the windows.</a:t>
            </a:r>
            <a:endParaRPr lang="zh-CN" altLang="en-US" sz="2400" b="1" smtClean="0">
              <a:latin typeface="Times New Roman" pitchFamily="18" charset="0"/>
              <a:cs typeface="Times New Roman" pitchFamily="18" charset="0"/>
            </a:endParaRPr>
          </a:p>
          <a:p>
            <a:pPr algn="just"/>
            <a:r>
              <a:rPr lang="en-US" sz="2400" b="1" smtClean="0">
                <a:latin typeface="Times New Roman" pitchFamily="18" charset="0"/>
                <a:cs typeface="Times New Roman" pitchFamily="18" charset="0"/>
              </a:rPr>
              <a:t>M: Yeah, this house is </a:t>
            </a:r>
            <a:r>
              <a:rPr lang="en-US" sz="2400" b="1" u="sng" smtClean="0">
                <a:solidFill>
                  <a:srgbClr val="FF0000"/>
                </a:solidFill>
                <a:latin typeface="Times New Roman" pitchFamily="18" charset="0"/>
                <a:cs typeface="Times New Roman" pitchFamily="18" charset="0"/>
              </a:rPr>
              <a:t>kind of </a:t>
            </a:r>
            <a:r>
              <a:rPr lang="en-US" sz="2400" b="1" smtClean="0">
                <a:latin typeface="Times New Roman" pitchFamily="18" charset="0"/>
                <a:cs typeface="Times New Roman" pitchFamily="18" charset="0"/>
              </a:rPr>
              <a:t>old. What do you have in mind?</a:t>
            </a:r>
            <a:endParaRPr lang="zh-CN" altLang="en-US" sz="2400" b="1" smtClean="0">
              <a:latin typeface="Times New Roman" pitchFamily="18" charset="0"/>
              <a:cs typeface="Times New Roman" pitchFamily="18" charset="0"/>
            </a:endParaRPr>
          </a:p>
          <a:p>
            <a:pPr algn="just"/>
            <a:r>
              <a:rPr lang="en-US" sz="2400" b="1" smtClean="0">
                <a:latin typeface="Times New Roman" pitchFamily="18" charset="0"/>
                <a:cs typeface="Times New Roman" pitchFamily="18" charset="0"/>
              </a:rPr>
              <a:t>W: Maybe we should have a look in the </a:t>
            </a:r>
            <a:r>
              <a:rPr lang="en-US" sz="2400" b="1" u="sng" smtClean="0">
                <a:solidFill>
                  <a:srgbClr val="FF0000"/>
                </a:solidFill>
                <a:latin typeface="Times New Roman" pitchFamily="18" charset="0"/>
                <a:cs typeface="Times New Roman" pitchFamily="18" charset="0"/>
              </a:rPr>
              <a:t>suburbs</a:t>
            </a:r>
            <a:r>
              <a:rPr lang="en-US" sz="2400" b="1" smtClean="0">
                <a:latin typeface="Times New Roman" pitchFamily="18" charset="0"/>
                <a:cs typeface="Times New Roman" pitchFamily="18" charset="0"/>
              </a:rPr>
              <a:t>.</a:t>
            </a:r>
            <a:endParaRPr lang="zh-CN" altLang="en-US" sz="2400" b="1">
              <a:latin typeface="Times New Roman" pitchFamily="18" charset="0"/>
              <a:cs typeface="Times New Roman" pitchFamily="18" charset="0"/>
            </a:endParaRPr>
          </a:p>
        </p:txBody>
      </p:sp>
      <p:sp>
        <p:nvSpPr>
          <p:cNvPr id="7" name="文本框 10" title=""/>
          <p:cNvSpPr txBox="1"/>
          <p:nvPr>
            <p:custDataLst>
              <p:tags r:id="rId2"/>
            </p:custDataLst>
          </p:nvPr>
        </p:nvSpPr>
        <p:spPr>
          <a:xfrm>
            <a:off x="275596" y="192878"/>
            <a:ext cx="11602079" cy="830997"/>
          </a:xfrm>
          <a:prstGeom prst="rect">
            <a:avLst/>
          </a:prstGeom>
          <a:solidFill>
            <a:srgbClr val="FFFFCC"/>
          </a:solidFill>
          <a:ln w="19050">
            <a:solidFill>
              <a:schemeClr val="tx1"/>
            </a:solidFill>
          </a:ln>
        </p:spPr>
        <p:txBody>
          <a:bodyPr wrap="square" anchor="t" anchorCtr="0">
            <a:spAutoFit/>
          </a:bodyPr>
          <a:lstStyle/>
          <a:p>
            <a:r>
              <a:rPr lang="en-US" sz="2400" b="1" smtClean="0">
                <a:latin typeface="Times New Roman" pitchFamily="18" charset="0"/>
                <a:cs typeface="Times New Roman" pitchFamily="18" charset="0"/>
              </a:rPr>
              <a:t>3. What are the speakers talking about?</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    A. Buying a car.	B. Moving house.	C. Fixing the window.</a:t>
            </a:r>
            <a:r>
              <a:rPr lang="en-US" altLang="zh-CN" sz="2400" b="1" smtClean="0">
                <a:latin typeface="Times New Roman" pitchFamily="18" charset="0"/>
                <a:ea typeface="+mj-ea"/>
                <a:cs typeface="Times New Roman" pitchFamily="18" charset="0"/>
              </a:rPr>
              <a:t>	</a:t>
            </a:r>
            <a:endParaRPr lang="en-US" altLang="zh-CN" sz="2400" b="1">
              <a:latin typeface="Times New Roman" pitchFamily="18" charset="0"/>
              <a:ea typeface="+mj-ea"/>
              <a:cs typeface="Times New Roman" pitchFamily="18" charset="0"/>
            </a:endParaRPr>
          </a:p>
        </p:txBody>
      </p:sp>
      <p:sp>
        <p:nvSpPr>
          <p:cNvPr id="8" name="文本框 3" title=""/>
          <p:cNvSpPr txBox="1"/>
          <p:nvPr>
            <p:custDataLst>
              <p:tags r:id="rId3"/>
            </p:custDataLst>
          </p:nvPr>
        </p:nvSpPr>
        <p:spPr>
          <a:xfrm>
            <a:off x="301845" y="3363695"/>
            <a:ext cx="11604405" cy="1131079"/>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】3. B</a:t>
            </a:r>
            <a:r>
              <a:rPr lang="zh-CN" altLang="en-US" sz="2000" b="1" smtClean="0">
                <a:solidFill>
                  <a:srgbClr val="FF00FF"/>
                </a:solidFill>
                <a:latin typeface="Times New Roman" pitchFamily="18" charset="0"/>
                <a:ea typeface="微软雅黑" pitchFamily="34" charset="-122"/>
                <a:cs typeface="Times New Roman" pitchFamily="18" charset="0"/>
              </a:rPr>
              <a:t>。主旨大意题。女士表示想要搬家，原因是每天有很多汽车经过，并且没有阳光从窗户照进来。</a:t>
            </a:r>
            <a:r>
              <a:rPr lang="en-US" altLang="zh-CN" sz="2000" b="1" smtClean="0">
                <a:solidFill>
                  <a:srgbClr val="FF00FF"/>
                </a:solidFill>
                <a:latin typeface="Times New Roman" pitchFamily="18" charset="0"/>
                <a:ea typeface="微软雅黑" pitchFamily="34" charset="-122"/>
                <a:cs typeface="Times New Roman" pitchFamily="18" charset="0"/>
              </a:rPr>
              <a:t>Steve</a:t>
            </a:r>
            <a:r>
              <a:rPr lang="zh-CN" altLang="en-US" sz="2000" b="1" smtClean="0">
                <a:solidFill>
                  <a:srgbClr val="FF00FF"/>
                </a:solidFill>
                <a:latin typeface="Times New Roman" pitchFamily="18" charset="0"/>
                <a:ea typeface="微软雅黑" pitchFamily="34" charset="-122"/>
                <a:cs typeface="Times New Roman" pitchFamily="18" charset="0"/>
              </a:rPr>
              <a:t>表示赞同，而且这房子有点旧了，并询问女士有什么想法，女士则建议他们应该去郊区看看。综上可知，说话者主要在讨论搬家的事情。</a:t>
            </a:r>
          </a:p>
        </p:txBody>
      </p:sp>
      <p:sp>
        <p:nvSpPr>
          <p:cNvPr id="9" name="文本框 3" title=""/>
          <p:cNvSpPr txBox="1"/>
          <p:nvPr>
            <p:custDataLst>
              <p:tags r:id="rId4"/>
            </p:custDataLst>
          </p:nvPr>
        </p:nvSpPr>
        <p:spPr>
          <a:xfrm>
            <a:off x="281372" y="4654119"/>
            <a:ext cx="11596303" cy="830997"/>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400" b="1" smtClean="0">
                <a:solidFill>
                  <a:srgbClr val="00B0F0"/>
                </a:solidFill>
                <a:latin typeface="微软雅黑" pitchFamily="34" charset="-122"/>
                <a:ea typeface="微软雅黑" pitchFamily="34" charset="-122"/>
              </a:rPr>
              <a:t>【</a:t>
            </a:r>
            <a:r>
              <a:rPr lang="zh-CN" altLang="en-US" sz="2400" b="1" smtClean="0">
                <a:solidFill>
                  <a:srgbClr val="00B0F0"/>
                </a:solidFill>
                <a:latin typeface="微软雅黑" pitchFamily="34" charset="-122"/>
                <a:ea typeface="微软雅黑" pitchFamily="34" charset="-122"/>
              </a:rPr>
              <a:t>语言知识</a:t>
            </a:r>
            <a:r>
              <a:rPr lang="en-US" altLang="zh-CN" sz="2400" b="1" smtClean="0">
                <a:solidFill>
                  <a:srgbClr val="00B0F0"/>
                </a:solidFill>
                <a:latin typeface="微软雅黑" pitchFamily="34" charset="-122"/>
                <a:ea typeface="微软雅黑" pitchFamily="34" charset="-122"/>
              </a:rPr>
              <a:t>】</a:t>
            </a:r>
          </a:p>
          <a:p>
            <a:r>
              <a:rPr lang="en-US" sz="2400" b="1" smtClean="0">
                <a:solidFill>
                  <a:srgbClr val="7030A0"/>
                </a:solidFill>
                <a:latin typeface="Times New Roman" pitchFamily="18" charset="0"/>
                <a:cs typeface="Times New Roman" pitchFamily="18" charset="0"/>
              </a:rPr>
              <a:t>*kind of </a:t>
            </a:r>
            <a:r>
              <a:rPr lang="zh-CN" altLang="en-US" sz="2400" b="1" smtClean="0">
                <a:solidFill>
                  <a:srgbClr val="7030A0"/>
                </a:solidFill>
                <a:latin typeface="Times New Roman" pitchFamily="18" charset="0"/>
                <a:cs typeface="Times New Roman" pitchFamily="18" charset="0"/>
              </a:rPr>
              <a:t>稍微；有几分；有点儿                  </a:t>
            </a:r>
            <a:r>
              <a:rPr lang="en-US" sz="2400" b="1" smtClean="0">
                <a:solidFill>
                  <a:srgbClr val="7030A0"/>
                </a:solidFill>
                <a:latin typeface="Times New Roman" pitchFamily="18" charset="0"/>
                <a:cs typeface="Times New Roman" pitchFamily="18" charset="0"/>
              </a:rPr>
              <a:t>*suburb n.</a:t>
            </a:r>
            <a:r>
              <a:rPr lang="zh-CN" altLang="en-US" sz="2400" b="1" smtClean="0">
                <a:solidFill>
                  <a:srgbClr val="7030A0"/>
                </a:solidFill>
                <a:latin typeface="Times New Roman" pitchFamily="18" charset="0"/>
                <a:cs typeface="Times New Roman" pitchFamily="18" charset="0"/>
              </a:rPr>
              <a:t>郊外</a:t>
            </a:r>
            <a:endParaRPr lang="zh-CN" altLang="en-US" sz="2400">
              <a:solidFill>
                <a:srgbClr val="7030A0"/>
              </a:solidFill>
              <a:latin typeface="Times New Roman" pitchFamily="18" charset="0"/>
              <a:cs typeface="Times New Roman" pitchFamily="18" charset="0"/>
            </a:endParaRPr>
          </a:p>
        </p:txBody>
      </p:sp>
      <p:pic>
        <p:nvPicPr>
          <p:cNvPr id="10" name="图片 9" title=""/>
          <p:cNvPicPr/>
          <p:nvPr/>
        </p:nvPicPr>
        <p:blipFill>
          <a:blip r:embed="rId5">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3101268" y="684723"/>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01174" y="1203284"/>
            <a:ext cx="11586026" cy="195901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400" b="1" smtClean="0">
                <a:solidFill>
                  <a:srgbClr val="0000FF"/>
                </a:solidFill>
                <a:latin typeface="Times New Roman" pitchFamily="18" charset="0"/>
                <a:ea typeface="微软雅黑" pitchFamily="34" charset="-122"/>
                <a:cs typeface="Times New Roman" pitchFamily="18" charset="0"/>
              </a:rPr>
              <a:t>(Text 4)</a:t>
            </a:r>
            <a:r>
              <a:rPr lang="zh-CN" altLang="en-US" sz="2400" b="1" smtClean="0">
                <a:solidFill>
                  <a:srgbClr val="0000FF"/>
                </a:solidFill>
                <a:latin typeface="微软雅黑" pitchFamily="34" charset="-122"/>
                <a:ea typeface="微软雅黑" pitchFamily="34" charset="-122"/>
              </a:rPr>
              <a:t>话题：初次滑雪体验及感受  词数：</a:t>
            </a:r>
            <a:r>
              <a:rPr lang="en-US" sz="2400" b="1" smtClean="0">
                <a:solidFill>
                  <a:srgbClr val="0000FF"/>
                </a:solidFill>
                <a:latin typeface="微软雅黑" pitchFamily="34" charset="-122"/>
                <a:ea typeface="微软雅黑" pitchFamily="34" charset="-122"/>
              </a:rPr>
              <a:t>32</a:t>
            </a:r>
            <a:r>
              <a:rPr lang="zh-CN" altLang="en-US" sz="2400" b="1" smtClean="0">
                <a:solidFill>
                  <a:srgbClr val="0000FF"/>
                </a:solidFill>
                <a:latin typeface="微软雅黑" pitchFamily="34" charset="-122"/>
                <a:ea typeface="微软雅黑" pitchFamily="34" charset="-122"/>
              </a:rPr>
              <a:t>；时间：</a:t>
            </a:r>
            <a:r>
              <a:rPr lang="en-US" sz="2400" b="1" smtClean="0">
                <a:solidFill>
                  <a:srgbClr val="0000FF"/>
                </a:solidFill>
                <a:latin typeface="微软雅黑" pitchFamily="34" charset="-122"/>
                <a:ea typeface="微软雅黑" pitchFamily="34" charset="-122"/>
              </a:rPr>
              <a:t>14″</a:t>
            </a:r>
            <a:r>
              <a:rPr lang="zh-CN" altLang="en-US" sz="2400" b="1" smtClean="0">
                <a:solidFill>
                  <a:srgbClr val="0000FF"/>
                </a:solidFill>
                <a:latin typeface="微软雅黑" pitchFamily="34" charset="-122"/>
                <a:ea typeface="微软雅黑" pitchFamily="34" charset="-122"/>
              </a:rPr>
              <a:t>；语速：</a:t>
            </a:r>
            <a:r>
              <a:rPr lang="en-US" sz="2400" b="1" smtClean="0">
                <a:solidFill>
                  <a:srgbClr val="0000FF"/>
                </a:solidFill>
                <a:latin typeface="微软雅黑" pitchFamily="34" charset="-122"/>
                <a:ea typeface="微软雅黑" pitchFamily="34" charset="-122"/>
              </a:rPr>
              <a:t>137</a:t>
            </a:r>
            <a:endParaRPr lang="en-US" altLang="zh-CN" sz="2400" b="1" smtClean="0">
              <a:solidFill>
                <a:srgbClr val="0000FF"/>
              </a:solidFill>
              <a:latin typeface="微软雅黑" pitchFamily="34" charset="-122"/>
              <a:ea typeface="微软雅黑" pitchFamily="34" charset="-122"/>
            </a:endParaRPr>
          </a:p>
          <a:p>
            <a:r>
              <a:rPr lang="en-US" sz="2400" b="1" smtClean="0">
                <a:latin typeface="Times New Roman" pitchFamily="18" charset="0"/>
                <a:cs typeface="Times New Roman" pitchFamily="18" charset="0"/>
              </a:rPr>
              <a:t>M: Do you often ski here?</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W: No, this is my first time.</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M: So </a:t>
            </a:r>
            <a:r>
              <a:rPr lang="en-US" altLang="zh-CN" sz="2400" b="1" u="sng" smtClean="0">
                <a:solidFill>
                  <a:srgbClr val="FF0000"/>
                </a:solidFill>
                <a:latin typeface="Times New Roman" pitchFamily="18" charset="0"/>
                <a:ea typeface="+mj-ea"/>
                <a:cs typeface="Times New Roman" pitchFamily="18" charset="0"/>
              </a:rPr>
              <a:t>how do you like </a:t>
            </a:r>
            <a:r>
              <a:rPr lang="en-US" sz="2400" b="1" smtClean="0">
                <a:latin typeface="Times New Roman" pitchFamily="18" charset="0"/>
                <a:cs typeface="Times New Roman" pitchFamily="18" charset="0"/>
              </a:rPr>
              <a:t>it </a:t>
            </a:r>
            <a:r>
              <a:rPr lang="en-US" altLang="zh-CN" sz="2400" b="1" u="sng" smtClean="0">
                <a:solidFill>
                  <a:srgbClr val="FF0000"/>
                </a:solidFill>
                <a:latin typeface="Times New Roman" pitchFamily="18" charset="0"/>
                <a:ea typeface="+mj-ea"/>
                <a:cs typeface="Times New Roman" pitchFamily="18" charset="0"/>
              </a:rPr>
              <a:t>so far</a:t>
            </a:r>
            <a:r>
              <a:rPr lang="en-US" sz="2400" b="1" smtClean="0">
                <a:latin typeface="Times New Roman" pitchFamily="18" charset="0"/>
                <a:cs typeface="Times New Roman" pitchFamily="18" charset="0"/>
              </a:rPr>
              <a:t>?</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W: The snow is </a:t>
            </a:r>
            <a:r>
              <a:rPr lang="en-US" altLang="zh-CN" sz="2400" b="1" u="sng" smtClean="0">
                <a:solidFill>
                  <a:srgbClr val="FF0000"/>
                </a:solidFill>
                <a:latin typeface="Times New Roman" pitchFamily="18" charset="0"/>
                <a:ea typeface="+mj-ea"/>
                <a:cs typeface="Times New Roman" pitchFamily="18" charset="0"/>
              </a:rPr>
              <a:t>brilliant</a:t>
            </a:r>
            <a:r>
              <a:rPr lang="en-US" sz="2400" b="1" smtClean="0">
                <a:latin typeface="Times New Roman" pitchFamily="18" charset="0"/>
                <a:cs typeface="Times New Roman" pitchFamily="18" charset="0"/>
              </a:rPr>
              <a:t>. It would be better if there were fewer people</a:t>
            </a:r>
            <a:r>
              <a:rPr lang="en-US" altLang="zh-CN" sz="2400" b="1" smtClean="0">
                <a:latin typeface="Times New Roman" pitchFamily="18" charset="0"/>
                <a:cs typeface="Times New Roman" pitchFamily="18" charset="0"/>
              </a:rPr>
              <a:t>.</a:t>
            </a:r>
            <a:endParaRPr lang="zh-CN" altLang="en-US" sz="2400" b="1">
              <a:latin typeface="Times New Roman" pitchFamily="18" charset="0"/>
              <a:cs typeface="Times New Roman" pitchFamily="18" charset="0"/>
            </a:endParaRPr>
          </a:p>
        </p:txBody>
      </p:sp>
      <p:sp>
        <p:nvSpPr>
          <p:cNvPr id="7" name="文本框 10" title=""/>
          <p:cNvSpPr txBox="1"/>
          <p:nvPr>
            <p:custDataLst>
              <p:tags r:id="rId2"/>
            </p:custDataLst>
          </p:nvPr>
        </p:nvSpPr>
        <p:spPr>
          <a:xfrm>
            <a:off x="275596" y="192878"/>
            <a:ext cx="11602079" cy="830997"/>
          </a:xfrm>
          <a:prstGeom prst="rect">
            <a:avLst/>
          </a:prstGeom>
          <a:solidFill>
            <a:srgbClr val="FFFFCC"/>
          </a:solidFill>
          <a:ln w="19050">
            <a:solidFill>
              <a:schemeClr val="tx1"/>
            </a:solidFill>
          </a:ln>
        </p:spPr>
        <p:txBody>
          <a:bodyPr wrap="square" anchor="t" anchorCtr="0">
            <a:spAutoFit/>
          </a:bodyPr>
          <a:lstStyle/>
          <a:p>
            <a:r>
              <a:rPr lang="en-US" sz="2400" b="1" smtClean="0">
                <a:latin typeface="Times New Roman" pitchFamily="18" charset="0"/>
                <a:cs typeface="Times New Roman" pitchFamily="18" charset="0"/>
              </a:rPr>
              <a:t>4. What does the woman think of the ski area?</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    A. It’s a bit crowded.	B. It has poor snow.	   C. It’s too far away.</a:t>
            </a:r>
            <a:endParaRPr lang="zh-CN" altLang="en-US" sz="2400" b="1">
              <a:latin typeface="Times New Roman" pitchFamily="18" charset="0"/>
              <a:cs typeface="Times New Roman" pitchFamily="18" charset="0"/>
            </a:endParaRPr>
          </a:p>
        </p:txBody>
      </p:sp>
      <p:sp>
        <p:nvSpPr>
          <p:cNvPr id="8" name="文本框 3" title=""/>
          <p:cNvSpPr txBox="1"/>
          <p:nvPr>
            <p:custDataLst>
              <p:tags r:id="rId3"/>
            </p:custDataLst>
          </p:nvPr>
        </p:nvSpPr>
        <p:spPr>
          <a:xfrm>
            <a:off x="301845" y="3381375"/>
            <a:ext cx="11604405" cy="1131079"/>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】4. A。</a:t>
            </a:r>
            <a:r>
              <a:rPr lang="zh-CN" altLang="en-US" sz="2000" b="1" smtClean="0">
                <a:solidFill>
                  <a:srgbClr val="FF00FF"/>
                </a:solidFill>
                <a:latin typeface="Times New Roman" pitchFamily="18" charset="0"/>
                <a:ea typeface="微软雅黑" pitchFamily="34" charset="-122"/>
                <a:cs typeface="Times New Roman" pitchFamily="18" charset="0"/>
              </a:rPr>
              <a:t>观点态度题。男士问女士是否经常在这里滑雪，并询问女士到目前为止她觉得这里怎么样。根据女士的回答“</a:t>
            </a:r>
            <a:r>
              <a:rPr lang="en-US" altLang="zh-CN" sz="2000" b="1" smtClean="0">
                <a:solidFill>
                  <a:srgbClr val="FF00FF"/>
                </a:solidFill>
                <a:latin typeface="Times New Roman" pitchFamily="18" charset="0"/>
                <a:ea typeface="微软雅黑" pitchFamily="34" charset="-122"/>
                <a:cs typeface="Times New Roman" pitchFamily="18" charset="0"/>
              </a:rPr>
              <a:t>The snow is brilliant. It would be better if there were fewer people.”</a:t>
            </a:r>
            <a:r>
              <a:rPr lang="zh-CN" altLang="en-US" sz="2000" b="1" smtClean="0">
                <a:solidFill>
                  <a:srgbClr val="FF00FF"/>
                </a:solidFill>
                <a:latin typeface="Times New Roman" pitchFamily="18" charset="0"/>
                <a:ea typeface="微软雅黑" pitchFamily="34" charset="-122"/>
                <a:cs typeface="Times New Roman" pitchFamily="18" charset="0"/>
              </a:rPr>
              <a:t>可知，女士觉得这里的雪非常棒，如果人少一点就更好了，即，女士认为这个滑雪区域有点拥挤。</a:t>
            </a:r>
          </a:p>
        </p:txBody>
      </p:sp>
      <p:sp>
        <p:nvSpPr>
          <p:cNvPr id="9" name="文本框 3" title=""/>
          <p:cNvSpPr txBox="1"/>
          <p:nvPr>
            <p:custDataLst>
              <p:tags r:id="rId4"/>
            </p:custDataLst>
          </p:nvPr>
        </p:nvSpPr>
        <p:spPr>
          <a:xfrm>
            <a:off x="290897" y="5044644"/>
            <a:ext cx="11596303" cy="1200329"/>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400" b="1" smtClean="0">
                <a:solidFill>
                  <a:srgbClr val="00B0F0"/>
                </a:solidFill>
                <a:latin typeface="微软雅黑" pitchFamily="34" charset="-122"/>
                <a:ea typeface="微软雅黑" pitchFamily="34" charset="-122"/>
              </a:rPr>
              <a:t>【</a:t>
            </a:r>
            <a:r>
              <a:rPr lang="zh-CN" altLang="en-US" sz="2400" b="1" smtClean="0">
                <a:solidFill>
                  <a:srgbClr val="00B0F0"/>
                </a:solidFill>
                <a:latin typeface="微软雅黑" pitchFamily="34" charset="-122"/>
                <a:ea typeface="微软雅黑" pitchFamily="34" charset="-122"/>
              </a:rPr>
              <a:t>语言知识</a:t>
            </a:r>
            <a:r>
              <a:rPr lang="en-US" altLang="zh-CN" sz="2400" b="1" smtClean="0">
                <a:solidFill>
                  <a:srgbClr val="00B0F0"/>
                </a:solidFill>
                <a:latin typeface="微软雅黑" pitchFamily="34" charset="-122"/>
                <a:ea typeface="微软雅黑" pitchFamily="34" charset="-122"/>
              </a:rPr>
              <a:t>】</a:t>
            </a:r>
          </a:p>
          <a:p>
            <a:r>
              <a:rPr lang="en-US" sz="2400" b="1" smtClean="0">
                <a:solidFill>
                  <a:srgbClr val="7030A0"/>
                </a:solidFill>
                <a:latin typeface="Times New Roman" pitchFamily="18" charset="0"/>
                <a:cs typeface="Times New Roman" pitchFamily="18" charset="0"/>
              </a:rPr>
              <a:t>*so far </a:t>
            </a:r>
            <a:r>
              <a:rPr lang="zh-CN" altLang="en-US" sz="2400" b="1" smtClean="0">
                <a:solidFill>
                  <a:srgbClr val="7030A0"/>
                </a:solidFill>
                <a:latin typeface="Times New Roman" pitchFamily="18" charset="0"/>
                <a:cs typeface="Times New Roman" pitchFamily="18" charset="0"/>
              </a:rPr>
              <a:t>到目前为止；迄今为止                </a:t>
            </a:r>
            <a:r>
              <a:rPr lang="en-US" sz="2400" b="1" smtClean="0">
                <a:solidFill>
                  <a:srgbClr val="7030A0"/>
                </a:solidFill>
                <a:latin typeface="Times New Roman" pitchFamily="18" charset="0"/>
                <a:cs typeface="Times New Roman" pitchFamily="18" charset="0"/>
              </a:rPr>
              <a:t>*brilliant adj. </a:t>
            </a:r>
            <a:r>
              <a:rPr lang="zh-CN" altLang="en-US" sz="2400" b="1" smtClean="0">
                <a:solidFill>
                  <a:srgbClr val="7030A0"/>
                </a:solidFill>
                <a:latin typeface="Times New Roman" pitchFamily="18" charset="0"/>
                <a:cs typeface="Times New Roman" pitchFamily="18" charset="0"/>
              </a:rPr>
              <a:t>非常明亮的；光辉夺目的</a:t>
            </a:r>
            <a:endParaRPr lang="zh-CN" altLang="en-US" sz="2400" smtClean="0">
              <a:solidFill>
                <a:srgbClr val="7030A0"/>
              </a:solidFill>
              <a:latin typeface="Times New Roman" pitchFamily="18" charset="0"/>
              <a:cs typeface="Times New Roman" pitchFamily="18" charset="0"/>
            </a:endParaRPr>
          </a:p>
          <a:p>
            <a:r>
              <a:rPr lang="en-US" sz="2400" b="1" smtClean="0">
                <a:solidFill>
                  <a:srgbClr val="7030A0"/>
                </a:solidFill>
                <a:latin typeface="Times New Roman" pitchFamily="18" charset="0"/>
                <a:cs typeface="Times New Roman" pitchFamily="18" charset="0"/>
              </a:rPr>
              <a:t>*how do you like ... =what do you think of... </a:t>
            </a:r>
            <a:r>
              <a:rPr lang="zh-CN" altLang="en-US" sz="2400" b="1" smtClean="0">
                <a:solidFill>
                  <a:srgbClr val="7030A0"/>
                </a:solidFill>
                <a:latin typeface="Times New Roman" pitchFamily="18" charset="0"/>
                <a:cs typeface="Times New Roman" pitchFamily="18" charset="0"/>
              </a:rPr>
              <a:t>你认为</a:t>
            </a:r>
            <a:r>
              <a:rPr lang="en-US" sz="2400" b="1" smtClean="0">
                <a:solidFill>
                  <a:srgbClr val="7030A0"/>
                </a:solidFill>
                <a:latin typeface="Times New Roman" pitchFamily="18" charset="0"/>
                <a:cs typeface="Times New Roman" pitchFamily="18" charset="0"/>
              </a:rPr>
              <a:t>...</a:t>
            </a:r>
            <a:r>
              <a:rPr lang="zh-CN" altLang="en-US" sz="2400" b="1" smtClean="0">
                <a:solidFill>
                  <a:srgbClr val="7030A0"/>
                </a:solidFill>
                <a:latin typeface="Times New Roman" pitchFamily="18" charset="0"/>
                <a:cs typeface="Times New Roman" pitchFamily="18" charset="0"/>
              </a:rPr>
              <a:t>怎么样</a:t>
            </a:r>
            <a:r>
              <a:rPr lang="en-US" sz="2400" b="1" smtClean="0">
                <a:solidFill>
                  <a:srgbClr val="7030A0"/>
                </a:solidFill>
                <a:latin typeface="Times New Roman" pitchFamily="18" charset="0"/>
                <a:cs typeface="Times New Roman" pitchFamily="18" charset="0"/>
              </a:rPr>
              <a:t>?</a:t>
            </a:r>
            <a:endParaRPr lang="zh-CN" altLang="en-US" sz="2400">
              <a:solidFill>
                <a:srgbClr val="7030A0"/>
              </a:solidFill>
              <a:latin typeface="Times New Roman" pitchFamily="18" charset="0"/>
              <a:cs typeface="Times New Roman" pitchFamily="18" charset="0"/>
            </a:endParaRPr>
          </a:p>
        </p:txBody>
      </p:sp>
      <p:pic>
        <p:nvPicPr>
          <p:cNvPr id="10" name="图片 9" title=""/>
          <p:cNvPicPr/>
          <p:nvPr/>
        </p:nvPicPr>
        <p:blipFill>
          <a:blip r:embed="rId5">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662868" y="646623"/>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29749" y="1298535"/>
            <a:ext cx="11586026" cy="153991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400" b="1" smtClean="0">
                <a:solidFill>
                  <a:srgbClr val="0000FF"/>
                </a:solidFill>
                <a:latin typeface="Times New Roman" pitchFamily="18" charset="0"/>
                <a:ea typeface="微软雅黑" pitchFamily="34" charset="-122"/>
                <a:cs typeface="Times New Roman" pitchFamily="18" charset="0"/>
              </a:rPr>
              <a:t>(Text 5) </a:t>
            </a:r>
            <a:r>
              <a:rPr lang="zh-CN" altLang="en-US" sz="2400" b="1" smtClean="0">
                <a:solidFill>
                  <a:srgbClr val="0000FF"/>
                </a:solidFill>
                <a:latin typeface="微软雅黑" pitchFamily="34" charset="-122"/>
                <a:ea typeface="微软雅黑" pitchFamily="34" charset="-122"/>
              </a:rPr>
              <a:t>话题：指路与目的地  词数：</a:t>
            </a:r>
            <a:r>
              <a:rPr lang="en-US" sz="2400" b="1" smtClean="0">
                <a:solidFill>
                  <a:srgbClr val="0000FF"/>
                </a:solidFill>
                <a:latin typeface="微软雅黑" pitchFamily="34" charset="-122"/>
                <a:ea typeface="微软雅黑" pitchFamily="34" charset="-122"/>
              </a:rPr>
              <a:t>28</a:t>
            </a:r>
            <a:r>
              <a:rPr lang="zh-CN" altLang="en-US" sz="2400" b="1" smtClean="0">
                <a:solidFill>
                  <a:srgbClr val="0000FF"/>
                </a:solidFill>
                <a:latin typeface="微软雅黑" pitchFamily="34" charset="-122"/>
                <a:ea typeface="微软雅黑" pitchFamily="34" charset="-122"/>
              </a:rPr>
              <a:t>；时间：</a:t>
            </a:r>
            <a:r>
              <a:rPr lang="en-US" sz="2400" b="1" smtClean="0">
                <a:solidFill>
                  <a:srgbClr val="0000FF"/>
                </a:solidFill>
                <a:latin typeface="微软雅黑" pitchFamily="34" charset="-122"/>
                <a:ea typeface="微软雅黑" pitchFamily="34" charset="-122"/>
              </a:rPr>
              <a:t>15″</a:t>
            </a:r>
            <a:r>
              <a:rPr lang="zh-CN" altLang="en-US" sz="2400" b="1" smtClean="0">
                <a:solidFill>
                  <a:srgbClr val="0000FF"/>
                </a:solidFill>
                <a:latin typeface="微软雅黑" pitchFamily="34" charset="-122"/>
                <a:ea typeface="微软雅黑" pitchFamily="34" charset="-122"/>
              </a:rPr>
              <a:t>；语速：</a:t>
            </a:r>
            <a:r>
              <a:rPr lang="en-US" sz="2400" b="1" smtClean="0">
                <a:solidFill>
                  <a:srgbClr val="0000FF"/>
                </a:solidFill>
                <a:latin typeface="微软雅黑" pitchFamily="34" charset="-122"/>
                <a:ea typeface="微软雅黑" pitchFamily="34" charset="-122"/>
              </a:rPr>
              <a:t>112</a:t>
            </a:r>
            <a:endParaRPr lang="en-US" altLang="zh-CN" sz="2400" b="1" smtClean="0">
              <a:solidFill>
                <a:srgbClr val="0000FF"/>
              </a:solidFill>
              <a:latin typeface="微软雅黑" pitchFamily="34" charset="-122"/>
              <a:ea typeface="微软雅黑" pitchFamily="34" charset="-122"/>
            </a:endParaRPr>
          </a:p>
          <a:p>
            <a:r>
              <a:rPr lang="en-US" sz="2400" b="1" smtClean="0">
                <a:latin typeface="Times New Roman" pitchFamily="18" charset="0"/>
                <a:cs typeface="Times New Roman" pitchFamily="18" charset="0"/>
              </a:rPr>
              <a:t>W: Now we've </a:t>
            </a:r>
            <a:r>
              <a:rPr lang="en-US" altLang="zh-CN" sz="2400" b="1" u="sng" smtClean="0">
                <a:solidFill>
                  <a:srgbClr val="FF0000"/>
                </a:solidFill>
                <a:latin typeface="Times New Roman" pitchFamily="18" charset="0"/>
                <a:ea typeface="+mj-ea"/>
                <a:cs typeface="Times New Roman" pitchFamily="18" charset="0"/>
              </a:rPr>
              <a:t>crossed</a:t>
            </a:r>
            <a:r>
              <a:rPr lang="en-US" sz="2400" b="1" smtClean="0">
                <a:latin typeface="Times New Roman" pitchFamily="18" charset="0"/>
                <a:cs typeface="Times New Roman" pitchFamily="18" charset="0"/>
              </a:rPr>
              <a:t> the stone bridge, turn right again. Look! Here's the Art Center. The Grand Theatre is two </a:t>
            </a:r>
            <a:r>
              <a:rPr lang="en-US" altLang="zh-CN" sz="2400" b="1" u="sng" smtClean="0">
                <a:solidFill>
                  <a:srgbClr val="FF0000"/>
                </a:solidFill>
                <a:latin typeface="Times New Roman" pitchFamily="18" charset="0"/>
                <a:ea typeface="+mj-ea"/>
                <a:cs typeface="Times New Roman" pitchFamily="18" charset="0"/>
              </a:rPr>
              <a:t>blocks</a:t>
            </a:r>
            <a:r>
              <a:rPr lang="en-US" sz="2400" b="1" smtClean="0">
                <a:latin typeface="Times New Roman" pitchFamily="18" charset="0"/>
                <a:cs typeface="Times New Roman" pitchFamily="18" charset="0"/>
              </a:rPr>
              <a:t> away.</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M: Nearly there. We won‘t be late then.</a:t>
            </a:r>
            <a:endParaRPr lang="zh-CN" altLang="en-US" sz="2400" b="1" smtClean="0">
              <a:solidFill>
                <a:schemeClr val="tx1"/>
              </a:solidFill>
              <a:latin typeface="Times New Roman" pitchFamily="18" charset="0"/>
              <a:ea typeface="+mj-ea"/>
              <a:cs typeface="Times New Roman" pitchFamily="18" charset="0"/>
            </a:endParaRPr>
          </a:p>
        </p:txBody>
      </p:sp>
      <p:sp>
        <p:nvSpPr>
          <p:cNvPr id="7" name="文本框 10" title=""/>
          <p:cNvSpPr txBox="1"/>
          <p:nvPr>
            <p:custDataLst>
              <p:tags r:id="rId2"/>
            </p:custDataLst>
          </p:nvPr>
        </p:nvSpPr>
        <p:spPr>
          <a:xfrm>
            <a:off x="294646" y="221453"/>
            <a:ext cx="11602079" cy="830997"/>
          </a:xfrm>
          <a:prstGeom prst="rect">
            <a:avLst/>
          </a:prstGeom>
          <a:solidFill>
            <a:srgbClr val="FFFFCC"/>
          </a:solidFill>
          <a:ln w="19050">
            <a:solidFill>
              <a:schemeClr val="tx1"/>
            </a:solidFill>
          </a:ln>
        </p:spPr>
        <p:txBody>
          <a:bodyPr wrap="square" anchor="t" anchorCtr="0">
            <a:spAutoFit/>
          </a:bodyPr>
          <a:lstStyle/>
          <a:p>
            <a:r>
              <a:rPr lang="en-US" sz="2400" b="1" smtClean="0">
                <a:latin typeface="Times New Roman" pitchFamily="18" charset="0"/>
                <a:cs typeface="Times New Roman" pitchFamily="18" charset="0"/>
              </a:rPr>
              <a:t>5. Where are the speakers heading?</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     A. The Art Centre.  B. The Grand Theatre.    C. The Stone Bridge.</a:t>
            </a:r>
            <a:r>
              <a:rPr lang="en-US" altLang="zh-CN" sz="2400" b="1" smtClean="0">
                <a:latin typeface="Times New Roman" pitchFamily="18" charset="0"/>
                <a:ea typeface="+mj-ea"/>
                <a:cs typeface="Times New Roman" pitchFamily="18" charset="0"/>
              </a:rPr>
              <a:t>	</a:t>
            </a:r>
            <a:endParaRPr lang="en-US" altLang="zh-CN" sz="2400" b="1">
              <a:latin typeface="Times New Roman" pitchFamily="18" charset="0"/>
              <a:ea typeface="+mj-ea"/>
              <a:cs typeface="Times New Roman" pitchFamily="18" charset="0"/>
            </a:endParaRPr>
          </a:p>
        </p:txBody>
      </p:sp>
      <p:sp>
        <p:nvSpPr>
          <p:cNvPr id="8" name="文本框 3" title=""/>
          <p:cNvSpPr txBox="1"/>
          <p:nvPr>
            <p:custDataLst>
              <p:tags r:id="rId3"/>
            </p:custDataLst>
          </p:nvPr>
        </p:nvSpPr>
        <p:spPr>
          <a:xfrm>
            <a:off x="301845" y="3106520"/>
            <a:ext cx="11604405" cy="1131079"/>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】5. B。</a:t>
            </a:r>
            <a:r>
              <a:rPr lang="zh-CN" altLang="en-US" sz="2000" b="1" smtClean="0">
                <a:solidFill>
                  <a:srgbClr val="FF00FF"/>
                </a:solidFill>
                <a:latin typeface="Times New Roman" pitchFamily="18" charset="0"/>
                <a:ea typeface="微软雅黑" pitchFamily="34" charset="-122"/>
                <a:cs typeface="Times New Roman" pitchFamily="18" charset="0"/>
              </a:rPr>
              <a:t>推理判断题。女士对男士说现在他们已经过了石桥，并提到大剧院在两个街区之外。根据男士的话“</a:t>
            </a:r>
            <a:r>
              <a:rPr lang="en-US" altLang="zh-CN" sz="2000" b="1" smtClean="0">
                <a:solidFill>
                  <a:srgbClr val="FF00FF"/>
                </a:solidFill>
                <a:latin typeface="Times New Roman" pitchFamily="18" charset="0"/>
                <a:ea typeface="微软雅黑" pitchFamily="34" charset="-122"/>
                <a:cs typeface="Times New Roman" pitchFamily="18" charset="0"/>
              </a:rPr>
              <a:t>Nearly there. We won’t be late then.”</a:t>
            </a:r>
            <a:r>
              <a:rPr lang="zh-CN" altLang="en-US" sz="2000" b="1" smtClean="0">
                <a:solidFill>
                  <a:srgbClr val="FF00FF"/>
                </a:solidFill>
                <a:latin typeface="Times New Roman" pitchFamily="18" charset="0"/>
                <a:ea typeface="微软雅黑" pitchFamily="34" charset="-122"/>
                <a:cs typeface="Times New Roman" pitchFamily="18" charset="0"/>
              </a:rPr>
              <a:t>可知，男士说快到那里了，他们不会迟到的。由此可以推断出，说话者在去大剧院的路上。</a:t>
            </a:r>
          </a:p>
        </p:txBody>
      </p:sp>
      <p:sp>
        <p:nvSpPr>
          <p:cNvPr id="9" name="文本框 3" title=""/>
          <p:cNvSpPr txBox="1"/>
          <p:nvPr>
            <p:custDataLst>
              <p:tags r:id="rId4"/>
            </p:custDataLst>
          </p:nvPr>
        </p:nvSpPr>
        <p:spPr>
          <a:xfrm>
            <a:off x="300422" y="4558869"/>
            <a:ext cx="11596303" cy="830997"/>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400" b="1" smtClean="0">
                <a:solidFill>
                  <a:srgbClr val="00B0F0"/>
                </a:solidFill>
                <a:latin typeface="微软雅黑" pitchFamily="34" charset="-122"/>
                <a:ea typeface="微软雅黑" pitchFamily="34" charset="-122"/>
              </a:rPr>
              <a:t>【</a:t>
            </a:r>
            <a:r>
              <a:rPr lang="zh-CN" altLang="en-US" sz="2400" b="1" smtClean="0">
                <a:solidFill>
                  <a:srgbClr val="00B0F0"/>
                </a:solidFill>
                <a:latin typeface="微软雅黑" pitchFamily="34" charset="-122"/>
                <a:ea typeface="微软雅黑" pitchFamily="34" charset="-122"/>
              </a:rPr>
              <a:t>语言知识</a:t>
            </a:r>
            <a:r>
              <a:rPr lang="en-US" altLang="zh-CN" sz="2400" b="1" smtClean="0">
                <a:solidFill>
                  <a:srgbClr val="00B0F0"/>
                </a:solidFill>
                <a:latin typeface="微软雅黑" pitchFamily="34" charset="-122"/>
                <a:ea typeface="微软雅黑" pitchFamily="34" charset="-122"/>
              </a:rPr>
              <a:t>】</a:t>
            </a:r>
          </a:p>
          <a:p>
            <a:r>
              <a:rPr lang="en-US" sz="2400" b="1" smtClean="0">
                <a:solidFill>
                  <a:srgbClr val="7030A0"/>
                </a:solidFill>
                <a:latin typeface="Times New Roman" pitchFamily="18" charset="0"/>
                <a:cs typeface="Times New Roman" pitchFamily="18" charset="0"/>
              </a:rPr>
              <a:t>*cross v.</a:t>
            </a:r>
            <a:r>
              <a:rPr lang="zh-CN" altLang="en-US" sz="2400" b="1" smtClean="0">
                <a:solidFill>
                  <a:srgbClr val="7030A0"/>
                </a:solidFill>
                <a:latin typeface="Times New Roman" pitchFamily="18" charset="0"/>
                <a:cs typeface="Times New Roman" pitchFamily="18" charset="0"/>
              </a:rPr>
              <a:t>穿过                               </a:t>
            </a:r>
            <a:r>
              <a:rPr lang="en-US" sz="2400" b="1" smtClean="0">
                <a:solidFill>
                  <a:srgbClr val="7030A0"/>
                </a:solidFill>
                <a:latin typeface="Times New Roman" pitchFamily="18" charset="0"/>
                <a:cs typeface="Times New Roman" pitchFamily="18" charset="0"/>
              </a:rPr>
              <a:t>*block n.</a:t>
            </a:r>
            <a:r>
              <a:rPr lang="zh-CN" altLang="en-US" sz="2400" b="1" smtClean="0">
                <a:solidFill>
                  <a:srgbClr val="7030A0"/>
                </a:solidFill>
                <a:latin typeface="Times New Roman" pitchFamily="18" charset="0"/>
                <a:cs typeface="Times New Roman" pitchFamily="18" charset="0"/>
              </a:rPr>
              <a:t>街区</a:t>
            </a:r>
            <a:endParaRPr lang="zh-CN" altLang="en-US" sz="2400" b="1" smtClean="0">
              <a:solidFill>
                <a:srgbClr val="7030A0"/>
              </a:solidFill>
              <a:latin typeface="Times New Roman" pitchFamily="18" charset="0"/>
              <a:ea typeface="微软雅黑" pitchFamily="34" charset="-122"/>
              <a:cs typeface="Times New Roman" pitchFamily="18" charset="0"/>
            </a:endParaRPr>
          </a:p>
        </p:txBody>
      </p:sp>
      <p:pic>
        <p:nvPicPr>
          <p:cNvPr id="10" name="图片 9" title=""/>
          <p:cNvPicPr/>
          <p:nvPr/>
        </p:nvPicPr>
        <p:blipFill>
          <a:blip r:embed="rId5">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3339393" y="684723"/>
            <a:ext cx="206826" cy="285716"/>
          </a:xfrm>
          <a:prstGeom prst="rect">
            <a:avLst/>
          </a:prstGeom>
        </p:spPr>
      </p:pic>
      <p:pic>
        <p:nvPicPr>
          <p:cNvPr id="2" name="Picture 2"/>
          <p:cNvPicPr>
            <a:picLocks noChangeAspect="1"/>
          </p:cNvPicPr>
          <p:nvPr/>
        </p:nvPicPr>
        <p:blipFill>
          <a:blip r:embed="rId6"/>
          <a:stretch>
            <a:fillRect/>
          </a:stretch>
        </p:blipFill>
        <p:spPr>
          <a:xfrm flipH="1">
            <a:off x="11811000" y="10604500"/>
            <a:ext cx="0" cy="0"/>
          </a:xfrm>
          <a:prstGeom prst="rect">
            <a:avLst/>
          </a:prstGeom>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29749" y="1450934"/>
            <a:ext cx="11586026" cy="3149641"/>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700"/>
              </a:lnSpc>
            </a:pPr>
            <a:r>
              <a:rPr lang="en-US" altLang="en-US" sz="2400" b="1" smtClean="0">
                <a:solidFill>
                  <a:srgbClr val="0000FF"/>
                </a:solidFill>
                <a:latin typeface="Times New Roman" pitchFamily="18" charset="0"/>
                <a:ea typeface="微软雅黑" pitchFamily="34" charset="-122"/>
                <a:cs typeface="Times New Roman" pitchFamily="18" charset="0"/>
              </a:rPr>
              <a:t>(Text 6)</a:t>
            </a:r>
            <a:r>
              <a:rPr lang="zh-CN" altLang="en-US" sz="2400" b="1" smtClean="0">
                <a:solidFill>
                  <a:srgbClr val="0000FF"/>
                </a:solidFill>
                <a:latin typeface="微软雅黑" pitchFamily="34" charset="-122"/>
                <a:ea typeface="微软雅黑" pitchFamily="34" charset="-122"/>
              </a:rPr>
              <a:t>话题：交通违章处理，学校区域超速  词数：</a:t>
            </a:r>
            <a:r>
              <a:rPr lang="en-US" sz="2400" b="1" smtClean="0">
                <a:solidFill>
                  <a:srgbClr val="0000FF"/>
                </a:solidFill>
                <a:latin typeface="微软雅黑" pitchFamily="34" charset="-122"/>
                <a:ea typeface="微软雅黑" pitchFamily="34" charset="-122"/>
              </a:rPr>
              <a:t>71</a:t>
            </a:r>
            <a:r>
              <a:rPr lang="zh-CN" altLang="en-US" sz="2400" b="1" smtClean="0">
                <a:solidFill>
                  <a:srgbClr val="0000FF"/>
                </a:solidFill>
                <a:latin typeface="微软雅黑" pitchFamily="34" charset="-122"/>
                <a:ea typeface="微软雅黑" pitchFamily="34" charset="-122"/>
              </a:rPr>
              <a:t>；时间：</a:t>
            </a:r>
            <a:r>
              <a:rPr lang="en-US" sz="2400" b="1" smtClean="0">
                <a:solidFill>
                  <a:srgbClr val="0000FF"/>
                </a:solidFill>
                <a:latin typeface="微软雅黑" pitchFamily="34" charset="-122"/>
                <a:ea typeface="微软雅黑" pitchFamily="34" charset="-122"/>
              </a:rPr>
              <a:t>31″</a:t>
            </a:r>
            <a:r>
              <a:rPr lang="zh-CN" altLang="en-US" sz="2400" b="1" smtClean="0">
                <a:solidFill>
                  <a:srgbClr val="0000FF"/>
                </a:solidFill>
                <a:latin typeface="微软雅黑" pitchFamily="34" charset="-122"/>
                <a:ea typeface="微软雅黑" pitchFamily="34" charset="-122"/>
              </a:rPr>
              <a:t>；语速：</a:t>
            </a:r>
            <a:r>
              <a:rPr lang="en-US" sz="2400" b="1" smtClean="0">
                <a:solidFill>
                  <a:srgbClr val="0000FF"/>
                </a:solidFill>
                <a:latin typeface="微软雅黑" pitchFamily="34" charset="-122"/>
                <a:ea typeface="微软雅黑" pitchFamily="34" charset="-122"/>
              </a:rPr>
              <a:t>137</a:t>
            </a:r>
            <a:endParaRPr lang="en-US" altLang="zh-CN" sz="2400" b="1" smtClean="0">
              <a:solidFill>
                <a:srgbClr val="0000FF"/>
              </a:solidFill>
              <a:latin typeface="微软雅黑" pitchFamily="34" charset="-122"/>
              <a:ea typeface="微软雅黑" pitchFamily="34" charset="-122"/>
            </a:endParaRPr>
          </a:p>
          <a:p>
            <a:pPr algn="just">
              <a:lnSpc>
                <a:spcPts val="2700"/>
              </a:lnSpc>
            </a:pPr>
            <a:r>
              <a:rPr lang="en-US" sz="2400" b="1" smtClean="0">
                <a:latin typeface="Times New Roman" pitchFamily="18" charset="0"/>
                <a:cs typeface="Times New Roman" pitchFamily="18" charset="0"/>
              </a:rPr>
              <a:t>M: Miss, I'll need to see your </a:t>
            </a:r>
            <a:r>
              <a:rPr lang="en-US" altLang="zh-CN" sz="2400" b="1" u="sng" smtClean="0">
                <a:solidFill>
                  <a:srgbClr val="FF0000"/>
                </a:solidFill>
                <a:latin typeface="Times New Roman" pitchFamily="18" charset="0"/>
                <a:ea typeface="+mj-ea"/>
                <a:cs typeface="Times New Roman" pitchFamily="18" charset="0"/>
              </a:rPr>
              <a:t>driver's</a:t>
            </a:r>
            <a:r>
              <a:rPr lang="en-US" sz="2400" b="1" u="sng" smtClean="0">
                <a:latin typeface="Times New Roman" pitchFamily="18" charset="0"/>
                <a:cs typeface="Times New Roman" pitchFamily="18" charset="0"/>
              </a:rPr>
              <a:t> </a:t>
            </a:r>
            <a:r>
              <a:rPr lang="en-US" altLang="zh-CN" sz="2400" b="1" u="sng" smtClean="0">
                <a:solidFill>
                  <a:srgbClr val="FF0000"/>
                </a:solidFill>
                <a:latin typeface="Times New Roman" pitchFamily="18" charset="0"/>
                <a:ea typeface="+mj-ea"/>
                <a:cs typeface="Times New Roman" pitchFamily="18" charset="0"/>
              </a:rPr>
              <a:t>license</a:t>
            </a:r>
            <a:r>
              <a:rPr lang="en-US" sz="2400" b="1" smtClean="0">
                <a:latin typeface="Times New Roman" pitchFamily="18" charset="0"/>
                <a:cs typeface="Times New Roman" pitchFamily="18" charset="0"/>
              </a:rPr>
              <a:t>.</a:t>
            </a:r>
            <a:endParaRPr lang="zh-CN" altLang="en-US" sz="2400" b="1" smtClean="0">
              <a:latin typeface="Times New Roman" pitchFamily="18" charset="0"/>
              <a:cs typeface="Times New Roman" pitchFamily="18" charset="0"/>
            </a:endParaRPr>
          </a:p>
          <a:p>
            <a:pPr algn="just">
              <a:lnSpc>
                <a:spcPts val="2700"/>
              </a:lnSpc>
            </a:pPr>
            <a:r>
              <a:rPr lang="en-US" sz="2400" b="1" smtClean="0">
                <a:latin typeface="Times New Roman" pitchFamily="18" charset="0"/>
                <a:cs typeface="Times New Roman" pitchFamily="18" charset="0"/>
              </a:rPr>
              <a:t>W: Was I doing something wrong?</a:t>
            </a:r>
            <a:endParaRPr lang="zh-CN" altLang="en-US" sz="2400" b="1" smtClean="0">
              <a:latin typeface="Times New Roman" pitchFamily="18" charset="0"/>
              <a:cs typeface="Times New Roman" pitchFamily="18" charset="0"/>
            </a:endParaRPr>
          </a:p>
          <a:p>
            <a:pPr algn="just">
              <a:lnSpc>
                <a:spcPts val="2700"/>
              </a:lnSpc>
            </a:pPr>
            <a:r>
              <a:rPr lang="en-US" sz="2400" b="1" smtClean="0">
                <a:latin typeface="Times New Roman" pitchFamily="18" charset="0"/>
                <a:cs typeface="Times New Roman" pitchFamily="18" charset="0"/>
              </a:rPr>
              <a:t>M: (6)</a:t>
            </a:r>
            <a:r>
              <a:rPr lang="en-US" sz="2400" b="1" u="sng" smtClean="0">
                <a:latin typeface="Times New Roman" pitchFamily="18" charset="0"/>
                <a:cs typeface="Times New Roman" pitchFamily="18" charset="0"/>
              </a:rPr>
              <a:t>You're driving in a school </a:t>
            </a:r>
            <a:r>
              <a:rPr lang="en-US" altLang="zh-CN" sz="2400" b="1" u="sng" smtClean="0">
                <a:solidFill>
                  <a:srgbClr val="FF0000"/>
                </a:solidFill>
                <a:latin typeface="Times New Roman" pitchFamily="18" charset="0"/>
                <a:ea typeface="+mj-ea"/>
                <a:cs typeface="Times New Roman" pitchFamily="18" charset="0"/>
              </a:rPr>
              <a:t>zone</a:t>
            </a:r>
            <a:r>
              <a:rPr lang="en-US" sz="2400" b="1" u="sng" smtClean="0">
                <a:latin typeface="Times New Roman" pitchFamily="18" charset="0"/>
                <a:cs typeface="Times New Roman" pitchFamily="18" charset="0"/>
              </a:rPr>
              <a:t> around the time school </a:t>
            </a:r>
            <a:r>
              <a:rPr lang="en-US" sz="2400" b="1" u="sng" smtClean="0">
                <a:solidFill>
                  <a:srgbClr val="FF0000"/>
                </a:solidFill>
                <a:latin typeface="Times New Roman" pitchFamily="18" charset="0"/>
                <a:cs typeface="Times New Roman" pitchFamily="18" charset="0"/>
              </a:rPr>
              <a:t>lets out</a:t>
            </a:r>
            <a:r>
              <a:rPr lang="en-US" sz="2400" b="1" u="sng" smtClean="0">
                <a:latin typeface="Times New Roman" pitchFamily="18" charset="0"/>
                <a:cs typeface="Times New Roman" pitchFamily="18" charset="0"/>
              </a:rPr>
              <a:t>. The speed limit is 15 miles an hour, and you were going 35.</a:t>
            </a:r>
            <a:endParaRPr lang="zh-CN" altLang="en-US" sz="2400" b="1" u="sng" smtClean="0">
              <a:latin typeface="Times New Roman" pitchFamily="18" charset="0"/>
              <a:cs typeface="Times New Roman" pitchFamily="18" charset="0"/>
            </a:endParaRPr>
          </a:p>
          <a:p>
            <a:pPr algn="just">
              <a:lnSpc>
                <a:spcPts val="2700"/>
              </a:lnSpc>
            </a:pPr>
            <a:r>
              <a:rPr lang="en-US" sz="2400" b="1" smtClean="0">
                <a:latin typeface="Times New Roman" pitchFamily="18" charset="0"/>
                <a:cs typeface="Times New Roman" pitchFamily="18" charset="0"/>
              </a:rPr>
              <a:t>W: But it's only 2:10 p.m. The students aren't </a:t>
            </a:r>
            <a:r>
              <a:rPr lang="en-US" sz="2400" b="1" smtClean="0">
                <a:solidFill>
                  <a:srgbClr val="FF0000"/>
                </a:solidFill>
                <a:latin typeface="Times New Roman" pitchFamily="18" charset="0"/>
                <a:cs typeface="Times New Roman" pitchFamily="18" charset="0"/>
              </a:rPr>
              <a:t>dismissed</a:t>
            </a:r>
            <a:r>
              <a:rPr lang="en-US" sz="2400" b="1" smtClean="0">
                <a:latin typeface="Times New Roman" pitchFamily="18" charset="0"/>
                <a:cs typeface="Times New Roman" pitchFamily="18" charset="0"/>
              </a:rPr>
              <a:t> until 3:30.</a:t>
            </a:r>
            <a:endParaRPr lang="zh-CN" altLang="en-US" sz="2400" b="1" smtClean="0">
              <a:latin typeface="Times New Roman" pitchFamily="18" charset="0"/>
              <a:cs typeface="Times New Roman" pitchFamily="18" charset="0"/>
            </a:endParaRPr>
          </a:p>
          <a:p>
            <a:pPr algn="just">
              <a:lnSpc>
                <a:spcPts val="2700"/>
              </a:lnSpc>
            </a:pPr>
            <a:r>
              <a:rPr lang="en-US" sz="2400" b="1" smtClean="0">
                <a:latin typeface="Times New Roman" pitchFamily="18" charset="0"/>
                <a:cs typeface="Times New Roman" pitchFamily="18" charset="0"/>
              </a:rPr>
              <a:t>M: Today is Wednesday. Students are dismissed an hour and a half earlier on Wednesdays.</a:t>
            </a:r>
            <a:endParaRPr lang="zh-CN" altLang="en-US" sz="2400" b="1" smtClean="0">
              <a:latin typeface="Times New Roman" pitchFamily="18" charset="0"/>
              <a:cs typeface="Times New Roman" pitchFamily="18" charset="0"/>
            </a:endParaRPr>
          </a:p>
          <a:p>
            <a:pPr algn="just">
              <a:lnSpc>
                <a:spcPts val="2700"/>
              </a:lnSpc>
            </a:pPr>
            <a:r>
              <a:rPr lang="en-US" sz="2400" b="1" smtClean="0">
                <a:latin typeface="Times New Roman" pitchFamily="18" charset="0"/>
                <a:cs typeface="Times New Roman" pitchFamily="18" charset="0"/>
              </a:rPr>
              <a:t>W: Oh, no, you're right. I just forgot that.</a:t>
            </a:r>
            <a:endParaRPr lang="zh-CN" altLang="en-US" sz="2400" b="1">
              <a:latin typeface="Times New Roman" pitchFamily="18" charset="0"/>
              <a:cs typeface="Times New Roman" pitchFamily="18" charset="0"/>
            </a:endParaRPr>
          </a:p>
        </p:txBody>
      </p:sp>
      <p:sp>
        <p:nvSpPr>
          <p:cNvPr id="7" name="文本框 10" title=""/>
          <p:cNvSpPr txBox="1"/>
          <p:nvPr>
            <p:custDataLst>
              <p:tags r:id="rId2"/>
            </p:custDataLst>
          </p:nvPr>
        </p:nvSpPr>
        <p:spPr>
          <a:xfrm>
            <a:off x="304171" y="192878"/>
            <a:ext cx="11602079" cy="1200329"/>
          </a:xfrm>
          <a:prstGeom prst="rect">
            <a:avLst/>
          </a:prstGeom>
          <a:solidFill>
            <a:srgbClr val="FFFFCC"/>
          </a:solidFill>
          <a:ln w="19050">
            <a:solidFill>
              <a:schemeClr val="tx1"/>
            </a:solidFill>
          </a:ln>
        </p:spPr>
        <p:txBody>
          <a:bodyPr wrap="square" anchor="t" anchorCtr="0">
            <a:spAutoFit/>
          </a:bodyPr>
          <a:lstStyle/>
          <a:p>
            <a:r>
              <a:rPr lang="en-US" sz="2400" b="1" smtClean="0">
                <a:latin typeface="Times New Roman" pitchFamily="18" charset="0"/>
                <a:cs typeface="Times New Roman" pitchFamily="18" charset="0"/>
              </a:rPr>
              <a:t>6. What did the woman do?</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     A. She went over the speed limit.            B. She parked in a school zone.</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     C. She drove through a red light.</a:t>
            </a:r>
            <a:endParaRPr lang="zh-CN" altLang="en-US" sz="2400" b="1">
              <a:latin typeface="Times New Roman" pitchFamily="18" charset="0"/>
              <a:cs typeface="Times New Roman" pitchFamily="18" charset="0"/>
            </a:endParaRPr>
          </a:p>
        </p:txBody>
      </p:sp>
      <p:sp>
        <p:nvSpPr>
          <p:cNvPr id="8" name="文本框 3" title=""/>
          <p:cNvSpPr txBox="1"/>
          <p:nvPr>
            <p:custDataLst>
              <p:tags r:id="rId3"/>
            </p:custDataLst>
          </p:nvPr>
        </p:nvSpPr>
        <p:spPr>
          <a:xfrm>
            <a:off x="352425" y="4725770"/>
            <a:ext cx="11553825" cy="1823576"/>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】6.A。</a:t>
            </a:r>
            <a:r>
              <a:rPr lang="zh-CN" altLang="en-US" sz="2000" b="1" smtClean="0">
                <a:solidFill>
                  <a:srgbClr val="FF00FF"/>
                </a:solidFill>
                <a:latin typeface="Times New Roman" pitchFamily="18" charset="0"/>
                <a:ea typeface="微软雅黑" pitchFamily="34" charset="-122"/>
                <a:cs typeface="Times New Roman" pitchFamily="18" charset="0"/>
              </a:rPr>
              <a:t>事实细节题。男士提出要查看女士的驾驶证，女士询问男士自己是否做错了什么。根据男士的话</a:t>
            </a:r>
            <a:r>
              <a:rPr lang="en-US" altLang="zh-CN" sz="2000" b="1" smtClean="0">
                <a:solidFill>
                  <a:srgbClr val="FF00FF"/>
                </a:solidFill>
                <a:latin typeface="Times New Roman" pitchFamily="18" charset="0"/>
                <a:ea typeface="微软雅黑" pitchFamily="34" charset="-122"/>
                <a:cs typeface="Times New Roman" pitchFamily="18" charset="0"/>
              </a:rPr>
              <a:t>You’re driving in a school zone around the time school lets out. The speed limit is 15 miles an hour, and you were going 35.</a:t>
            </a:r>
            <a:r>
              <a:rPr lang="zh-CN" altLang="en-US" sz="2000" b="1" smtClean="0">
                <a:solidFill>
                  <a:srgbClr val="FF00FF"/>
                </a:solidFill>
                <a:latin typeface="Times New Roman" pitchFamily="18" charset="0"/>
                <a:ea typeface="微软雅黑" pitchFamily="34" charset="-122"/>
                <a:cs typeface="Times New Roman" pitchFamily="18" charset="0"/>
              </a:rPr>
              <a:t>可知，女士在学校放学的时候在学校区域（超速）开车。此区域限速每小时</a:t>
            </a:r>
            <a:r>
              <a:rPr lang="en-US" altLang="zh-CN" sz="2000" b="1" smtClean="0">
                <a:solidFill>
                  <a:srgbClr val="FF00FF"/>
                </a:solidFill>
                <a:latin typeface="Times New Roman" pitchFamily="18" charset="0"/>
                <a:ea typeface="微软雅黑" pitchFamily="34" charset="-122"/>
                <a:cs typeface="Times New Roman" pitchFamily="18" charset="0"/>
              </a:rPr>
              <a:t>15</a:t>
            </a:r>
            <a:r>
              <a:rPr lang="zh-CN" altLang="en-US" sz="2000" b="1" smtClean="0">
                <a:solidFill>
                  <a:srgbClr val="FF00FF"/>
                </a:solidFill>
                <a:latin typeface="Times New Roman" pitchFamily="18" charset="0"/>
                <a:ea typeface="微软雅黑" pitchFamily="34" charset="-122"/>
                <a:cs typeface="Times New Roman" pitchFamily="18" charset="0"/>
              </a:rPr>
              <a:t>英里，而她开到了每小时</a:t>
            </a:r>
            <a:r>
              <a:rPr lang="en-US" altLang="zh-CN" sz="2000" b="1" smtClean="0">
                <a:solidFill>
                  <a:srgbClr val="FF00FF"/>
                </a:solidFill>
                <a:latin typeface="Times New Roman" pitchFamily="18" charset="0"/>
                <a:ea typeface="微软雅黑" pitchFamily="34" charset="-122"/>
                <a:cs typeface="Times New Roman" pitchFamily="18" charset="0"/>
              </a:rPr>
              <a:t>35</a:t>
            </a:r>
            <a:r>
              <a:rPr lang="zh-CN" altLang="en-US" sz="2000" b="1" smtClean="0">
                <a:solidFill>
                  <a:srgbClr val="FF00FF"/>
                </a:solidFill>
                <a:latin typeface="Times New Roman" pitchFamily="18" charset="0"/>
                <a:ea typeface="微软雅黑" pitchFamily="34" charset="-122"/>
                <a:cs typeface="Times New Roman" pitchFamily="18" charset="0"/>
              </a:rPr>
              <a:t>英里。由此可知，女士超速了。正确选项是对原文意思提炼总结，并进行了同义转述。</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777168" y="656148"/>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39274" y="1088984"/>
            <a:ext cx="11586026" cy="319726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700"/>
              </a:lnSpc>
            </a:pPr>
            <a:r>
              <a:rPr lang="en-US" altLang="en-US" sz="2400" b="1" smtClean="0">
                <a:solidFill>
                  <a:srgbClr val="0000FF"/>
                </a:solidFill>
                <a:latin typeface="Times New Roman" pitchFamily="18" charset="0"/>
                <a:ea typeface="微软雅黑" pitchFamily="34" charset="-122"/>
                <a:cs typeface="Times New Roman" pitchFamily="18" charset="0"/>
              </a:rPr>
              <a:t>(Text 6)</a:t>
            </a:r>
            <a:r>
              <a:rPr lang="zh-CN" altLang="en-US" sz="2400" b="1" smtClean="0">
                <a:solidFill>
                  <a:srgbClr val="0000FF"/>
                </a:solidFill>
                <a:latin typeface="微软雅黑" pitchFamily="34" charset="-122"/>
                <a:ea typeface="微软雅黑" pitchFamily="34" charset="-122"/>
              </a:rPr>
              <a:t>话题：交通违章处理，学校区域超速  词数：</a:t>
            </a:r>
            <a:r>
              <a:rPr lang="en-US" sz="2400" b="1" smtClean="0">
                <a:solidFill>
                  <a:srgbClr val="0000FF"/>
                </a:solidFill>
                <a:latin typeface="微软雅黑" pitchFamily="34" charset="-122"/>
                <a:ea typeface="微软雅黑" pitchFamily="34" charset="-122"/>
              </a:rPr>
              <a:t>71</a:t>
            </a:r>
            <a:r>
              <a:rPr lang="zh-CN" altLang="en-US" sz="2400" b="1" smtClean="0">
                <a:solidFill>
                  <a:srgbClr val="0000FF"/>
                </a:solidFill>
                <a:latin typeface="微软雅黑" pitchFamily="34" charset="-122"/>
                <a:ea typeface="微软雅黑" pitchFamily="34" charset="-122"/>
              </a:rPr>
              <a:t>；时间：</a:t>
            </a:r>
            <a:r>
              <a:rPr lang="en-US" sz="2400" b="1" smtClean="0">
                <a:solidFill>
                  <a:srgbClr val="0000FF"/>
                </a:solidFill>
                <a:latin typeface="微软雅黑" pitchFamily="34" charset="-122"/>
                <a:ea typeface="微软雅黑" pitchFamily="34" charset="-122"/>
              </a:rPr>
              <a:t>31″</a:t>
            </a:r>
            <a:r>
              <a:rPr lang="zh-CN" altLang="en-US" sz="2400" b="1" smtClean="0">
                <a:solidFill>
                  <a:srgbClr val="0000FF"/>
                </a:solidFill>
                <a:latin typeface="微软雅黑" pitchFamily="34" charset="-122"/>
                <a:ea typeface="微软雅黑" pitchFamily="34" charset="-122"/>
              </a:rPr>
              <a:t>；语速：</a:t>
            </a:r>
            <a:r>
              <a:rPr lang="en-US" sz="2400" b="1" smtClean="0">
                <a:solidFill>
                  <a:srgbClr val="0000FF"/>
                </a:solidFill>
                <a:latin typeface="微软雅黑" pitchFamily="34" charset="-122"/>
                <a:ea typeface="微软雅黑" pitchFamily="34" charset="-122"/>
              </a:rPr>
              <a:t>137</a:t>
            </a:r>
            <a:endParaRPr lang="en-US" altLang="zh-CN" sz="2400" b="1" smtClean="0">
              <a:solidFill>
                <a:srgbClr val="0000FF"/>
              </a:solidFill>
              <a:latin typeface="微软雅黑" pitchFamily="34" charset="-122"/>
              <a:ea typeface="微软雅黑" pitchFamily="34" charset="-122"/>
            </a:endParaRPr>
          </a:p>
          <a:p>
            <a:pPr algn="just">
              <a:lnSpc>
                <a:spcPts val="2700"/>
              </a:lnSpc>
            </a:pPr>
            <a:r>
              <a:rPr lang="en-US" sz="2400" b="1" smtClean="0">
                <a:latin typeface="Times New Roman" pitchFamily="18" charset="0"/>
                <a:cs typeface="Times New Roman" pitchFamily="18" charset="0"/>
              </a:rPr>
              <a:t>M: Miss, I'll need to see your </a:t>
            </a:r>
            <a:r>
              <a:rPr lang="en-US" altLang="zh-CN" sz="2400" b="1" u="sng" smtClean="0">
                <a:solidFill>
                  <a:srgbClr val="FF0000"/>
                </a:solidFill>
                <a:latin typeface="Times New Roman" pitchFamily="18" charset="0"/>
                <a:cs typeface="Times New Roman" pitchFamily="18" charset="0"/>
              </a:rPr>
              <a:t>driver's</a:t>
            </a:r>
            <a:r>
              <a:rPr lang="en-US" sz="2400" b="1" u="sng" smtClean="0">
                <a:latin typeface="Times New Roman" pitchFamily="18" charset="0"/>
                <a:cs typeface="Times New Roman" pitchFamily="18" charset="0"/>
              </a:rPr>
              <a:t> </a:t>
            </a:r>
            <a:r>
              <a:rPr lang="en-US" altLang="zh-CN" sz="2400" b="1" u="sng" smtClean="0">
                <a:solidFill>
                  <a:srgbClr val="FF0000"/>
                </a:solidFill>
                <a:latin typeface="Times New Roman" pitchFamily="18" charset="0"/>
                <a:cs typeface="Times New Roman" pitchFamily="18" charset="0"/>
              </a:rPr>
              <a:t>license</a:t>
            </a:r>
            <a:r>
              <a:rPr lang="en-US" sz="2400" b="1" smtClean="0">
                <a:latin typeface="Times New Roman" pitchFamily="18" charset="0"/>
                <a:cs typeface="Times New Roman" pitchFamily="18" charset="0"/>
              </a:rPr>
              <a:t>.</a:t>
            </a:r>
            <a:endParaRPr lang="zh-CN" altLang="en-US" sz="2400" b="1" smtClean="0">
              <a:latin typeface="Times New Roman" pitchFamily="18" charset="0"/>
              <a:cs typeface="Times New Roman" pitchFamily="18" charset="0"/>
            </a:endParaRPr>
          </a:p>
          <a:p>
            <a:pPr algn="just">
              <a:lnSpc>
                <a:spcPts val="2700"/>
              </a:lnSpc>
            </a:pPr>
            <a:r>
              <a:rPr lang="en-US" sz="2400" b="1" smtClean="0">
                <a:latin typeface="Times New Roman" pitchFamily="18" charset="0"/>
                <a:cs typeface="Times New Roman" pitchFamily="18" charset="0"/>
              </a:rPr>
              <a:t>W: Was I doing something wrong?</a:t>
            </a:r>
            <a:endParaRPr lang="zh-CN" altLang="en-US" sz="2400" b="1" smtClean="0">
              <a:latin typeface="Times New Roman" pitchFamily="18" charset="0"/>
              <a:cs typeface="Times New Roman" pitchFamily="18" charset="0"/>
            </a:endParaRPr>
          </a:p>
          <a:p>
            <a:pPr algn="just">
              <a:lnSpc>
                <a:spcPts val="2700"/>
              </a:lnSpc>
            </a:pPr>
            <a:r>
              <a:rPr lang="en-US" sz="2400" b="1" smtClean="0">
                <a:latin typeface="Times New Roman" pitchFamily="18" charset="0"/>
                <a:cs typeface="Times New Roman" pitchFamily="18" charset="0"/>
              </a:rPr>
              <a:t>M: You're driving in a school </a:t>
            </a:r>
            <a:r>
              <a:rPr lang="en-US" altLang="zh-CN" sz="2400" b="1" smtClean="0">
                <a:solidFill>
                  <a:srgbClr val="FF0000"/>
                </a:solidFill>
                <a:latin typeface="Times New Roman" pitchFamily="18" charset="0"/>
                <a:cs typeface="Times New Roman" pitchFamily="18" charset="0"/>
              </a:rPr>
              <a:t>zone</a:t>
            </a:r>
            <a:r>
              <a:rPr lang="en-US" sz="2400" b="1" smtClean="0">
                <a:latin typeface="Times New Roman" pitchFamily="18" charset="0"/>
                <a:cs typeface="Times New Roman" pitchFamily="18" charset="0"/>
              </a:rPr>
              <a:t> around the time school </a:t>
            </a:r>
            <a:r>
              <a:rPr lang="en-US" sz="2400" b="1" smtClean="0">
                <a:solidFill>
                  <a:srgbClr val="FF0000"/>
                </a:solidFill>
                <a:latin typeface="Times New Roman" pitchFamily="18" charset="0"/>
                <a:cs typeface="Times New Roman" pitchFamily="18" charset="0"/>
              </a:rPr>
              <a:t>lets out</a:t>
            </a:r>
            <a:r>
              <a:rPr lang="en-US" sz="2400" b="1" smtClean="0">
                <a:latin typeface="Times New Roman" pitchFamily="18" charset="0"/>
                <a:cs typeface="Times New Roman" pitchFamily="18" charset="0"/>
              </a:rPr>
              <a:t>. The speed limit is 15 miles an hour, and you were going 35.</a:t>
            </a:r>
            <a:endParaRPr lang="zh-CN" altLang="en-US" sz="2400" b="1" smtClean="0">
              <a:latin typeface="Times New Roman" pitchFamily="18" charset="0"/>
              <a:cs typeface="Times New Roman" pitchFamily="18" charset="0"/>
            </a:endParaRPr>
          </a:p>
          <a:p>
            <a:pPr algn="just">
              <a:lnSpc>
                <a:spcPts val="2700"/>
              </a:lnSpc>
            </a:pPr>
            <a:r>
              <a:rPr lang="en-US" sz="2400" b="1" smtClean="0">
                <a:latin typeface="Times New Roman" pitchFamily="18" charset="0"/>
                <a:cs typeface="Times New Roman" pitchFamily="18" charset="0"/>
              </a:rPr>
              <a:t>W: </a:t>
            </a:r>
            <a:r>
              <a:rPr lang="en-US" sz="2400" b="1" u="sng" smtClean="0">
                <a:latin typeface="Times New Roman" pitchFamily="18" charset="0"/>
                <a:cs typeface="Times New Roman" pitchFamily="18" charset="0"/>
              </a:rPr>
              <a:t>(7)But it's only 2:10 p.m. The students aren't </a:t>
            </a:r>
            <a:r>
              <a:rPr lang="en-US" sz="2400" b="1" u="sng" smtClean="0">
                <a:solidFill>
                  <a:srgbClr val="FF0000"/>
                </a:solidFill>
                <a:latin typeface="Times New Roman" pitchFamily="18" charset="0"/>
                <a:cs typeface="Times New Roman" pitchFamily="18" charset="0"/>
              </a:rPr>
              <a:t>dismissed</a:t>
            </a:r>
            <a:r>
              <a:rPr lang="en-US" sz="2400" b="1" u="sng" smtClean="0">
                <a:latin typeface="Times New Roman" pitchFamily="18" charset="0"/>
                <a:cs typeface="Times New Roman" pitchFamily="18" charset="0"/>
              </a:rPr>
              <a:t> until 3:30.</a:t>
            </a:r>
            <a:endParaRPr lang="zh-CN" altLang="en-US" sz="2400" b="1" u="sng" smtClean="0">
              <a:latin typeface="Times New Roman" pitchFamily="18" charset="0"/>
              <a:cs typeface="Times New Roman" pitchFamily="18" charset="0"/>
            </a:endParaRPr>
          </a:p>
          <a:p>
            <a:pPr algn="just">
              <a:lnSpc>
                <a:spcPts val="2700"/>
              </a:lnSpc>
            </a:pPr>
            <a:r>
              <a:rPr lang="en-US" sz="2400" b="1" smtClean="0">
                <a:latin typeface="Times New Roman" pitchFamily="18" charset="0"/>
                <a:cs typeface="Times New Roman" pitchFamily="18" charset="0"/>
              </a:rPr>
              <a:t>M: Today is Wednesday. </a:t>
            </a:r>
            <a:r>
              <a:rPr lang="en-US" sz="2400" b="1" u="sng" smtClean="0">
                <a:latin typeface="Times New Roman" pitchFamily="18" charset="0"/>
                <a:cs typeface="Times New Roman" pitchFamily="18" charset="0"/>
              </a:rPr>
              <a:t>(7)Students are dismissed an hour and a half earlier on Wednesdays.</a:t>
            </a:r>
            <a:endParaRPr lang="zh-CN" altLang="en-US" sz="2400" b="1" u="sng" smtClean="0">
              <a:latin typeface="Times New Roman" pitchFamily="18" charset="0"/>
              <a:cs typeface="Times New Roman" pitchFamily="18" charset="0"/>
            </a:endParaRPr>
          </a:p>
          <a:p>
            <a:pPr algn="just">
              <a:lnSpc>
                <a:spcPts val="2700"/>
              </a:lnSpc>
            </a:pPr>
            <a:r>
              <a:rPr lang="en-US" sz="2400" b="1" smtClean="0">
                <a:latin typeface="Times New Roman" pitchFamily="18" charset="0"/>
                <a:cs typeface="Times New Roman" pitchFamily="18" charset="0"/>
              </a:rPr>
              <a:t>W: Oh, no, you're right. I just forgot that.</a:t>
            </a:r>
            <a:endParaRPr lang="zh-CN" altLang="en-US" sz="2400" b="1">
              <a:latin typeface="Times New Roman" pitchFamily="18" charset="0"/>
              <a:cs typeface="Times New Roman" pitchFamily="18" charset="0"/>
            </a:endParaRPr>
          </a:p>
        </p:txBody>
      </p:sp>
      <p:sp>
        <p:nvSpPr>
          <p:cNvPr id="7" name="文本框 10" title=""/>
          <p:cNvSpPr txBox="1"/>
          <p:nvPr>
            <p:custDataLst>
              <p:tags r:id="rId2"/>
            </p:custDataLst>
          </p:nvPr>
        </p:nvSpPr>
        <p:spPr>
          <a:xfrm>
            <a:off x="294646" y="192878"/>
            <a:ext cx="11602079" cy="830997"/>
          </a:xfrm>
          <a:prstGeom prst="rect">
            <a:avLst/>
          </a:prstGeom>
          <a:solidFill>
            <a:srgbClr val="FFFFCC"/>
          </a:solidFill>
          <a:ln w="19050">
            <a:solidFill>
              <a:schemeClr val="tx1"/>
            </a:solidFill>
          </a:ln>
        </p:spPr>
        <p:txBody>
          <a:bodyPr wrap="square" anchor="t" anchorCtr="0">
            <a:spAutoFit/>
          </a:bodyPr>
          <a:lstStyle/>
          <a:p>
            <a:r>
              <a:rPr lang="en-US" sz="2400" b="1" smtClean="0">
                <a:latin typeface="Times New Roman" pitchFamily="18" charset="0"/>
                <a:cs typeface="Times New Roman" pitchFamily="18" charset="0"/>
              </a:rPr>
              <a:t>7. What time does school finish on Wednesdays?</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     A. At 2:00 pm.		B. At 2:30 pm.	C. At 3:30 pm.</a:t>
            </a:r>
            <a:endParaRPr lang="zh-CN" altLang="en-US" sz="2400" b="1">
              <a:latin typeface="Times New Roman" pitchFamily="18" charset="0"/>
              <a:cs typeface="Times New Roman" pitchFamily="18" charset="0"/>
            </a:endParaRPr>
          </a:p>
        </p:txBody>
      </p:sp>
      <p:sp>
        <p:nvSpPr>
          <p:cNvPr id="8" name="文本框 3" title=""/>
          <p:cNvSpPr txBox="1"/>
          <p:nvPr>
            <p:custDataLst>
              <p:tags r:id="rId3"/>
            </p:custDataLst>
          </p:nvPr>
        </p:nvSpPr>
        <p:spPr>
          <a:xfrm>
            <a:off x="311370" y="4401920"/>
            <a:ext cx="11604405" cy="147732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】7. A。</a:t>
            </a:r>
            <a:r>
              <a:rPr lang="zh-CN" altLang="en-US" sz="2000" b="1" smtClean="0">
                <a:solidFill>
                  <a:srgbClr val="FF00FF"/>
                </a:solidFill>
                <a:latin typeface="Times New Roman" pitchFamily="18" charset="0"/>
                <a:ea typeface="微软雅黑" pitchFamily="34" charset="-122"/>
                <a:cs typeface="Times New Roman" pitchFamily="18" charset="0"/>
              </a:rPr>
              <a:t>推理判断题。根据女士的话“</a:t>
            </a:r>
            <a:r>
              <a:rPr lang="en-US" altLang="zh-CN" sz="2000" b="1" smtClean="0">
                <a:solidFill>
                  <a:srgbClr val="FF00FF"/>
                </a:solidFill>
                <a:latin typeface="Times New Roman" pitchFamily="18" charset="0"/>
                <a:ea typeface="微软雅黑" pitchFamily="34" charset="-122"/>
                <a:cs typeface="Times New Roman" pitchFamily="18" charset="0"/>
              </a:rPr>
              <a:t>But it’s only 2:10 pm. The students aren’t dismissed until 3:30.”</a:t>
            </a:r>
            <a:r>
              <a:rPr lang="zh-CN" altLang="en-US" sz="2000" b="1" smtClean="0">
                <a:solidFill>
                  <a:srgbClr val="FF00FF"/>
                </a:solidFill>
                <a:latin typeface="Times New Roman" pitchFamily="18" charset="0"/>
                <a:ea typeface="微软雅黑" pitchFamily="34" charset="-122"/>
                <a:cs typeface="Times New Roman" pitchFamily="18" charset="0"/>
              </a:rPr>
              <a:t>及男士的解释“</a:t>
            </a:r>
            <a:r>
              <a:rPr lang="en-US" altLang="zh-CN" sz="2000" b="1" smtClean="0">
                <a:solidFill>
                  <a:srgbClr val="FF00FF"/>
                </a:solidFill>
                <a:latin typeface="Times New Roman" pitchFamily="18" charset="0"/>
                <a:ea typeface="微软雅黑" pitchFamily="34" charset="-122"/>
                <a:cs typeface="Times New Roman" pitchFamily="18" charset="0"/>
              </a:rPr>
              <a:t>Students are dismissed an hour and a half earlier on Wednesdays.”</a:t>
            </a:r>
            <a:r>
              <a:rPr lang="zh-CN" altLang="en-US" sz="2000" b="1" smtClean="0">
                <a:solidFill>
                  <a:srgbClr val="FF00FF"/>
                </a:solidFill>
                <a:latin typeface="Times New Roman" pitchFamily="18" charset="0"/>
                <a:ea typeface="微软雅黑" pitchFamily="34" charset="-122"/>
                <a:cs typeface="Times New Roman" pitchFamily="18" charset="0"/>
              </a:rPr>
              <a:t>可知，女士表示现在是下午</a:t>
            </a:r>
            <a:r>
              <a:rPr lang="en-US" altLang="zh-CN" sz="2000" b="1" smtClean="0">
                <a:solidFill>
                  <a:srgbClr val="FF00FF"/>
                </a:solidFill>
                <a:latin typeface="Times New Roman" pitchFamily="18" charset="0"/>
                <a:ea typeface="微软雅黑" pitchFamily="34" charset="-122"/>
                <a:cs typeface="Times New Roman" pitchFamily="18" charset="0"/>
              </a:rPr>
              <a:t>2:10</a:t>
            </a:r>
            <a:r>
              <a:rPr lang="zh-CN" altLang="en-US" sz="2000" b="1" smtClean="0">
                <a:solidFill>
                  <a:srgbClr val="FF00FF"/>
                </a:solidFill>
                <a:latin typeface="Times New Roman" pitchFamily="18" charset="0"/>
                <a:ea typeface="微软雅黑" pitchFamily="34" charset="-122"/>
                <a:cs typeface="Times New Roman" pitchFamily="18" charset="0"/>
              </a:rPr>
              <a:t>，而学生要到</a:t>
            </a:r>
            <a:r>
              <a:rPr lang="en-US" altLang="zh-CN" sz="2000" b="1" smtClean="0">
                <a:solidFill>
                  <a:srgbClr val="FF00FF"/>
                </a:solidFill>
                <a:latin typeface="Times New Roman" pitchFamily="18" charset="0"/>
                <a:ea typeface="微软雅黑" pitchFamily="34" charset="-122"/>
                <a:cs typeface="Times New Roman" pitchFamily="18" charset="0"/>
              </a:rPr>
              <a:t>3:30</a:t>
            </a:r>
            <a:r>
              <a:rPr lang="zh-CN" altLang="en-US" sz="2000" b="1" smtClean="0">
                <a:solidFill>
                  <a:srgbClr val="FF00FF"/>
                </a:solidFill>
                <a:latin typeface="Times New Roman" pitchFamily="18" charset="0"/>
                <a:ea typeface="微软雅黑" pitchFamily="34" charset="-122"/>
                <a:cs typeface="Times New Roman" pitchFamily="18" charset="0"/>
              </a:rPr>
              <a:t>才放学。男士解释说，周三学生会提前一个半小时放学。由此可推算出，周三学校会在下午</a:t>
            </a:r>
            <a:r>
              <a:rPr lang="en-US" altLang="zh-CN" sz="2000" b="1" smtClean="0">
                <a:solidFill>
                  <a:srgbClr val="FF00FF"/>
                </a:solidFill>
                <a:latin typeface="Times New Roman" pitchFamily="18" charset="0"/>
                <a:ea typeface="微软雅黑" pitchFamily="34" charset="-122"/>
                <a:cs typeface="Times New Roman" pitchFamily="18" charset="0"/>
              </a:rPr>
              <a:t>2:00</a:t>
            </a:r>
            <a:r>
              <a:rPr lang="zh-CN" altLang="en-US" sz="2000" b="1" smtClean="0">
                <a:solidFill>
                  <a:srgbClr val="FF00FF"/>
                </a:solidFill>
                <a:latin typeface="Times New Roman" pitchFamily="18" charset="0"/>
                <a:ea typeface="微软雅黑" pitchFamily="34" charset="-122"/>
                <a:cs typeface="Times New Roman" pitchFamily="18" charset="0"/>
              </a:rPr>
              <a:t>放学。</a:t>
            </a:r>
          </a:p>
        </p:txBody>
      </p:sp>
      <p:sp>
        <p:nvSpPr>
          <p:cNvPr id="9" name="文本框 3" title=""/>
          <p:cNvSpPr txBox="1"/>
          <p:nvPr>
            <p:custDataLst>
              <p:tags r:id="rId4"/>
            </p:custDataLst>
          </p:nvPr>
        </p:nvSpPr>
        <p:spPr>
          <a:xfrm>
            <a:off x="300422" y="5950803"/>
            <a:ext cx="11596303" cy="830997"/>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altLang="zh-CN" sz="2400" b="1" smtClean="0">
                <a:solidFill>
                  <a:srgbClr val="00B0F0"/>
                </a:solidFill>
                <a:latin typeface="微软雅黑" pitchFamily="34" charset="-122"/>
                <a:ea typeface="微软雅黑" pitchFamily="34" charset="-122"/>
              </a:rPr>
              <a:t>【</a:t>
            </a:r>
            <a:r>
              <a:rPr lang="zh-CN" altLang="en-US" sz="2400" b="1" smtClean="0">
                <a:solidFill>
                  <a:srgbClr val="00B0F0"/>
                </a:solidFill>
                <a:latin typeface="微软雅黑" pitchFamily="34" charset="-122"/>
                <a:ea typeface="微软雅黑" pitchFamily="34" charset="-122"/>
              </a:rPr>
              <a:t>语言知识</a:t>
            </a:r>
            <a:r>
              <a:rPr lang="en-US" altLang="zh-CN" sz="2400" b="1" smtClean="0">
                <a:solidFill>
                  <a:srgbClr val="00B0F0"/>
                </a:solidFill>
                <a:latin typeface="微软雅黑" pitchFamily="34" charset="-122"/>
                <a:ea typeface="微软雅黑" pitchFamily="34" charset="-122"/>
              </a:rPr>
              <a:t>】</a:t>
            </a:r>
          </a:p>
          <a:p>
            <a:r>
              <a:rPr lang="en-US" sz="2400" b="1" smtClean="0">
                <a:solidFill>
                  <a:srgbClr val="7030A0"/>
                </a:solidFill>
                <a:latin typeface="Times New Roman" pitchFamily="18" charset="0"/>
                <a:cs typeface="Times New Roman" pitchFamily="18" charset="0"/>
              </a:rPr>
              <a:t>*driver‘s license </a:t>
            </a:r>
            <a:r>
              <a:rPr lang="zh-CN" altLang="en-US" sz="2400" b="1" smtClean="0">
                <a:solidFill>
                  <a:srgbClr val="7030A0"/>
                </a:solidFill>
                <a:latin typeface="Times New Roman" pitchFamily="18" charset="0"/>
                <a:cs typeface="Times New Roman" pitchFamily="18" charset="0"/>
              </a:rPr>
              <a:t>驾照  </a:t>
            </a:r>
            <a:r>
              <a:rPr lang="en-US" sz="2400" b="1" smtClean="0">
                <a:solidFill>
                  <a:srgbClr val="7030A0"/>
                </a:solidFill>
                <a:latin typeface="Times New Roman" pitchFamily="18" charset="0"/>
                <a:cs typeface="Times New Roman" pitchFamily="18" charset="0"/>
              </a:rPr>
              <a:t>*zone n.</a:t>
            </a:r>
            <a:r>
              <a:rPr lang="zh-CN" altLang="en-US" sz="2400" b="1" smtClean="0">
                <a:solidFill>
                  <a:srgbClr val="7030A0"/>
                </a:solidFill>
                <a:latin typeface="Times New Roman" pitchFamily="18" charset="0"/>
                <a:cs typeface="Times New Roman" pitchFamily="18" charset="0"/>
              </a:rPr>
              <a:t>区域</a:t>
            </a:r>
            <a:r>
              <a:rPr lang="en-US" sz="2400" b="1" smtClean="0">
                <a:solidFill>
                  <a:srgbClr val="7030A0"/>
                </a:solidFill>
                <a:latin typeface="Times New Roman" pitchFamily="18" charset="0"/>
                <a:cs typeface="Times New Roman" pitchFamily="18" charset="0"/>
              </a:rPr>
              <a:t>*let out </a:t>
            </a:r>
            <a:r>
              <a:rPr lang="zh-CN" altLang="en-US" sz="2400" b="1" smtClean="0">
                <a:solidFill>
                  <a:srgbClr val="7030A0"/>
                </a:solidFill>
                <a:latin typeface="Times New Roman" pitchFamily="18" charset="0"/>
                <a:cs typeface="Times New Roman" pitchFamily="18" charset="0"/>
              </a:rPr>
              <a:t>放学     </a:t>
            </a:r>
            <a:r>
              <a:rPr lang="en-US" sz="2400" b="1" smtClean="0">
                <a:solidFill>
                  <a:srgbClr val="7030A0"/>
                </a:solidFill>
                <a:latin typeface="Times New Roman" pitchFamily="18" charset="0"/>
                <a:cs typeface="Times New Roman" pitchFamily="18" charset="0"/>
              </a:rPr>
              <a:t>*dismiss v.</a:t>
            </a:r>
            <a:r>
              <a:rPr lang="zh-CN" altLang="en-US" sz="2400" b="1" smtClean="0">
                <a:solidFill>
                  <a:srgbClr val="7030A0"/>
                </a:solidFill>
                <a:latin typeface="Times New Roman" pitchFamily="18" charset="0"/>
                <a:cs typeface="Times New Roman" pitchFamily="18" charset="0"/>
              </a:rPr>
              <a:t>解散</a:t>
            </a:r>
            <a:endParaRPr lang="zh-CN" altLang="en-US" sz="2400">
              <a:solidFill>
                <a:srgbClr val="7030A0"/>
              </a:solidFill>
              <a:latin typeface="Times New Roman" pitchFamily="18" charset="0"/>
              <a:cs typeface="Times New Roman" pitchFamily="18" charset="0"/>
            </a:endParaRPr>
          </a:p>
        </p:txBody>
      </p:sp>
      <p:pic>
        <p:nvPicPr>
          <p:cNvPr id="10" name="图片 9" title=""/>
          <p:cNvPicPr/>
          <p:nvPr/>
        </p:nvPicPr>
        <p:blipFill>
          <a:blip r:embed="rId5">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739068" y="665673"/>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276225" y="1127084"/>
            <a:ext cx="11639550" cy="357826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400"/>
              </a:lnSpc>
            </a:pPr>
            <a:r>
              <a:rPr lang="en-US" altLang="en-US" sz="2000" b="1" smtClean="0">
                <a:solidFill>
                  <a:srgbClr val="0000FF"/>
                </a:solidFill>
                <a:latin typeface="Times New Roman" pitchFamily="18" charset="0"/>
                <a:ea typeface="微软雅黑" pitchFamily="34" charset="-122"/>
                <a:cs typeface="Times New Roman" pitchFamily="18" charset="0"/>
              </a:rPr>
              <a:t>(Text 7)</a:t>
            </a:r>
            <a:r>
              <a:rPr lang="zh-CN" altLang="en-US" sz="2000" b="1" smtClean="0">
                <a:solidFill>
                  <a:srgbClr val="0000FF"/>
                </a:solidFill>
                <a:latin typeface="微软雅黑" pitchFamily="34" charset="-122"/>
                <a:ea typeface="微软雅黑" pitchFamily="34" charset="-122"/>
              </a:rPr>
              <a:t>话题：偶遇熟人并邀请聚餐   词数：</a:t>
            </a:r>
            <a:r>
              <a:rPr lang="en-US" sz="2000" b="1" smtClean="0">
                <a:solidFill>
                  <a:srgbClr val="0000FF"/>
                </a:solidFill>
                <a:latin typeface="微软雅黑" pitchFamily="34" charset="-122"/>
                <a:ea typeface="微软雅黑" pitchFamily="34" charset="-122"/>
              </a:rPr>
              <a:t>122</a:t>
            </a:r>
            <a:r>
              <a:rPr lang="zh-CN" altLang="en-US" sz="2000" b="1" smtClean="0">
                <a:solidFill>
                  <a:srgbClr val="0000FF"/>
                </a:solidFill>
                <a:latin typeface="微软雅黑" pitchFamily="34" charset="-122"/>
                <a:ea typeface="微软雅黑" pitchFamily="34" charset="-122"/>
              </a:rPr>
              <a:t>；时间：</a:t>
            </a:r>
            <a:r>
              <a:rPr lang="en-US" sz="2000" b="1" smtClean="0">
                <a:solidFill>
                  <a:srgbClr val="0000FF"/>
                </a:solidFill>
                <a:latin typeface="微软雅黑" pitchFamily="34" charset="-122"/>
                <a:ea typeface="微软雅黑" pitchFamily="34" charset="-122"/>
              </a:rPr>
              <a:t>54″</a:t>
            </a:r>
            <a:r>
              <a:rPr lang="zh-CN" altLang="en-US" sz="2000" b="1" smtClean="0">
                <a:solidFill>
                  <a:srgbClr val="0000FF"/>
                </a:solidFill>
                <a:latin typeface="微软雅黑" pitchFamily="34" charset="-122"/>
                <a:ea typeface="微软雅黑" pitchFamily="34" charset="-122"/>
              </a:rPr>
              <a:t>；语速：</a:t>
            </a:r>
            <a:r>
              <a:rPr lang="en-US" sz="2000" b="1" smtClean="0">
                <a:solidFill>
                  <a:srgbClr val="0000FF"/>
                </a:solidFill>
                <a:latin typeface="微软雅黑" pitchFamily="34" charset="-122"/>
                <a:ea typeface="微软雅黑" pitchFamily="34" charset="-122"/>
              </a:rPr>
              <a:t>136</a:t>
            </a:r>
            <a:endParaRPr lang="en-US" altLang="zh-CN" sz="2000" b="1" smtClean="0">
              <a:solidFill>
                <a:srgbClr val="0000FF"/>
              </a:solidFill>
              <a:latin typeface="微软雅黑" pitchFamily="34" charset="-122"/>
              <a:ea typeface="微软雅黑" pitchFamily="34" charset="-122"/>
            </a:endParaRPr>
          </a:p>
          <a:p>
            <a:pPr algn="just">
              <a:lnSpc>
                <a:spcPts val="2400"/>
              </a:lnSpc>
            </a:pPr>
            <a:r>
              <a:rPr lang="en-US" altLang="zh-CN" sz="2000" b="1" smtClean="0">
                <a:solidFill>
                  <a:schemeClr val="tx1"/>
                </a:solidFill>
                <a:latin typeface="Times New Roman" pitchFamily="18" charset="0"/>
                <a:ea typeface="微软雅黑" pitchFamily="34" charset="-122"/>
                <a:cs typeface="Times New Roman" pitchFamily="18" charset="0"/>
              </a:rPr>
              <a:t>M: Hi. Grace. Haven't seen you for some time!</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400"/>
              </a:lnSpc>
            </a:pPr>
            <a:r>
              <a:rPr lang="en-US" altLang="zh-CN" sz="2000" b="1" smtClean="0">
                <a:solidFill>
                  <a:schemeClr val="tx1"/>
                </a:solidFill>
                <a:latin typeface="Times New Roman" pitchFamily="18" charset="0"/>
                <a:ea typeface="微软雅黑" pitchFamily="34" charset="-122"/>
                <a:cs typeface="Times New Roman" pitchFamily="18" charset="0"/>
              </a:rPr>
              <a:t>W: Oh, Kevin. Nice to see you. Are you also here for dinner?</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400"/>
              </a:lnSpc>
            </a:pPr>
            <a:r>
              <a:rPr lang="en-US" altLang="zh-CN" sz="2000" b="1" smtClean="0">
                <a:solidFill>
                  <a:schemeClr val="tx1"/>
                </a:solidFill>
                <a:latin typeface="Times New Roman" pitchFamily="18" charset="0"/>
                <a:ea typeface="微软雅黑" pitchFamily="34" charset="-122"/>
                <a:cs typeface="Times New Roman" pitchFamily="18" charset="0"/>
              </a:rPr>
              <a:t>M: Yes. My cousin Fiona isn't in town, and this is her favorite </a:t>
            </a:r>
            <a:r>
              <a:rPr lang="en-US" altLang="zh-CN" sz="2000" b="1" u="sng" smtClean="0">
                <a:solidFill>
                  <a:srgbClr val="FF0000"/>
                </a:solidFill>
                <a:latin typeface="Times New Roman" pitchFamily="18" charset="0"/>
                <a:ea typeface="微软雅黑" pitchFamily="34" charset="-122"/>
                <a:cs typeface="Times New Roman" pitchFamily="18" charset="0"/>
              </a:rPr>
              <a:t>steakhouse</a:t>
            </a:r>
            <a:r>
              <a:rPr lang="en-US" altLang="zh-CN" sz="2000" b="1" smtClean="0">
                <a:solidFill>
                  <a:schemeClr val="tx1"/>
                </a:solidFill>
                <a:latin typeface="Times New Roman" pitchFamily="18" charset="0"/>
                <a:ea typeface="微软雅黑" pitchFamily="34" charset="-122"/>
                <a:cs typeface="Times New Roman" pitchFamily="18" charset="0"/>
              </a:rPr>
              <a:t>. You met her last year, right? </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400"/>
              </a:lnSpc>
            </a:pPr>
            <a:r>
              <a:rPr lang="en-US" altLang="zh-CN" sz="2000" b="1" smtClean="0">
                <a:solidFill>
                  <a:schemeClr val="tx1"/>
                </a:solidFill>
                <a:latin typeface="Times New Roman" pitchFamily="18" charset="0"/>
                <a:ea typeface="微软雅黑" pitchFamily="34" charset="-122"/>
                <a:cs typeface="Times New Roman" pitchFamily="18" charset="0"/>
              </a:rPr>
              <a:t>W: Yes, at Jennifer's wedding.</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400"/>
              </a:lnSpc>
            </a:pPr>
            <a:r>
              <a:rPr lang="en-US" altLang="zh-CN" sz="2000" b="1" smtClean="0">
                <a:solidFill>
                  <a:schemeClr val="tx1"/>
                </a:solidFill>
                <a:latin typeface="Times New Roman" pitchFamily="18" charset="0"/>
                <a:ea typeface="微软雅黑" pitchFamily="34" charset="-122"/>
                <a:cs typeface="Times New Roman" pitchFamily="18" charset="0"/>
              </a:rPr>
              <a:t>M: Right? Look, are you here alone? Would you like to join us?</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400"/>
              </a:lnSpc>
            </a:pPr>
            <a:r>
              <a:rPr lang="en-US" altLang="zh-CN" sz="2000" b="1" smtClean="0">
                <a:solidFill>
                  <a:schemeClr val="tx1"/>
                </a:solidFill>
                <a:latin typeface="Times New Roman" pitchFamily="18" charset="0"/>
                <a:ea typeface="微软雅黑" pitchFamily="34" charset="-122"/>
                <a:cs typeface="Times New Roman" pitchFamily="18" charset="0"/>
              </a:rPr>
              <a:t>W: That's very nice of you, </a:t>
            </a:r>
            <a:r>
              <a:rPr lang="en-US" altLang="zh-CN" sz="2000" b="1" u="sng" smtClean="0">
                <a:solidFill>
                  <a:schemeClr val="tx1"/>
                </a:solidFill>
                <a:latin typeface="Times New Roman" pitchFamily="18" charset="0"/>
                <a:ea typeface="微软雅黑" pitchFamily="34" charset="-122"/>
                <a:cs typeface="Times New Roman" pitchFamily="18" charset="0"/>
              </a:rPr>
              <a:t>(8)but I'm meeting David and some other friends for dinner. You remember, David, from Class Two?</a:t>
            </a:r>
            <a:endParaRPr lang="zh-CN" altLang="en-US" sz="2000" b="1" u="sng" smtClean="0">
              <a:solidFill>
                <a:schemeClr val="tx1"/>
              </a:solidFill>
              <a:latin typeface="Times New Roman" pitchFamily="18" charset="0"/>
              <a:ea typeface="微软雅黑" pitchFamily="34" charset="-122"/>
              <a:cs typeface="Times New Roman" pitchFamily="18" charset="0"/>
            </a:endParaRPr>
          </a:p>
          <a:p>
            <a:pPr algn="just">
              <a:lnSpc>
                <a:spcPts val="2400"/>
              </a:lnSpc>
            </a:pPr>
            <a:r>
              <a:rPr lang="en-US" altLang="zh-CN" sz="2000" b="1" smtClean="0">
                <a:solidFill>
                  <a:schemeClr val="tx1"/>
                </a:solidFill>
                <a:latin typeface="Times New Roman" pitchFamily="18" charset="0"/>
                <a:ea typeface="微软雅黑" pitchFamily="34" charset="-122"/>
                <a:cs typeface="Times New Roman" pitchFamily="18" charset="0"/>
              </a:rPr>
              <a:t>M: Of course. </a:t>
            </a:r>
            <a:r>
              <a:rPr lang="en-US" altLang="zh-CN" sz="2000" b="1" u="sng" smtClean="0">
                <a:solidFill>
                  <a:schemeClr val="tx1"/>
                </a:solidFill>
                <a:latin typeface="Times New Roman" pitchFamily="18" charset="0"/>
                <a:ea typeface="微软雅黑" pitchFamily="34" charset="-122"/>
                <a:cs typeface="Times New Roman" pitchFamily="18" charset="0"/>
              </a:rPr>
              <a:t>(8)He was the </a:t>
            </a:r>
            <a:r>
              <a:rPr lang="en-US" altLang="zh-CN" sz="2000" b="1" u="sng" smtClean="0">
                <a:solidFill>
                  <a:srgbClr val="FF0000"/>
                </a:solidFill>
                <a:latin typeface="Times New Roman" pitchFamily="18" charset="0"/>
                <a:ea typeface="微软雅黑" pitchFamily="34" charset="-122"/>
                <a:cs typeface="Times New Roman" pitchFamily="18" charset="0"/>
              </a:rPr>
              <a:t>captain</a:t>
            </a:r>
            <a:r>
              <a:rPr lang="en-US" altLang="zh-CN" sz="2000" b="1" u="sng" smtClean="0">
                <a:solidFill>
                  <a:schemeClr val="tx1"/>
                </a:solidFill>
                <a:latin typeface="Times New Roman" pitchFamily="18" charset="0"/>
                <a:ea typeface="微软雅黑" pitchFamily="34" charset="-122"/>
                <a:cs typeface="Times New Roman" pitchFamily="18" charset="0"/>
              </a:rPr>
              <a:t> of our school's basketball team. I haven't seen him since graduation.</a:t>
            </a:r>
            <a:endParaRPr lang="zh-CN" altLang="en-US" sz="2000" b="1" u="sng" smtClean="0">
              <a:solidFill>
                <a:schemeClr val="tx1"/>
              </a:solidFill>
              <a:latin typeface="Times New Roman" pitchFamily="18" charset="0"/>
              <a:ea typeface="微软雅黑" pitchFamily="34" charset="-122"/>
              <a:cs typeface="Times New Roman" pitchFamily="18" charset="0"/>
            </a:endParaRPr>
          </a:p>
          <a:p>
            <a:pPr algn="just">
              <a:lnSpc>
                <a:spcPts val="2400"/>
              </a:lnSpc>
            </a:pPr>
            <a:r>
              <a:rPr lang="en-US" altLang="zh-CN" sz="2000" b="1" smtClean="0">
                <a:solidFill>
                  <a:schemeClr val="tx1"/>
                </a:solidFill>
                <a:latin typeface="Times New Roman" pitchFamily="18" charset="0"/>
                <a:ea typeface="微软雅黑" pitchFamily="34" charset="-122"/>
                <a:cs typeface="Times New Roman" pitchFamily="18" charset="0"/>
              </a:rPr>
              <a:t>W: He worked abroad for 3 years and has just come back.</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400"/>
              </a:lnSpc>
            </a:pPr>
            <a:r>
              <a:rPr lang="en-US" altLang="zh-CN" sz="2000" b="1" smtClean="0">
                <a:solidFill>
                  <a:schemeClr val="tx1"/>
                </a:solidFill>
                <a:latin typeface="Times New Roman" pitchFamily="18" charset="0"/>
                <a:ea typeface="微软雅黑" pitchFamily="34" charset="-122"/>
                <a:cs typeface="Times New Roman" pitchFamily="18" charset="0"/>
              </a:rPr>
              <a:t>M: Well, I'll go and say a quick hello. We </a:t>
            </a:r>
            <a:r>
              <a:rPr lang="en-US" altLang="zh-CN" sz="2000" b="1" u="sng" smtClean="0">
                <a:solidFill>
                  <a:srgbClr val="FF0000"/>
                </a:solidFill>
                <a:latin typeface="Times New Roman" pitchFamily="18" charset="0"/>
                <a:ea typeface="微软雅黑" pitchFamily="34" charset="-122"/>
                <a:cs typeface="Times New Roman" pitchFamily="18" charset="0"/>
              </a:rPr>
              <a:t>definitely</a:t>
            </a:r>
            <a:r>
              <a:rPr lang="en-US" altLang="zh-CN" sz="2000" b="1" smtClean="0">
                <a:solidFill>
                  <a:schemeClr val="tx1"/>
                </a:solidFill>
                <a:latin typeface="Times New Roman" pitchFamily="18" charset="0"/>
                <a:ea typeface="微软雅黑" pitchFamily="34" charset="-122"/>
                <a:cs typeface="Times New Roman" pitchFamily="18" charset="0"/>
              </a:rPr>
              <a:t> should get together sometime and have a drink.</a:t>
            </a:r>
            <a:endParaRPr lang="zh-CN" altLang="en-US" sz="2000" b="1" smtClean="0">
              <a:solidFill>
                <a:schemeClr val="tx1"/>
              </a:solidFill>
              <a:latin typeface="Times New Roman" pitchFamily="18" charset="0"/>
              <a:ea typeface="微软雅黑" pitchFamily="34" charset="-122"/>
              <a:cs typeface="Times New Roman" pitchFamily="18" charset="0"/>
            </a:endParaRPr>
          </a:p>
        </p:txBody>
      </p:sp>
      <p:sp>
        <p:nvSpPr>
          <p:cNvPr id="7" name="文本框 10" title=""/>
          <p:cNvSpPr txBox="1"/>
          <p:nvPr>
            <p:custDataLst>
              <p:tags r:id="rId2"/>
            </p:custDataLst>
          </p:nvPr>
        </p:nvSpPr>
        <p:spPr>
          <a:xfrm>
            <a:off x="294646" y="97628"/>
            <a:ext cx="11602079" cy="830997"/>
          </a:xfrm>
          <a:prstGeom prst="rect">
            <a:avLst/>
          </a:prstGeom>
          <a:solidFill>
            <a:srgbClr val="FFFFCC"/>
          </a:solidFill>
          <a:ln w="19050">
            <a:solidFill>
              <a:schemeClr val="tx1"/>
            </a:solidFill>
          </a:ln>
        </p:spPr>
        <p:txBody>
          <a:bodyPr wrap="square" anchor="t" anchorCtr="0">
            <a:spAutoFit/>
          </a:bodyPr>
          <a:lstStyle/>
          <a:p>
            <a:r>
              <a:rPr lang="en-US" sz="2400" b="1" smtClean="0">
                <a:latin typeface="Times New Roman" pitchFamily="18" charset="0"/>
                <a:cs typeface="Times New Roman" pitchFamily="18" charset="0"/>
              </a:rPr>
              <a:t>8. What is the relationship between the speakers?</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     A. Fellow workers.	B. Former schoolmates.	C. Family relatives.</a:t>
            </a:r>
            <a:endParaRPr lang="zh-CN" altLang="en-US" sz="2400" b="1">
              <a:latin typeface="Times New Roman" pitchFamily="18" charset="0"/>
              <a:cs typeface="Times New Roman" pitchFamily="18" charset="0"/>
            </a:endParaRPr>
          </a:p>
        </p:txBody>
      </p:sp>
      <p:sp>
        <p:nvSpPr>
          <p:cNvPr id="8" name="文本框 3" title=""/>
          <p:cNvSpPr txBox="1"/>
          <p:nvPr>
            <p:custDataLst>
              <p:tags r:id="rId3"/>
            </p:custDataLst>
          </p:nvPr>
        </p:nvSpPr>
        <p:spPr>
          <a:xfrm>
            <a:off x="292320" y="4950678"/>
            <a:ext cx="11604405" cy="147732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】8. B。</a:t>
            </a:r>
            <a:r>
              <a:rPr lang="zh-CN" altLang="en-US" sz="2000" b="1" smtClean="0">
                <a:solidFill>
                  <a:srgbClr val="FF00FF"/>
                </a:solidFill>
                <a:latin typeface="Times New Roman" pitchFamily="18" charset="0"/>
                <a:ea typeface="微软雅黑" pitchFamily="34" charset="-122"/>
                <a:cs typeface="Times New Roman" pitchFamily="18" charset="0"/>
              </a:rPr>
              <a:t>推理判断题。</a:t>
            </a:r>
            <a:r>
              <a:rPr lang="en-US" altLang="zh-CN" sz="2000" b="1" smtClean="0">
                <a:solidFill>
                  <a:srgbClr val="FF00FF"/>
                </a:solidFill>
                <a:latin typeface="Times New Roman" pitchFamily="18" charset="0"/>
                <a:ea typeface="微软雅黑" pitchFamily="34" charset="-122"/>
                <a:cs typeface="Times New Roman" pitchFamily="18" charset="0"/>
              </a:rPr>
              <a:t>Grace</a:t>
            </a:r>
            <a:r>
              <a:rPr lang="zh-CN" altLang="en-US" sz="2000" b="1" smtClean="0">
                <a:solidFill>
                  <a:srgbClr val="FF00FF"/>
                </a:solidFill>
                <a:latin typeface="Times New Roman" pitchFamily="18" charset="0"/>
                <a:ea typeface="微软雅黑" pitchFamily="34" charset="-122"/>
                <a:cs typeface="Times New Roman" pitchFamily="18" charset="0"/>
              </a:rPr>
              <a:t>说她要和</a:t>
            </a:r>
            <a:r>
              <a:rPr lang="en-US" altLang="zh-CN" sz="2000" b="1" smtClean="0">
                <a:solidFill>
                  <a:srgbClr val="FF00FF"/>
                </a:solidFill>
                <a:latin typeface="Times New Roman" pitchFamily="18" charset="0"/>
                <a:ea typeface="微软雅黑" pitchFamily="34" charset="-122"/>
                <a:cs typeface="Times New Roman" pitchFamily="18" charset="0"/>
              </a:rPr>
              <a:t>David</a:t>
            </a:r>
            <a:r>
              <a:rPr lang="zh-CN" altLang="en-US" sz="2000" b="1" smtClean="0">
                <a:solidFill>
                  <a:srgbClr val="FF00FF"/>
                </a:solidFill>
                <a:latin typeface="Times New Roman" pitchFamily="18" charset="0"/>
                <a:ea typeface="微软雅黑" pitchFamily="34" charset="-122"/>
                <a:cs typeface="Times New Roman" pitchFamily="18" charset="0"/>
              </a:rPr>
              <a:t>以及几个好友一起吃饭，并问</a:t>
            </a:r>
            <a:r>
              <a:rPr lang="en-US" altLang="zh-CN" sz="2000" b="1" smtClean="0">
                <a:solidFill>
                  <a:srgbClr val="FF00FF"/>
                </a:solidFill>
                <a:latin typeface="Times New Roman" pitchFamily="18" charset="0"/>
                <a:ea typeface="微软雅黑" pitchFamily="34" charset="-122"/>
                <a:cs typeface="Times New Roman" pitchFamily="18" charset="0"/>
              </a:rPr>
              <a:t>Kevin</a:t>
            </a:r>
            <a:r>
              <a:rPr lang="zh-CN" altLang="en-US" sz="2000" b="1" smtClean="0">
                <a:solidFill>
                  <a:srgbClr val="FF00FF"/>
                </a:solidFill>
                <a:latin typeface="Times New Roman" pitchFamily="18" charset="0"/>
                <a:ea typeface="微软雅黑" pitchFamily="34" charset="-122"/>
                <a:cs typeface="Times New Roman" pitchFamily="18" charset="0"/>
              </a:rPr>
              <a:t>是否还记得二班的</a:t>
            </a:r>
            <a:r>
              <a:rPr lang="en-US" altLang="zh-CN" sz="2000" b="1" smtClean="0">
                <a:solidFill>
                  <a:srgbClr val="FF00FF"/>
                </a:solidFill>
                <a:latin typeface="Times New Roman" pitchFamily="18" charset="0"/>
                <a:ea typeface="微软雅黑" pitchFamily="34" charset="-122"/>
                <a:cs typeface="Times New Roman" pitchFamily="18" charset="0"/>
              </a:rPr>
              <a:t>David。</a:t>
            </a:r>
            <a:r>
              <a:rPr lang="zh-CN" altLang="en-US" sz="2000" b="1" smtClean="0">
                <a:solidFill>
                  <a:srgbClr val="FF00FF"/>
                </a:solidFill>
                <a:latin typeface="Times New Roman" pitchFamily="18" charset="0"/>
                <a:ea typeface="微软雅黑" pitchFamily="34" charset="-122"/>
                <a:cs typeface="Times New Roman" pitchFamily="18" charset="0"/>
              </a:rPr>
              <a:t>根据</a:t>
            </a:r>
            <a:r>
              <a:rPr lang="en-US" altLang="zh-CN" sz="2000" b="1" smtClean="0">
                <a:solidFill>
                  <a:srgbClr val="FF00FF"/>
                </a:solidFill>
                <a:latin typeface="Times New Roman" pitchFamily="18" charset="0"/>
                <a:ea typeface="微软雅黑" pitchFamily="34" charset="-122"/>
                <a:cs typeface="Times New Roman" pitchFamily="18" charset="0"/>
              </a:rPr>
              <a:t>Kevin</a:t>
            </a:r>
            <a:r>
              <a:rPr lang="zh-CN" altLang="en-US" sz="2000" b="1" smtClean="0">
                <a:solidFill>
                  <a:srgbClr val="FF00FF"/>
                </a:solidFill>
                <a:latin typeface="Times New Roman" pitchFamily="18" charset="0"/>
                <a:ea typeface="微软雅黑" pitchFamily="34" charset="-122"/>
                <a:cs typeface="Times New Roman" pitchFamily="18" charset="0"/>
              </a:rPr>
              <a:t>的回答“</a:t>
            </a:r>
            <a:r>
              <a:rPr lang="en-US" altLang="zh-CN" sz="2000" b="1" smtClean="0">
                <a:solidFill>
                  <a:srgbClr val="FF00FF"/>
                </a:solidFill>
                <a:latin typeface="Times New Roman" pitchFamily="18" charset="0"/>
                <a:ea typeface="微软雅黑" pitchFamily="34" charset="-122"/>
                <a:cs typeface="Times New Roman" pitchFamily="18" charset="0"/>
              </a:rPr>
              <a:t>Of course. He was the captain of our school’s basketball team. I haven’t seen him since graduation.”</a:t>
            </a:r>
            <a:r>
              <a:rPr lang="zh-CN" altLang="en-US" sz="2000" b="1" smtClean="0">
                <a:solidFill>
                  <a:srgbClr val="FF00FF"/>
                </a:solidFill>
                <a:latin typeface="Times New Roman" pitchFamily="18" charset="0"/>
                <a:ea typeface="微软雅黑" pitchFamily="34" charset="-122"/>
                <a:cs typeface="Times New Roman" pitchFamily="18" charset="0"/>
              </a:rPr>
              <a:t>可知，</a:t>
            </a:r>
            <a:r>
              <a:rPr lang="en-US" altLang="zh-CN" sz="2000" b="1" smtClean="0">
                <a:solidFill>
                  <a:srgbClr val="FF00FF"/>
                </a:solidFill>
                <a:latin typeface="Times New Roman" pitchFamily="18" charset="0"/>
                <a:ea typeface="微软雅黑" pitchFamily="34" charset="-122"/>
                <a:cs typeface="Times New Roman" pitchFamily="18" charset="0"/>
              </a:rPr>
              <a:t>David</a:t>
            </a:r>
            <a:r>
              <a:rPr lang="zh-CN" altLang="en-US" sz="2000" b="1" smtClean="0">
                <a:solidFill>
                  <a:srgbClr val="FF00FF"/>
                </a:solidFill>
                <a:latin typeface="Times New Roman" pitchFamily="18" charset="0"/>
                <a:ea typeface="微软雅黑" pitchFamily="34" charset="-122"/>
                <a:cs typeface="Times New Roman" pitchFamily="18" charset="0"/>
              </a:rPr>
              <a:t>是他们学校篮球队的队长。</a:t>
            </a:r>
            <a:r>
              <a:rPr lang="en-US" altLang="zh-CN" sz="2000" b="1" smtClean="0">
                <a:solidFill>
                  <a:srgbClr val="FF00FF"/>
                </a:solidFill>
                <a:latin typeface="Times New Roman" pitchFamily="18" charset="0"/>
                <a:ea typeface="微软雅黑" pitchFamily="34" charset="-122"/>
                <a:cs typeface="Times New Roman" pitchFamily="18" charset="0"/>
              </a:rPr>
              <a:t>Kevin</a:t>
            </a:r>
            <a:r>
              <a:rPr lang="zh-CN" altLang="en-US" sz="2000" b="1" smtClean="0">
                <a:solidFill>
                  <a:srgbClr val="FF00FF"/>
                </a:solidFill>
                <a:latin typeface="Times New Roman" pitchFamily="18" charset="0"/>
                <a:ea typeface="微软雅黑" pitchFamily="34" charset="-122"/>
                <a:cs typeface="Times New Roman" pitchFamily="18" charset="0"/>
              </a:rPr>
              <a:t>毕业后就没见过他。由此可推断出，说话者之间是前校友关系。</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4015668" y="570423"/>
            <a:ext cx="206826" cy="285716"/>
          </a:xfrm>
          <a:prstGeom prst="rect">
            <a:avLst/>
          </a:prstGeom>
        </p:spPr>
      </p:pic>
      <p:sp>
        <p:nvSpPr>
          <p:cNvPr id="10" name="Rectangle 1" title=""/>
          <p:cNvSpPr>
            <a:spLocks noChangeArrowheads="1"/>
          </p:cNvSpPr>
          <p:nvPr/>
        </p:nvSpPr>
        <p:spPr bwMode="auto">
          <a:xfrm>
            <a:off x="8696325" y="1143000"/>
            <a:ext cx="3286125" cy="1015663"/>
          </a:xfrm>
          <a:prstGeom prst="rect">
            <a:avLst/>
          </a:prstGeom>
          <a:noFill/>
          <a:ln w="9525">
            <a:noFill/>
            <a:miter lim="800000"/>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*steakhouse n.</a:t>
            </a: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牛排餐馆 </a:t>
            </a:r>
            <a:endParaRPr kumimoji="0" lang="zh-CN" altLang="en-US" sz="16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captain n.</a:t>
            </a: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队长</a:t>
            </a:r>
            <a:endParaRPr kumimoji="0" lang="zh-CN" altLang="en-US" sz="16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definitely adv.</a:t>
            </a: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当然；确实</a:t>
            </a:r>
            <a:endParaRPr kumimoji="0" lang="zh-CN" altLang="en-US" sz="44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29749" y="1365209"/>
            <a:ext cx="11586026" cy="3663992"/>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500"/>
              </a:lnSpc>
            </a:pPr>
            <a:r>
              <a:rPr lang="en-US" altLang="en-US" sz="2000" b="1" smtClean="0">
                <a:solidFill>
                  <a:srgbClr val="0000FF"/>
                </a:solidFill>
                <a:latin typeface="Times New Roman" pitchFamily="18" charset="0"/>
                <a:ea typeface="微软雅黑" pitchFamily="34" charset="-122"/>
                <a:cs typeface="Times New Roman" pitchFamily="18" charset="0"/>
              </a:rPr>
              <a:t>(Text 7)</a:t>
            </a:r>
            <a:r>
              <a:rPr lang="zh-CN" altLang="en-US" sz="2000" b="1" smtClean="0">
                <a:solidFill>
                  <a:srgbClr val="0000FF"/>
                </a:solidFill>
                <a:latin typeface="微软雅黑" pitchFamily="34" charset="-122"/>
                <a:ea typeface="微软雅黑" pitchFamily="34" charset="-122"/>
              </a:rPr>
              <a:t>话题：偶遇熟人并邀请聚餐  词数：</a:t>
            </a:r>
            <a:r>
              <a:rPr lang="en-US" sz="2000" b="1" smtClean="0">
                <a:solidFill>
                  <a:srgbClr val="0000FF"/>
                </a:solidFill>
                <a:latin typeface="微软雅黑" pitchFamily="34" charset="-122"/>
                <a:ea typeface="微软雅黑" pitchFamily="34" charset="-122"/>
              </a:rPr>
              <a:t>122</a:t>
            </a:r>
            <a:r>
              <a:rPr lang="zh-CN" altLang="en-US" sz="2000" b="1" smtClean="0">
                <a:solidFill>
                  <a:srgbClr val="0000FF"/>
                </a:solidFill>
                <a:latin typeface="微软雅黑" pitchFamily="34" charset="-122"/>
                <a:ea typeface="微软雅黑" pitchFamily="34" charset="-122"/>
              </a:rPr>
              <a:t>；时间：</a:t>
            </a:r>
            <a:r>
              <a:rPr lang="en-US" sz="2000" b="1" smtClean="0">
                <a:solidFill>
                  <a:srgbClr val="0000FF"/>
                </a:solidFill>
                <a:latin typeface="微软雅黑" pitchFamily="34" charset="-122"/>
                <a:ea typeface="微软雅黑" pitchFamily="34" charset="-122"/>
              </a:rPr>
              <a:t>54″</a:t>
            </a:r>
            <a:r>
              <a:rPr lang="zh-CN" altLang="en-US" sz="2000" b="1" smtClean="0">
                <a:solidFill>
                  <a:srgbClr val="0000FF"/>
                </a:solidFill>
                <a:latin typeface="微软雅黑" pitchFamily="34" charset="-122"/>
                <a:ea typeface="微软雅黑" pitchFamily="34" charset="-122"/>
              </a:rPr>
              <a:t>；语速：</a:t>
            </a:r>
            <a:r>
              <a:rPr lang="en-US" sz="2000" b="1" smtClean="0">
                <a:solidFill>
                  <a:srgbClr val="0000FF"/>
                </a:solidFill>
                <a:latin typeface="微软雅黑" pitchFamily="34" charset="-122"/>
                <a:ea typeface="微软雅黑" pitchFamily="34" charset="-122"/>
              </a:rPr>
              <a:t>136</a:t>
            </a:r>
            <a:endParaRPr lang="en-US" altLang="zh-CN" sz="2000" b="1" smtClean="0">
              <a:solidFill>
                <a:srgbClr val="0000FF"/>
              </a:solidFill>
              <a:latin typeface="微软雅黑" pitchFamily="34" charset="-122"/>
              <a:ea typeface="微软雅黑" pitchFamily="34" charset="-122"/>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M: Hi. Grace. Haven't seen you for some time!</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W: Oh, Kevin. Nice to see you. Are you also here for dinner?</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M: Yes. My cousin Fiona isn't in town, and this is her favorite </a:t>
            </a:r>
            <a:r>
              <a:rPr lang="en-US" altLang="zh-CN" sz="2000" b="1" u="sng" smtClean="0">
                <a:solidFill>
                  <a:srgbClr val="FF0000"/>
                </a:solidFill>
                <a:latin typeface="Times New Roman" pitchFamily="18" charset="0"/>
                <a:ea typeface="微软雅黑" pitchFamily="34" charset="-122"/>
                <a:cs typeface="Times New Roman" pitchFamily="18" charset="0"/>
              </a:rPr>
              <a:t>steakhouse</a:t>
            </a:r>
            <a:r>
              <a:rPr lang="en-US" altLang="zh-CN" sz="2000" b="1" smtClean="0">
                <a:solidFill>
                  <a:schemeClr val="tx1"/>
                </a:solidFill>
                <a:latin typeface="Times New Roman" pitchFamily="18" charset="0"/>
                <a:ea typeface="微软雅黑" pitchFamily="34" charset="-122"/>
                <a:cs typeface="Times New Roman" pitchFamily="18" charset="0"/>
              </a:rPr>
              <a:t>. You met her last year, right? </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W: Yes, at Jennifer's wedding.</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M: Right? Look, are you here alone? Would you like to join us?</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W: That's very nice of you, </a:t>
            </a:r>
            <a:r>
              <a:rPr lang="en-US" altLang="zh-CN" sz="2000" b="1" u="sng" smtClean="0">
                <a:solidFill>
                  <a:schemeClr val="tx1"/>
                </a:solidFill>
                <a:latin typeface="Times New Roman" pitchFamily="18" charset="0"/>
                <a:ea typeface="微软雅黑" pitchFamily="34" charset="-122"/>
                <a:cs typeface="Times New Roman" pitchFamily="18" charset="0"/>
              </a:rPr>
              <a:t>(9)but I'm meeting David and some other friends for dinner. You remember, David, from Class Two?</a:t>
            </a:r>
            <a:endParaRPr lang="zh-CN" altLang="en-US" sz="2000" b="1" u="sng"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M: Of course. He was the </a:t>
            </a:r>
            <a:r>
              <a:rPr lang="en-US" altLang="zh-CN" sz="2000" b="1" u="sng" smtClean="0">
                <a:solidFill>
                  <a:srgbClr val="FF0000"/>
                </a:solidFill>
                <a:latin typeface="Times New Roman" pitchFamily="18" charset="0"/>
                <a:ea typeface="微软雅黑" pitchFamily="34" charset="-122"/>
                <a:cs typeface="Times New Roman" pitchFamily="18" charset="0"/>
              </a:rPr>
              <a:t>captain</a:t>
            </a:r>
            <a:r>
              <a:rPr lang="en-US" altLang="zh-CN" sz="2000" b="1" smtClean="0">
                <a:solidFill>
                  <a:schemeClr val="tx1"/>
                </a:solidFill>
                <a:latin typeface="Times New Roman" pitchFamily="18" charset="0"/>
                <a:ea typeface="微软雅黑" pitchFamily="34" charset="-122"/>
                <a:cs typeface="Times New Roman" pitchFamily="18" charset="0"/>
              </a:rPr>
              <a:t> of our school's basketball team. I haven't seen him since graduation.</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W: He worked abroad for 3 years and has just come back.</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M: Well, I'll go and say a quick hello. We </a:t>
            </a:r>
            <a:r>
              <a:rPr lang="en-US" altLang="zh-CN" sz="2000" b="1" u="sng" smtClean="0">
                <a:solidFill>
                  <a:srgbClr val="FF0000"/>
                </a:solidFill>
                <a:latin typeface="Times New Roman" pitchFamily="18" charset="0"/>
                <a:ea typeface="微软雅黑" pitchFamily="34" charset="-122"/>
                <a:cs typeface="Times New Roman" pitchFamily="18" charset="0"/>
              </a:rPr>
              <a:t>definitely</a:t>
            </a:r>
            <a:r>
              <a:rPr lang="en-US" altLang="zh-CN" sz="2000" b="1" smtClean="0">
                <a:solidFill>
                  <a:schemeClr val="tx1"/>
                </a:solidFill>
                <a:latin typeface="Times New Roman" pitchFamily="18" charset="0"/>
                <a:ea typeface="微软雅黑" pitchFamily="34" charset="-122"/>
                <a:cs typeface="Times New Roman" pitchFamily="18" charset="0"/>
              </a:rPr>
              <a:t> should get together sometime and have a drink.</a:t>
            </a:r>
            <a:endParaRPr lang="zh-CN" altLang="en-US" sz="2000" b="1" smtClean="0">
              <a:solidFill>
                <a:schemeClr val="tx1"/>
              </a:solidFill>
              <a:latin typeface="Times New Roman" pitchFamily="18" charset="0"/>
              <a:ea typeface="微软雅黑" pitchFamily="34" charset="-122"/>
              <a:cs typeface="Times New Roman" pitchFamily="18" charset="0"/>
            </a:endParaRPr>
          </a:p>
        </p:txBody>
      </p:sp>
      <p:sp>
        <p:nvSpPr>
          <p:cNvPr id="7" name="文本框 10" title=""/>
          <p:cNvSpPr txBox="1"/>
          <p:nvPr>
            <p:custDataLst>
              <p:tags r:id="rId2"/>
            </p:custDataLst>
          </p:nvPr>
        </p:nvSpPr>
        <p:spPr>
          <a:xfrm>
            <a:off x="304171" y="192878"/>
            <a:ext cx="11602079" cy="830997"/>
          </a:xfrm>
          <a:prstGeom prst="rect">
            <a:avLst/>
          </a:prstGeom>
          <a:solidFill>
            <a:srgbClr val="FFFFCC"/>
          </a:solidFill>
          <a:ln w="19050">
            <a:solidFill>
              <a:schemeClr val="tx1"/>
            </a:solidFill>
          </a:ln>
        </p:spPr>
        <p:txBody>
          <a:bodyPr wrap="square" anchor="t" anchorCtr="0">
            <a:spAutoFit/>
          </a:bodyPr>
          <a:lstStyle/>
          <a:p>
            <a:r>
              <a:rPr lang="en-US" sz="2400" b="1" smtClean="0">
                <a:latin typeface="Times New Roman" pitchFamily="18" charset="0"/>
                <a:cs typeface="Times New Roman" pitchFamily="18" charset="0"/>
              </a:rPr>
              <a:t>9. Who will Grace have dinner with?</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     A. Fiona.		  B. Jennifer.		C. David.</a:t>
            </a:r>
            <a:endParaRPr lang="zh-CN" altLang="en-US" sz="2400" b="1">
              <a:latin typeface="Times New Roman" pitchFamily="18" charset="0"/>
              <a:cs typeface="Times New Roman" pitchFamily="18" charset="0"/>
            </a:endParaRPr>
          </a:p>
        </p:txBody>
      </p:sp>
      <p:sp>
        <p:nvSpPr>
          <p:cNvPr id="8" name="文本框 3" title=""/>
          <p:cNvSpPr txBox="1"/>
          <p:nvPr>
            <p:custDataLst>
              <p:tags r:id="rId3"/>
            </p:custDataLst>
          </p:nvPr>
        </p:nvSpPr>
        <p:spPr>
          <a:xfrm>
            <a:off x="292320" y="5360253"/>
            <a:ext cx="11604405" cy="784830"/>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】9. C。</a:t>
            </a:r>
            <a:r>
              <a:rPr lang="zh-CN" altLang="en-US" sz="2000" b="1" smtClean="0">
                <a:solidFill>
                  <a:srgbClr val="FF00FF"/>
                </a:solidFill>
                <a:latin typeface="Times New Roman" pitchFamily="18" charset="0"/>
                <a:ea typeface="微软雅黑" pitchFamily="34" charset="-122"/>
                <a:cs typeface="Times New Roman" pitchFamily="18" charset="0"/>
              </a:rPr>
              <a:t>事实细节题。根据</a:t>
            </a:r>
            <a:r>
              <a:rPr lang="en-US" altLang="zh-CN" sz="2000" b="1" smtClean="0">
                <a:solidFill>
                  <a:srgbClr val="FF00FF"/>
                </a:solidFill>
                <a:latin typeface="Times New Roman" pitchFamily="18" charset="0"/>
                <a:ea typeface="微软雅黑" pitchFamily="34" charset="-122"/>
                <a:cs typeface="Times New Roman" pitchFamily="18" charset="0"/>
              </a:rPr>
              <a:t>Grace</a:t>
            </a:r>
            <a:r>
              <a:rPr lang="zh-CN" altLang="en-US" sz="2000" b="1" smtClean="0">
                <a:solidFill>
                  <a:srgbClr val="FF00FF"/>
                </a:solidFill>
                <a:latin typeface="Times New Roman" pitchFamily="18" charset="0"/>
                <a:ea typeface="微软雅黑" pitchFamily="34" charset="-122"/>
                <a:cs typeface="Times New Roman" pitchFamily="18" charset="0"/>
              </a:rPr>
              <a:t>的话“</a:t>
            </a:r>
            <a:r>
              <a:rPr lang="en-US" altLang="zh-CN" sz="2000" b="1" smtClean="0">
                <a:solidFill>
                  <a:srgbClr val="FF00FF"/>
                </a:solidFill>
                <a:latin typeface="Times New Roman" pitchFamily="18" charset="0"/>
                <a:ea typeface="微软雅黑" pitchFamily="34" charset="-122"/>
                <a:cs typeface="Times New Roman" pitchFamily="18" charset="0"/>
              </a:rPr>
              <a:t>but I’m meeting David and some other friends for dinner.”</a:t>
            </a:r>
            <a:r>
              <a:rPr lang="zh-CN" altLang="en-US" sz="2000" b="1" smtClean="0">
                <a:solidFill>
                  <a:srgbClr val="FF00FF"/>
                </a:solidFill>
                <a:latin typeface="Times New Roman" pitchFamily="18" charset="0"/>
                <a:ea typeface="微软雅黑" pitchFamily="34" charset="-122"/>
                <a:cs typeface="Times New Roman" pitchFamily="18" charset="0"/>
              </a:rPr>
              <a:t>可知，她要和</a:t>
            </a:r>
            <a:r>
              <a:rPr lang="en-US" altLang="zh-CN" sz="2000" b="1" smtClean="0">
                <a:solidFill>
                  <a:srgbClr val="FF00FF"/>
                </a:solidFill>
                <a:latin typeface="Times New Roman" pitchFamily="18" charset="0"/>
                <a:ea typeface="微软雅黑" pitchFamily="34" charset="-122"/>
                <a:cs typeface="Times New Roman" pitchFamily="18" charset="0"/>
              </a:rPr>
              <a:t>David</a:t>
            </a:r>
            <a:r>
              <a:rPr lang="zh-CN" altLang="en-US" sz="2000" b="1" smtClean="0">
                <a:solidFill>
                  <a:srgbClr val="FF00FF"/>
                </a:solidFill>
                <a:latin typeface="Times New Roman" pitchFamily="18" charset="0"/>
                <a:ea typeface="微软雅黑" pitchFamily="34" charset="-122"/>
                <a:cs typeface="Times New Roman" pitchFamily="18" charset="0"/>
              </a:rPr>
              <a:t>及其他朋友一起共进晚餐。</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5853993" y="627573"/>
            <a:ext cx="206826" cy="285716"/>
          </a:xfrm>
          <a:prstGeom prst="rect">
            <a:avLst/>
          </a:prstGeom>
        </p:spPr>
      </p:pic>
      <p:sp>
        <p:nvSpPr>
          <p:cNvPr id="10" name="Rectangle 1" title=""/>
          <p:cNvSpPr>
            <a:spLocks noChangeArrowheads="1"/>
          </p:cNvSpPr>
          <p:nvPr/>
        </p:nvSpPr>
        <p:spPr bwMode="auto">
          <a:xfrm>
            <a:off x="8696325" y="1333500"/>
            <a:ext cx="3286125" cy="1015663"/>
          </a:xfrm>
          <a:prstGeom prst="rect">
            <a:avLst/>
          </a:prstGeom>
          <a:noFill/>
          <a:ln w="9525">
            <a:noFill/>
            <a:miter lim="800000"/>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*steakhouse n.</a:t>
            </a: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牛排餐馆 </a:t>
            </a:r>
            <a:endParaRPr kumimoji="0" lang="zh-CN" altLang="en-US" sz="16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captain n.</a:t>
            </a: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队长</a:t>
            </a:r>
            <a:endParaRPr kumimoji="0" lang="zh-CN" altLang="en-US" sz="16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definitely adv.</a:t>
            </a: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当然；确实</a:t>
            </a:r>
            <a:endParaRPr kumimoji="0" lang="zh-CN" altLang="en-US" sz="44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29749" y="1193759"/>
            <a:ext cx="11586026" cy="365446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500"/>
              </a:lnSpc>
            </a:pPr>
            <a:r>
              <a:rPr lang="en-US" altLang="en-US" sz="2000" b="1" smtClean="0">
                <a:solidFill>
                  <a:srgbClr val="0000FF"/>
                </a:solidFill>
                <a:latin typeface="Times New Roman" pitchFamily="18" charset="0"/>
                <a:ea typeface="微软雅黑" pitchFamily="34" charset="-122"/>
                <a:cs typeface="Times New Roman" pitchFamily="18" charset="0"/>
              </a:rPr>
              <a:t>(Text 7)</a:t>
            </a:r>
            <a:r>
              <a:rPr lang="zh-CN" altLang="en-US" sz="2000" b="1" smtClean="0">
                <a:solidFill>
                  <a:srgbClr val="0000FF"/>
                </a:solidFill>
                <a:latin typeface="微软雅黑" pitchFamily="34" charset="-122"/>
                <a:ea typeface="微软雅黑" pitchFamily="34" charset="-122"/>
              </a:rPr>
              <a:t>话题：偶遇熟人并邀请聚餐  词数：</a:t>
            </a:r>
            <a:r>
              <a:rPr lang="en-US" sz="2000" b="1" smtClean="0">
                <a:solidFill>
                  <a:srgbClr val="0000FF"/>
                </a:solidFill>
                <a:latin typeface="微软雅黑" pitchFamily="34" charset="-122"/>
                <a:ea typeface="微软雅黑" pitchFamily="34" charset="-122"/>
              </a:rPr>
              <a:t>122</a:t>
            </a:r>
            <a:r>
              <a:rPr lang="zh-CN" altLang="en-US" sz="2000" b="1" smtClean="0">
                <a:solidFill>
                  <a:srgbClr val="0000FF"/>
                </a:solidFill>
                <a:latin typeface="微软雅黑" pitchFamily="34" charset="-122"/>
                <a:ea typeface="微软雅黑" pitchFamily="34" charset="-122"/>
              </a:rPr>
              <a:t>；时间：</a:t>
            </a:r>
            <a:r>
              <a:rPr lang="en-US" sz="2000" b="1" smtClean="0">
                <a:solidFill>
                  <a:srgbClr val="0000FF"/>
                </a:solidFill>
                <a:latin typeface="微软雅黑" pitchFamily="34" charset="-122"/>
                <a:ea typeface="微软雅黑" pitchFamily="34" charset="-122"/>
              </a:rPr>
              <a:t>54″</a:t>
            </a:r>
            <a:r>
              <a:rPr lang="zh-CN" altLang="en-US" sz="2000" b="1" smtClean="0">
                <a:solidFill>
                  <a:srgbClr val="0000FF"/>
                </a:solidFill>
                <a:latin typeface="微软雅黑" pitchFamily="34" charset="-122"/>
                <a:ea typeface="微软雅黑" pitchFamily="34" charset="-122"/>
              </a:rPr>
              <a:t>；语速：</a:t>
            </a:r>
            <a:r>
              <a:rPr lang="en-US" sz="2000" b="1" smtClean="0">
                <a:solidFill>
                  <a:srgbClr val="0000FF"/>
                </a:solidFill>
                <a:latin typeface="微软雅黑" pitchFamily="34" charset="-122"/>
                <a:ea typeface="微软雅黑" pitchFamily="34" charset="-122"/>
              </a:rPr>
              <a:t>136</a:t>
            </a:r>
            <a:endParaRPr lang="en-US" altLang="zh-CN" sz="2000" b="1" smtClean="0">
              <a:solidFill>
                <a:srgbClr val="0000FF"/>
              </a:solidFill>
              <a:latin typeface="微软雅黑" pitchFamily="34" charset="-122"/>
              <a:ea typeface="微软雅黑" pitchFamily="34" charset="-122"/>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M: Hi. Grace. Haven't seen you for some time!</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W: Oh, Kevin. Nice to see you. Are you also here for dinner?</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M: Yes. My cousin Fiona isn't in town, and this is her favorite </a:t>
            </a:r>
            <a:r>
              <a:rPr lang="en-US" altLang="zh-CN" sz="2000" b="1" u="sng" smtClean="0">
                <a:solidFill>
                  <a:srgbClr val="FF0000"/>
                </a:solidFill>
                <a:latin typeface="Times New Roman" pitchFamily="18" charset="0"/>
                <a:ea typeface="微软雅黑" pitchFamily="34" charset="-122"/>
                <a:cs typeface="Times New Roman" pitchFamily="18" charset="0"/>
              </a:rPr>
              <a:t>steakhouse</a:t>
            </a:r>
            <a:r>
              <a:rPr lang="en-US" altLang="zh-CN" sz="2000" b="1" smtClean="0">
                <a:solidFill>
                  <a:schemeClr val="tx1"/>
                </a:solidFill>
                <a:latin typeface="Times New Roman" pitchFamily="18" charset="0"/>
                <a:ea typeface="微软雅黑" pitchFamily="34" charset="-122"/>
                <a:cs typeface="Times New Roman" pitchFamily="18" charset="0"/>
              </a:rPr>
              <a:t>. You met her last year, right? </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W: Yes, at Jennifer's wedding.</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M: Right? Look, are you here alone? Would you like to join us?</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W: That's very nice of you, but I'm meeting David and some other friends for dinner. You remember, David, from Class Two?</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M: Of course. He was the </a:t>
            </a:r>
            <a:r>
              <a:rPr lang="en-US" altLang="zh-CN" sz="2000" b="1" u="sng" smtClean="0">
                <a:solidFill>
                  <a:srgbClr val="FF0000"/>
                </a:solidFill>
                <a:latin typeface="Times New Roman" pitchFamily="18" charset="0"/>
                <a:ea typeface="微软雅黑" pitchFamily="34" charset="-122"/>
                <a:cs typeface="Times New Roman" pitchFamily="18" charset="0"/>
              </a:rPr>
              <a:t>captain</a:t>
            </a:r>
            <a:r>
              <a:rPr lang="en-US" altLang="zh-CN" sz="2000" b="1" smtClean="0">
                <a:solidFill>
                  <a:schemeClr val="tx1"/>
                </a:solidFill>
                <a:latin typeface="Times New Roman" pitchFamily="18" charset="0"/>
                <a:ea typeface="微软雅黑" pitchFamily="34" charset="-122"/>
                <a:cs typeface="Times New Roman" pitchFamily="18" charset="0"/>
              </a:rPr>
              <a:t> of our school's basketball team. I haven't seen him since graduation.</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W: He worked abroad for 3 years and has just come back.</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sz="2000" b="1" smtClean="0">
                <a:solidFill>
                  <a:schemeClr val="tx1"/>
                </a:solidFill>
                <a:latin typeface="Times New Roman" pitchFamily="18" charset="0"/>
                <a:ea typeface="微软雅黑" pitchFamily="34" charset="-122"/>
                <a:cs typeface="Times New Roman" pitchFamily="18" charset="0"/>
              </a:rPr>
              <a:t>M: Well, </a:t>
            </a:r>
            <a:r>
              <a:rPr lang="en-US" altLang="zh-CN" sz="2000" b="1" u="sng" smtClean="0">
                <a:solidFill>
                  <a:schemeClr val="tx1"/>
                </a:solidFill>
                <a:latin typeface="Times New Roman" pitchFamily="18" charset="0"/>
                <a:ea typeface="微软雅黑" pitchFamily="34" charset="-122"/>
                <a:cs typeface="Times New Roman" pitchFamily="18" charset="0"/>
              </a:rPr>
              <a:t>(10)I'll go and say a quick hello</a:t>
            </a:r>
            <a:r>
              <a:rPr lang="en-US" altLang="zh-CN" sz="2000" b="1" smtClean="0">
                <a:solidFill>
                  <a:schemeClr val="tx1"/>
                </a:solidFill>
                <a:latin typeface="Times New Roman" pitchFamily="18" charset="0"/>
                <a:ea typeface="微软雅黑" pitchFamily="34" charset="-122"/>
                <a:cs typeface="Times New Roman" pitchFamily="18" charset="0"/>
              </a:rPr>
              <a:t>. We </a:t>
            </a:r>
            <a:r>
              <a:rPr lang="en-US" altLang="zh-CN" sz="2000" b="1" u="sng" smtClean="0">
                <a:solidFill>
                  <a:srgbClr val="FF0000"/>
                </a:solidFill>
                <a:latin typeface="Times New Roman" pitchFamily="18" charset="0"/>
                <a:ea typeface="微软雅黑" pitchFamily="34" charset="-122"/>
                <a:cs typeface="Times New Roman" pitchFamily="18" charset="0"/>
              </a:rPr>
              <a:t>definitely</a:t>
            </a:r>
            <a:r>
              <a:rPr lang="en-US" altLang="zh-CN" sz="2000" b="1" smtClean="0">
                <a:solidFill>
                  <a:schemeClr val="tx1"/>
                </a:solidFill>
                <a:latin typeface="Times New Roman" pitchFamily="18" charset="0"/>
                <a:ea typeface="微软雅黑" pitchFamily="34" charset="-122"/>
                <a:cs typeface="Times New Roman" pitchFamily="18" charset="0"/>
              </a:rPr>
              <a:t> should get together sometime and have a drink.</a:t>
            </a:r>
            <a:endParaRPr lang="zh-CN" altLang="en-US" sz="2000" b="1" smtClean="0">
              <a:solidFill>
                <a:schemeClr val="tx1"/>
              </a:solidFill>
              <a:latin typeface="Times New Roman" pitchFamily="18" charset="0"/>
              <a:ea typeface="微软雅黑" pitchFamily="34" charset="-122"/>
              <a:cs typeface="Times New Roman" pitchFamily="18" charset="0"/>
            </a:endParaRPr>
          </a:p>
        </p:txBody>
      </p:sp>
      <p:sp>
        <p:nvSpPr>
          <p:cNvPr id="7" name="文本框 10" title=""/>
          <p:cNvSpPr txBox="1"/>
          <p:nvPr>
            <p:custDataLst>
              <p:tags r:id="rId2"/>
            </p:custDataLst>
          </p:nvPr>
        </p:nvSpPr>
        <p:spPr>
          <a:xfrm>
            <a:off x="294646" y="192878"/>
            <a:ext cx="11602079" cy="830997"/>
          </a:xfrm>
          <a:prstGeom prst="rect">
            <a:avLst/>
          </a:prstGeom>
          <a:solidFill>
            <a:srgbClr val="FFFFCC"/>
          </a:solidFill>
          <a:ln w="19050">
            <a:solidFill>
              <a:schemeClr val="tx1"/>
            </a:solidFill>
          </a:ln>
        </p:spPr>
        <p:txBody>
          <a:bodyPr wrap="square" anchor="t" anchorCtr="0">
            <a:spAutoFit/>
          </a:bodyPr>
          <a:lstStyle/>
          <a:p>
            <a:r>
              <a:rPr lang="en-US" sz="2400" b="1" smtClean="0">
                <a:latin typeface="Times New Roman" pitchFamily="18" charset="0"/>
                <a:cs typeface="Times New Roman" pitchFamily="18" charset="0"/>
              </a:rPr>
              <a:t>10. What is Kevin going to do next?</a:t>
            </a:r>
            <a:endParaRPr lang="zh-CN" altLang="en-US" sz="2400" b="1" smtClean="0">
              <a:latin typeface="Times New Roman" pitchFamily="18" charset="0"/>
              <a:cs typeface="Times New Roman" pitchFamily="18" charset="0"/>
            </a:endParaRPr>
          </a:p>
          <a:p>
            <a:r>
              <a:rPr lang="en-US" sz="2400" b="1" smtClean="0">
                <a:latin typeface="Times New Roman" pitchFamily="18" charset="0"/>
                <a:cs typeface="Times New Roman" pitchFamily="18" charset="0"/>
              </a:rPr>
              <a:t>       A. Buy a drink.	        B. Play basketball.	C. Greet a friend.</a:t>
            </a:r>
            <a:endParaRPr lang="zh-CN" altLang="en-US" sz="2400" b="1">
              <a:latin typeface="Times New Roman" pitchFamily="18" charset="0"/>
              <a:cs typeface="Times New Roman" pitchFamily="18" charset="0"/>
            </a:endParaRPr>
          </a:p>
        </p:txBody>
      </p:sp>
      <p:sp>
        <p:nvSpPr>
          <p:cNvPr id="8" name="文本框 3" title=""/>
          <p:cNvSpPr txBox="1"/>
          <p:nvPr>
            <p:custDataLst>
              <p:tags r:id="rId3"/>
            </p:custDataLst>
          </p:nvPr>
        </p:nvSpPr>
        <p:spPr>
          <a:xfrm>
            <a:off x="311370" y="5198328"/>
            <a:ext cx="11604405" cy="784830"/>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】10. C。</a:t>
            </a:r>
            <a:r>
              <a:rPr lang="zh-CN" altLang="en-US" sz="2000" b="1" smtClean="0">
                <a:solidFill>
                  <a:srgbClr val="FF00FF"/>
                </a:solidFill>
                <a:latin typeface="Times New Roman" pitchFamily="18" charset="0"/>
                <a:ea typeface="微软雅黑" pitchFamily="34" charset="-122"/>
                <a:cs typeface="Times New Roman" pitchFamily="18" charset="0"/>
              </a:rPr>
              <a:t>事实细节题。</a:t>
            </a:r>
            <a:r>
              <a:rPr lang="en-US" altLang="zh-CN" sz="2000" b="1" smtClean="0">
                <a:solidFill>
                  <a:srgbClr val="FF00FF"/>
                </a:solidFill>
                <a:latin typeface="Times New Roman" pitchFamily="18" charset="0"/>
                <a:ea typeface="微软雅黑" pitchFamily="34" charset="-122"/>
                <a:cs typeface="Times New Roman" pitchFamily="18" charset="0"/>
              </a:rPr>
              <a:t>Kevin</a:t>
            </a:r>
            <a:r>
              <a:rPr lang="zh-CN" altLang="en-US" sz="2000" b="1" smtClean="0">
                <a:solidFill>
                  <a:srgbClr val="FF00FF"/>
                </a:solidFill>
                <a:latin typeface="Times New Roman" pitchFamily="18" charset="0"/>
                <a:ea typeface="微软雅黑" pitchFamily="34" charset="-122"/>
                <a:cs typeface="Times New Roman" pitchFamily="18" charset="0"/>
              </a:rPr>
              <a:t>说他自从毕业后就没见过</a:t>
            </a:r>
            <a:r>
              <a:rPr lang="en-US" altLang="zh-CN" sz="2000" b="1" smtClean="0">
                <a:solidFill>
                  <a:srgbClr val="FF00FF"/>
                </a:solidFill>
                <a:latin typeface="Times New Roman" pitchFamily="18" charset="0"/>
                <a:ea typeface="微软雅黑" pitchFamily="34" charset="-122"/>
                <a:cs typeface="Times New Roman" pitchFamily="18" charset="0"/>
              </a:rPr>
              <a:t>David。</a:t>
            </a:r>
            <a:r>
              <a:rPr lang="zh-CN" altLang="en-US" sz="2000" b="1" smtClean="0">
                <a:solidFill>
                  <a:srgbClr val="FF00FF"/>
                </a:solidFill>
                <a:latin typeface="Times New Roman" pitchFamily="18" charset="0"/>
                <a:ea typeface="微软雅黑" pitchFamily="34" charset="-122"/>
                <a:cs typeface="Times New Roman" pitchFamily="18" charset="0"/>
              </a:rPr>
              <a:t>根据</a:t>
            </a:r>
            <a:r>
              <a:rPr lang="en-US" altLang="zh-CN" sz="2000" b="1" smtClean="0">
                <a:solidFill>
                  <a:srgbClr val="FF00FF"/>
                </a:solidFill>
                <a:latin typeface="Times New Roman" pitchFamily="18" charset="0"/>
                <a:ea typeface="微软雅黑" pitchFamily="34" charset="-122"/>
                <a:cs typeface="Times New Roman" pitchFamily="18" charset="0"/>
              </a:rPr>
              <a:t>Kevin</a:t>
            </a:r>
            <a:r>
              <a:rPr lang="zh-CN" altLang="en-US" sz="2000" b="1" smtClean="0">
                <a:solidFill>
                  <a:srgbClr val="FF00FF"/>
                </a:solidFill>
                <a:latin typeface="Times New Roman" pitchFamily="18" charset="0"/>
                <a:ea typeface="微软雅黑" pitchFamily="34" charset="-122"/>
                <a:cs typeface="Times New Roman" pitchFamily="18" charset="0"/>
              </a:rPr>
              <a:t>接下来的话“</a:t>
            </a:r>
            <a:r>
              <a:rPr lang="en-US" altLang="zh-CN" sz="2000" b="1" smtClean="0">
                <a:solidFill>
                  <a:srgbClr val="FF00FF"/>
                </a:solidFill>
                <a:latin typeface="Times New Roman" pitchFamily="18" charset="0"/>
                <a:ea typeface="微软雅黑" pitchFamily="34" charset="-122"/>
                <a:cs typeface="Times New Roman" pitchFamily="18" charset="0"/>
              </a:rPr>
              <a:t>Well, I’ll go and say a quick hello.”</a:t>
            </a:r>
            <a:r>
              <a:rPr lang="zh-CN" altLang="en-US" sz="2000" b="1" smtClean="0">
                <a:solidFill>
                  <a:srgbClr val="FF00FF"/>
                </a:solidFill>
                <a:latin typeface="Times New Roman" pitchFamily="18" charset="0"/>
                <a:ea typeface="微软雅黑" pitchFamily="34" charset="-122"/>
                <a:cs typeface="Times New Roman" pitchFamily="18" charset="0"/>
              </a:rPr>
              <a:t>可知，他打算去跟</a:t>
            </a:r>
            <a:r>
              <a:rPr lang="en-US" altLang="zh-CN" sz="2000" b="1" smtClean="0">
                <a:solidFill>
                  <a:srgbClr val="FF00FF"/>
                </a:solidFill>
                <a:latin typeface="Times New Roman" pitchFamily="18" charset="0"/>
                <a:ea typeface="微软雅黑" pitchFamily="34" charset="-122"/>
                <a:cs typeface="Times New Roman" pitchFamily="18" charset="0"/>
              </a:rPr>
              <a:t>David</a:t>
            </a:r>
            <a:r>
              <a:rPr lang="zh-CN" altLang="en-US" sz="2000" b="1" smtClean="0">
                <a:solidFill>
                  <a:srgbClr val="FF00FF"/>
                </a:solidFill>
                <a:latin typeface="Times New Roman" pitchFamily="18" charset="0"/>
                <a:ea typeface="微软雅黑" pitchFamily="34" charset="-122"/>
                <a:cs typeface="Times New Roman" pitchFamily="18" charset="0"/>
              </a:rPr>
              <a:t>打个招呼。正确选项是对原文的表达进行了同义转述</a:t>
            </a:r>
            <a:r>
              <a:rPr lang="zh-CN" altLang="en-US" sz="2000" b="1" smtClean="0">
                <a:latin typeface="Times New Roman" pitchFamily="18" charset="0"/>
                <a:ea typeface="微软雅黑" pitchFamily="34" charset="-122"/>
                <a:cs typeface="Times New Roman" pitchFamily="18" charset="0"/>
              </a:rPr>
              <a:t>。</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6816018" y="656148"/>
            <a:ext cx="206826" cy="285716"/>
          </a:xfrm>
          <a:prstGeom prst="rect">
            <a:avLst/>
          </a:prstGeom>
        </p:spPr>
      </p:pic>
      <p:sp>
        <p:nvSpPr>
          <p:cNvPr id="12289" name="Rectangle 1" title=""/>
          <p:cNvSpPr>
            <a:spLocks noChangeArrowheads="1"/>
          </p:cNvSpPr>
          <p:nvPr/>
        </p:nvSpPr>
        <p:spPr bwMode="auto">
          <a:xfrm>
            <a:off x="8696325" y="1143000"/>
            <a:ext cx="3286125" cy="1015663"/>
          </a:xfrm>
          <a:prstGeom prst="rect">
            <a:avLst/>
          </a:prstGeom>
          <a:noFill/>
          <a:ln w="9525">
            <a:noFill/>
            <a:miter lim="800000"/>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*steakhouse n.</a:t>
            </a: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牛排餐馆 </a:t>
            </a:r>
            <a:endParaRPr kumimoji="0" lang="zh-CN" altLang="en-US" sz="16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captain n.</a:t>
            </a: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队长</a:t>
            </a:r>
            <a:endParaRPr kumimoji="0" lang="zh-CN" altLang="en-US" sz="16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definitely adv.</a:t>
            </a:r>
            <a:r>
              <a:rPr kumimoji="0" lang="zh-CN" altLang="en-US" sz="2000"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当然；确实</a:t>
            </a:r>
            <a:endParaRPr kumimoji="0" lang="zh-CN" altLang="en-US" sz="44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58324" y="1279485"/>
            <a:ext cx="11586026" cy="376876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000" b="1" smtClean="0">
                <a:solidFill>
                  <a:srgbClr val="0000FF"/>
                </a:solidFill>
                <a:latin typeface="Times New Roman" pitchFamily="18" charset="0"/>
                <a:ea typeface="微软雅黑" pitchFamily="34" charset="-122"/>
                <a:cs typeface="Times New Roman" pitchFamily="18" charset="0"/>
              </a:rPr>
              <a:t>(Text 8)</a:t>
            </a:r>
            <a:r>
              <a:rPr lang="zh-CN" altLang="en-US" sz="2000" b="1" smtClean="0">
                <a:solidFill>
                  <a:srgbClr val="0000FF"/>
                </a:solidFill>
                <a:latin typeface="微软雅黑" pitchFamily="34" charset="-122"/>
                <a:ea typeface="微软雅黑" pitchFamily="34" charset="-122"/>
              </a:rPr>
              <a:t>话题：探讨电视节目类型</a:t>
            </a:r>
            <a:r>
              <a:rPr lang="en-US" altLang="en-US" sz="2000" b="1" smtClean="0">
                <a:solidFill>
                  <a:srgbClr val="0000FF"/>
                </a:solidFill>
                <a:latin typeface="微软雅黑" pitchFamily="34" charset="-122"/>
                <a:ea typeface="微软雅黑" pitchFamily="34" charset="-122"/>
              </a:rPr>
              <a:t>(</a:t>
            </a:r>
            <a:r>
              <a:rPr lang="zh-CN" altLang="en-US" sz="2000" b="1" smtClean="0">
                <a:solidFill>
                  <a:srgbClr val="0000FF"/>
                </a:solidFill>
                <a:latin typeface="微软雅黑" pitchFamily="34" charset="-122"/>
                <a:ea typeface="微软雅黑" pitchFamily="34" charset="-122"/>
              </a:rPr>
              <a:t>教育性与娱乐性</a:t>
            </a:r>
            <a:r>
              <a:rPr lang="en-US" altLang="en-US" sz="2000" b="1" smtClean="0">
                <a:solidFill>
                  <a:srgbClr val="0000FF"/>
                </a:solidFill>
                <a:latin typeface="微软雅黑" pitchFamily="34" charset="-122"/>
                <a:ea typeface="微软雅黑" pitchFamily="34" charset="-122"/>
              </a:rPr>
              <a:t>)   </a:t>
            </a:r>
            <a:r>
              <a:rPr lang="zh-CN" altLang="en-US" sz="2000" b="1" smtClean="0">
                <a:solidFill>
                  <a:srgbClr val="0000FF"/>
                </a:solidFill>
                <a:latin typeface="微软雅黑" pitchFamily="34" charset="-122"/>
                <a:ea typeface="微软雅黑" pitchFamily="34" charset="-122"/>
              </a:rPr>
              <a:t>词数：</a:t>
            </a:r>
            <a:r>
              <a:rPr lang="en-US" sz="2000" b="1" smtClean="0">
                <a:solidFill>
                  <a:srgbClr val="0000FF"/>
                </a:solidFill>
                <a:latin typeface="微软雅黑" pitchFamily="34" charset="-122"/>
                <a:ea typeface="微软雅黑" pitchFamily="34" charset="-122"/>
              </a:rPr>
              <a:t>123</a:t>
            </a:r>
            <a:r>
              <a:rPr lang="zh-CN" altLang="en-US" sz="2000" b="1" smtClean="0">
                <a:solidFill>
                  <a:srgbClr val="0000FF"/>
                </a:solidFill>
                <a:latin typeface="微软雅黑" pitchFamily="34" charset="-122"/>
                <a:ea typeface="微软雅黑" pitchFamily="34" charset="-122"/>
              </a:rPr>
              <a:t>；时间：</a:t>
            </a:r>
            <a:r>
              <a:rPr lang="en-US" sz="2000" b="1" smtClean="0">
                <a:solidFill>
                  <a:srgbClr val="0000FF"/>
                </a:solidFill>
                <a:latin typeface="微软雅黑" pitchFamily="34" charset="-122"/>
                <a:ea typeface="微软雅黑" pitchFamily="34" charset="-122"/>
              </a:rPr>
              <a:t>55″</a:t>
            </a:r>
            <a:r>
              <a:rPr lang="zh-CN" altLang="en-US" sz="2000" b="1" smtClean="0">
                <a:solidFill>
                  <a:srgbClr val="0000FF"/>
                </a:solidFill>
                <a:latin typeface="微软雅黑" pitchFamily="34" charset="-122"/>
                <a:ea typeface="微软雅黑" pitchFamily="34" charset="-122"/>
              </a:rPr>
              <a:t>；语速：</a:t>
            </a:r>
            <a:r>
              <a:rPr lang="en-US" sz="2000" b="1" smtClean="0">
                <a:solidFill>
                  <a:srgbClr val="0000FF"/>
                </a:solidFill>
                <a:latin typeface="微软雅黑" pitchFamily="34" charset="-122"/>
                <a:ea typeface="微软雅黑" pitchFamily="34" charset="-122"/>
              </a:rPr>
              <a:t>134</a:t>
            </a:r>
            <a:endParaRPr lang="en-US" altLang="zh-CN" sz="2000" b="1" smtClean="0">
              <a:solidFill>
                <a:srgbClr val="0000FF"/>
              </a:solidFill>
              <a:latin typeface="微软雅黑" pitchFamily="34" charset="-122"/>
              <a:ea typeface="微软雅黑" pitchFamily="34" charset="-122"/>
            </a:endParaRPr>
          </a:p>
          <a:p>
            <a:pPr algn="just"/>
            <a:r>
              <a:rPr lang="en-US" sz="2000" b="1" smtClean="0">
                <a:latin typeface="Times New Roman" pitchFamily="18" charset="0"/>
                <a:cs typeface="Times New Roman" pitchFamily="18" charset="0"/>
              </a:rPr>
              <a:t>W: There's nothing </a:t>
            </a:r>
            <a:r>
              <a:rPr lang="en-US" sz="2000" b="1" u="sng" smtClean="0">
                <a:solidFill>
                  <a:srgbClr val="FF0000"/>
                </a:solidFill>
                <a:latin typeface="Times New Roman" pitchFamily="18" charset="0"/>
                <a:cs typeface="Times New Roman" pitchFamily="18" charset="0"/>
              </a:rPr>
              <a:t>decent</a:t>
            </a:r>
            <a:r>
              <a:rPr lang="en-US" sz="2000" b="1" smtClean="0">
                <a:latin typeface="Times New Roman" pitchFamily="18" charset="0"/>
                <a:cs typeface="Times New Roman" pitchFamily="18" charset="0"/>
              </a:rPr>
              <a:t> to watch these days on TV.</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M: Nothing decent? There's </a:t>
            </a:r>
            <a:r>
              <a:rPr lang="en-US" sz="2000" b="1" u="sng" smtClean="0">
                <a:solidFill>
                  <a:srgbClr val="FF0000"/>
                </a:solidFill>
                <a:latin typeface="Times New Roman" pitchFamily="18" charset="0"/>
                <a:cs typeface="Times New Roman" pitchFamily="18" charset="0"/>
              </a:rPr>
              <a:t>tons of stuff</a:t>
            </a:r>
            <a:r>
              <a:rPr lang="en-US" sz="2000" b="1" smtClean="0">
                <a:latin typeface="Times New Roman" pitchFamily="18" charset="0"/>
                <a:cs typeface="Times New Roman" pitchFamily="18" charset="0"/>
              </a:rPr>
              <a:t>.</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W: </a:t>
            </a:r>
            <a:r>
              <a:rPr lang="en-US" altLang="zh-CN" sz="2000" b="1" u="sng" smtClean="0">
                <a:solidFill>
                  <a:schemeClr val="tx1"/>
                </a:solidFill>
                <a:latin typeface="Times New Roman" pitchFamily="18" charset="0"/>
                <a:ea typeface="微软雅黑" pitchFamily="34" charset="-122"/>
                <a:cs typeface="Times New Roman" pitchFamily="18" charset="0"/>
              </a:rPr>
              <a:t>(11)</a:t>
            </a:r>
            <a:r>
              <a:rPr lang="en-US" sz="2000" b="1" u="sng" smtClean="0">
                <a:latin typeface="Times New Roman" pitchFamily="18" charset="0"/>
                <a:cs typeface="Times New Roman" pitchFamily="18" charset="0"/>
              </a:rPr>
              <a:t>They've </a:t>
            </a:r>
            <a:r>
              <a:rPr lang="en-US" sz="2000" b="1" u="sng" smtClean="0">
                <a:solidFill>
                  <a:srgbClr val="FF0000"/>
                </a:solidFill>
                <a:latin typeface="Times New Roman" pitchFamily="18" charset="0"/>
                <a:cs typeface="Times New Roman" pitchFamily="18" charset="0"/>
              </a:rPr>
              <a:t>cut down on </a:t>
            </a:r>
            <a:r>
              <a:rPr lang="en-US" sz="2000" b="1" u="sng" smtClean="0">
                <a:latin typeface="Times New Roman" pitchFamily="18" charset="0"/>
                <a:cs typeface="Times New Roman" pitchFamily="18" charset="0"/>
              </a:rPr>
              <a:t>the number of news programs, and the number of </a:t>
            </a:r>
            <a:r>
              <a:rPr lang="en-US" sz="2000" b="1" u="sng" smtClean="0">
                <a:solidFill>
                  <a:srgbClr val="FF0000"/>
                </a:solidFill>
                <a:latin typeface="Times New Roman" pitchFamily="18" charset="0"/>
                <a:cs typeface="Times New Roman" pitchFamily="18" charset="0"/>
              </a:rPr>
              <a:t>documentaries</a:t>
            </a:r>
            <a:r>
              <a:rPr lang="en-US" sz="2000" b="1" u="sng" smtClean="0">
                <a:latin typeface="Times New Roman" pitchFamily="18" charset="0"/>
                <a:cs typeface="Times New Roman" pitchFamily="18" charset="0"/>
              </a:rPr>
              <a:t>. </a:t>
            </a:r>
            <a:r>
              <a:rPr lang="en-US" sz="2000" b="1" smtClean="0">
                <a:latin typeface="Times New Roman" pitchFamily="18" charset="0"/>
                <a:cs typeface="Times New Roman" pitchFamily="18" charset="0"/>
              </a:rPr>
              <a:t>All have been replaced by these stupid </a:t>
            </a:r>
            <a:r>
              <a:rPr lang="en-US" sz="2000" b="1" u="sng" smtClean="0">
                <a:solidFill>
                  <a:srgbClr val="FF0000"/>
                </a:solidFill>
                <a:latin typeface="Times New Roman" pitchFamily="18" charset="0"/>
                <a:cs typeface="Times New Roman" pitchFamily="18" charset="0"/>
              </a:rPr>
              <a:t>reality shows</a:t>
            </a:r>
            <a:r>
              <a:rPr lang="en-US" sz="2000" b="1" smtClean="0">
                <a:latin typeface="Times New Roman" pitchFamily="18" charset="0"/>
                <a:cs typeface="Times New Roman" pitchFamily="18" charset="0"/>
              </a:rPr>
              <a:t> and game shows, you know.</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M: Well, they often make me laugh. People want to watch that kind of thing. It's good, you know. As long as </a:t>
            </a:r>
            <a:r>
              <a:rPr lang="en-US" sz="2000" b="1" u="sng" smtClean="0">
                <a:solidFill>
                  <a:srgbClr val="FF0000"/>
                </a:solidFill>
                <a:latin typeface="Times New Roman" pitchFamily="18" charset="0"/>
                <a:cs typeface="Times New Roman" pitchFamily="18" charset="0"/>
              </a:rPr>
              <a:t>there's a balance</a:t>
            </a:r>
            <a:r>
              <a:rPr lang="en-US" sz="2000" b="1" smtClean="0">
                <a:latin typeface="Times New Roman" pitchFamily="18" charset="0"/>
                <a:cs typeface="Times New Roman" pitchFamily="18" charset="0"/>
              </a:rPr>
              <a:t>, there's a bit of this, a bit of that.</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W: Should we be giving people what they want to watch? Or should we be, you know, trying to educate them? </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M: Well, TV is there for entertainment. If you want an education, you go to university or college or something, don't you?</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W: No. I really don’t think so.</a:t>
            </a:r>
            <a:endParaRPr lang="zh-CN" altLang="en-US" sz="2000" b="1">
              <a:latin typeface="Times New Roman" pitchFamily="18" charset="0"/>
              <a:cs typeface="Times New Roman" pitchFamily="18" charset="0"/>
            </a:endParaRPr>
          </a:p>
        </p:txBody>
      </p:sp>
      <p:sp>
        <p:nvSpPr>
          <p:cNvPr id="7" name="文本框 10" title=""/>
          <p:cNvSpPr txBox="1"/>
          <p:nvPr>
            <p:custDataLst>
              <p:tags r:id="rId2"/>
            </p:custDataLst>
          </p:nvPr>
        </p:nvSpPr>
        <p:spPr>
          <a:xfrm>
            <a:off x="332746" y="192878"/>
            <a:ext cx="11602079" cy="1015663"/>
          </a:xfrm>
          <a:prstGeom prst="rect">
            <a:avLst/>
          </a:prstGeom>
          <a:solidFill>
            <a:srgbClr val="FFFFCC"/>
          </a:solidFill>
          <a:ln w="19050">
            <a:solidFill>
              <a:schemeClr val="tx1"/>
            </a:solidFill>
          </a:ln>
        </p:spPr>
        <p:txBody>
          <a:bodyPr wrap="square" anchor="t" anchorCtr="0">
            <a:spAutoFit/>
          </a:bodyPr>
          <a:lstStyle/>
          <a:p>
            <a:r>
              <a:rPr lang="en-US" sz="2000" b="1" smtClean="0">
                <a:latin typeface="Times New Roman" pitchFamily="18" charset="0"/>
                <a:cs typeface="Times New Roman" pitchFamily="18" charset="0"/>
              </a:rPr>
              <a:t>11. What does the woman say about news programs?</a:t>
            </a:r>
            <a:endParaRPr lang="zh-CN" altLang="en-US" sz="2000" b="1" smtClean="0">
              <a:latin typeface="Times New Roman" pitchFamily="18" charset="0"/>
              <a:cs typeface="Times New Roman" pitchFamily="18" charset="0"/>
            </a:endParaRPr>
          </a:p>
          <a:p>
            <a:r>
              <a:rPr lang="en-US" sz="2000" b="1" smtClean="0">
                <a:latin typeface="Times New Roman" pitchFamily="18" charset="0"/>
                <a:cs typeface="Times New Roman" pitchFamily="18" charset="0"/>
              </a:rPr>
              <a:t>      A. They are replaced by documentaries.      B. They have been reduced in number.</a:t>
            </a:r>
            <a:endParaRPr lang="zh-CN" altLang="en-US" sz="2000" b="1" smtClean="0">
              <a:latin typeface="Times New Roman" pitchFamily="18" charset="0"/>
              <a:cs typeface="Times New Roman" pitchFamily="18" charset="0"/>
            </a:endParaRPr>
          </a:p>
          <a:p>
            <a:r>
              <a:rPr lang="en-US" sz="2000" b="1" smtClean="0">
                <a:latin typeface="Times New Roman" pitchFamily="18" charset="0"/>
                <a:cs typeface="Times New Roman" pitchFamily="18" charset="0"/>
              </a:rPr>
              <a:t>      C. They focus on the life of celebrities.</a:t>
            </a:r>
            <a:endParaRPr lang="zh-CN" altLang="en-US" sz="2000" b="1">
              <a:latin typeface="Times New Roman" pitchFamily="18" charset="0"/>
              <a:cs typeface="Times New Roman" pitchFamily="18" charset="0"/>
            </a:endParaRPr>
          </a:p>
        </p:txBody>
      </p:sp>
      <p:sp>
        <p:nvSpPr>
          <p:cNvPr id="8" name="文本框 3" title=""/>
          <p:cNvSpPr txBox="1"/>
          <p:nvPr>
            <p:custDataLst>
              <p:tags r:id="rId3"/>
            </p:custDataLst>
          </p:nvPr>
        </p:nvSpPr>
        <p:spPr>
          <a:xfrm>
            <a:off x="349470" y="5226903"/>
            <a:ext cx="11604405" cy="1105367"/>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】11. B。</a:t>
            </a:r>
            <a:r>
              <a:rPr lang="zh-CN" altLang="en-US" sz="2000" b="1" smtClean="0">
                <a:solidFill>
                  <a:srgbClr val="FF00FF"/>
                </a:solidFill>
                <a:latin typeface="Times New Roman" pitchFamily="18" charset="0"/>
                <a:ea typeface="微软雅黑" pitchFamily="34" charset="-122"/>
                <a:cs typeface="Times New Roman" pitchFamily="18" charset="0"/>
              </a:rPr>
              <a:t>事实细节题。根据女士的话“</a:t>
            </a:r>
            <a:r>
              <a:rPr lang="en-US" altLang="zh-CN" sz="2000" b="1" smtClean="0">
                <a:solidFill>
                  <a:srgbClr val="FF00FF"/>
                </a:solidFill>
                <a:latin typeface="Times New Roman" pitchFamily="18" charset="0"/>
                <a:ea typeface="微软雅黑" pitchFamily="34" charset="-122"/>
                <a:cs typeface="Times New Roman" pitchFamily="18" charset="0"/>
              </a:rPr>
              <a:t>They’ve cut down on the number of news programs, and the number of documentaries.”</a:t>
            </a:r>
            <a:r>
              <a:rPr lang="zh-CN" altLang="en-US" sz="2000" b="1" smtClean="0">
                <a:solidFill>
                  <a:srgbClr val="FF00FF"/>
                </a:solidFill>
                <a:latin typeface="Times New Roman" pitchFamily="18" charset="0"/>
                <a:ea typeface="微软雅黑" pitchFamily="34" charset="-122"/>
                <a:cs typeface="Times New Roman" pitchFamily="18" charset="0"/>
              </a:rPr>
              <a:t>可知，他们减少了新闻节目和纪录片的数量。由此可知，新闻节目的数量被削减了。正确选项中的“</a:t>
            </a:r>
            <a:r>
              <a:rPr lang="en-US" altLang="zh-CN" sz="2000" b="1" smtClean="0">
                <a:solidFill>
                  <a:srgbClr val="FF00FF"/>
                </a:solidFill>
                <a:latin typeface="Times New Roman" pitchFamily="18" charset="0"/>
                <a:ea typeface="微软雅黑" pitchFamily="34" charset="-122"/>
                <a:cs typeface="Times New Roman" pitchFamily="18" charset="0"/>
              </a:rPr>
              <a:t>reduce in number”</a:t>
            </a:r>
            <a:r>
              <a:rPr lang="zh-CN" altLang="en-US" sz="2000" b="1" smtClean="0">
                <a:solidFill>
                  <a:srgbClr val="FF00FF"/>
                </a:solidFill>
                <a:latin typeface="Times New Roman" pitchFamily="18" charset="0"/>
                <a:ea typeface="微软雅黑" pitchFamily="34" charset="-122"/>
                <a:cs typeface="Times New Roman" pitchFamily="18" charset="0"/>
              </a:rPr>
              <a:t>对应原文中的“</a:t>
            </a:r>
            <a:r>
              <a:rPr lang="en-US" altLang="zh-CN" sz="2000" b="1" smtClean="0">
                <a:solidFill>
                  <a:srgbClr val="FF00FF"/>
                </a:solidFill>
                <a:latin typeface="Times New Roman" pitchFamily="18" charset="0"/>
                <a:ea typeface="微软雅黑" pitchFamily="34" charset="-122"/>
                <a:cs typeface="Times New Roman" pitchFamily="18" charset="0"/>
              </a:rPr>
              <a:t>cut down on the number”。</a:t>
            </a:r>
            <a:endParaRPr lang="zh-CN" altLang="en-US" sz="2000" b="1" smtClean="0">
              <a:solidFill>
                <a:srgbClr val="FF00FF"/>
              </a:solidFill>
              <a:latin typeface="Times New Roman" pitchFamily="18" charset="0"/>
              <a:ea typeface="微软雅黑" pitchFamily="34" charset="-122"/>
              <a:cs typeface="Times New Roman" pitchFamily="18" charset="0"/>
            </a:endParaRP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5425368" y="551373"/>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29749" y="898484"/>
            <a:ext cx="11586026" cy="3759241"/>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000" b="1" smtClean="0">
                <a:solidFill>
                  <a:srgbClr val="0000FF"/>
                </a:solidFill>
                <a:latin typeface="Times New Roman" pitchFamily="18" charset="0"/>
                <a:ea typeface="微软雅黑" pitchFamily="34" charset="-122"/>
                <a:cs typeface="Times New Roman" pitchFamily="18" charset="0"/>
              </a:rPr>
              <a:t>(Text 8)</a:t>
            </a:r>
            <a:r>
              <a:rPr lang="zh-CN" altLang="en-US" sz="2000" b="1" smtClean="0">
                <a:solidFill>
                  <a:srgbClr val="0000FF"/>
                </a:solidFill>
                <a:latin typeface="微软雅黑" pitchFamily="34" charset="-122"/>
                <a:ea typeface="微软雅黑" pitchFamily="34" charset="-122"/>
              </a:rPr>
              <a:t>话题：探讨电视节目类型</a:t>
            </a:r>
            <a:r>
              <a:rPr lang="en-US" altLang="en-US" sz="2000" b="1" smtClean="0">
                <a:solidFill>
                  <a:srgbClr val="0000FF"/>
                </a:solidFill>
                <a:latin typeface="微软雅黑" pitchFamily="34" charset="-122"/>
                <a:ea typeface="微软雅黑" pitchFamily="34" charset="-122"/>
              </a:rPr>
              <a:t>(</a:t>
            </a:r>
            <a:r>
              <a:rPr lang="zh-CN" altLang="en-US" sz="2000" b="1" smtClean="0">
                <a:solidFill>
                  <a:srgbClr val="0000FF"/>
                </a:solidFill>
                <a:latin typeface="微软雅黑" pitchFamily="34" charset="-122"/>
                <a:ea typeface="微软雅黑" pitchFamily="34" charset="-122"/>
              </a:rPr>
              <a:t>教育性与娱乐性</a:t>
            </a:r>
            <a:r>
              <a:rPr lang="en-US" altLang="en-US" sz="2000" b="1" smtClean="0">
                <a:solidFill>
                  <a:srgbClr val="0000FF"/>
                </a:solidFill>
                <a:latin typeface="微软雅黑" pitchFamily="34" charset="-122"/>
                <a:ea typeface="微软雅黑" pitchFamily="34" charset="-122"/>
              </a:rPr>
              <a:t>)    </a:t>
            </a:r>
            <a:r>
              <a:rPr lang="zh-CN" altLang="en-US" sz="2000" b="1" smtClean="0">
                <a:solidFill>
                  <a:srgbClr val="0000FF"/>
                </a:solidFill>
                <a:latin typeface="微软雅黑" pitchFamily="34" charset="-122"/>
                <a:ea typeface="微软雅黑" pitchFamily="34" charset="-122"/>
              </a:rPr>
              <a:t>词数：</a:t>
            </a:r>
            <a:r>
              <a:rPr lang="en-US" sz="2000" b="1" smtClean="0">
                <a:solidFill>
                  <a:srgbClr val="0000FF"/>
                </a:solidFill>
                <a:latin typeface="微软雅黑" pitchFamily="34" charset="-122"/>
                <a:ea typeface="微软雅黑" pitchFamily="34" charset="-122"/>
              </a:rPr>
              <a:t>123</a:t>
            </a:r>
            <a:r>
              <a:rPr lang="zh-CN" altLang="en-US" sz="2000" b="1" smtClean="0">
                <a:solidFill>
                  <a:srgbClr val="0000FF"/>
                </a:solidFill>
                <a:latin typeface="微软雅黑" pitchFamily="34" charset="-122"/>
                <a:ea typeface="微软雅黑" pitchFamily="34" charset="-122"/>
              </a:rPr>
              <a:t>；时间：</a:t>
            </a:r>
            <a:r>
              <a:rPr lang="en-US" sz="2000" b="1" smtClean="0">
                <a:solidFill>
                  <a:srgbClr val="0000FF"/>
                </a:solidFill>
                <a:latin typeface="微软雅黑" pitchFamily="34" charset="-122"/>
                <a:ea typeface="微软雅黑" pitchFamily="34" charset="-122"/>
              </a:rPr>
              <a:t>55″</a:t>
            </a:r>
            <a:r>
              <a:rPr lang="zh-CN" altLang="en-US" sz="2000" b="1" smtClean="0">
                <a:solidFill>
                  <a:srgbClr val="0000FF"/>
                </a:solidFill>
                <a:latin typeface="微软雅黑" pitchFamily="34" charset="-122"/>
                <a:ea typeface="微软雅黑" pitchFamily="34" charset="-122"/>
              </a:rPr>
              <a:t>；语速：</a:t>
            </a:r>
            <a:r>
              <a:rPr lang="en-US" sz="2000" b="1" smtClean="0">
                <a:solidFill>
                  <a:srgbClr val="0000FF"/>
                </a:solidFill>
                <a:latin typeface="微软雅黑" pitchFamily="34" charset="-122"/>
                <a:ea typeface="微软雅黑" pitchFamily="34" charset="-122"/>
              </a:rPr>
              <a:t>134</a:t>
            </a:r>
            <a:endParaRPr lang="en-US" altLang="zh-CN" sz="2000" b="1" smtClean="0">
              <a:solidFill>
                <a:srgbClr val="0000FF"/>
              </a:solidFill>
              <a:latin typeface="微软雅黑" pitchFamily="34" charset="-122"/>
              <a:ea typeface="微软雅黑" pitchFamily="34" charset="-122"/>
            </a:endParaRPr>
          </a:p>
          <a:p>
            <a:pPr algn="just"/>
            <a:r>
              <a:rPr lang="en-US" sz="2000" b="1" smtClean="0">
                <a:latin typeface="Times New Roman" pitchFamily="18" charset="0"/>
                <a:cs typeface="Times New Roman" pitchFamily="18" charset="0"/>
              </a:rPr>
              <a:t>W: There's nothing </a:t>
            </a:r>
            <a:r>
              <a:rPr lang="en-US" sz="2000" b="1" u="sng" smtClean="0">
                <a:solidFill>
                  <a:srgbClr val="FF0000"/>
                </a:solidFill>
                <a:latin typeface="Times New Roman" pitchFamily="18" charset="0"/>
                <a:cs typeface="Times New Roman" pitchFamily="18" charset="0"/>
              </a:rPr>
              <a:t>decent</a:t>
            </a:r>
            <a:r>
              <a:rPr lang="en-US" sz="2000" b="1" smtClean="0">
                <a:latin typeface="Times New Roman" pitchFamily="18" charset="0"/>
                <a:cs typeface="Times New Roman" pitchFamily="18" charset="0"/>
              </a:rPr>
              <a:t> to watch these days on TV.</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M: Nothing decent? There's </a:t>
            </a:r>
            <a:r>
              <a:rPr lang="en-US" sz="2000" b="1" u="sng" smtClean="0">
                <a:solidFill>
                  <a:srgbClr val="FF0000"/>
                </a:solidFill>
                <a:latin typeface="Times New Roman" pitchFamily="18" charset="0"/>
                <a:cs typeface="Times New Roman" pitchFamily="18" charset="0"/>
              </a:rPr>
              <a:t>tons of stuff</a:t>
            </a:r>
            <a:r>
              <a:rPr lang="en-US" sz="2000" b="1" smtClean="0">
                <a:latin typeface="Times New Roman" pitchFamily="18" charset="0"/>
                <a:cs typeface="Times New Roman" pitchFamily="18" charset="0"/>
              </a:rPr>
              <a:t>.</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W: They've </a:t>
            </a:r>
            <a:r>
              <a:rPr lang="en-US" sz="2000" b="1" u="sng" smtClean="0">
                <a:solidFill>
                  <a:srgbClr val="FF0000"/>
                </a:solidFill>
                <a:latin typeface="Times New Roman" pitchFamily="18" charset="0"/>
                <a:cs typeface="Times New Roman" pitchFamily="18" charset="0"/>
              </a:rPr>
              <a:t>cut down on </a:t>
            </a:r>
            <a:r>
              <a:rPr lang="en-US" sz="2000" b="1" smtClean="0">
                <a:latin typeface="Times New Roman" pitchFamily="18" charset="0"/>
                <a:cs typeface="Times New Roman" pitchFamily="18" charset="0"/>
              </a:rPr>
              <a:t>the number of news programs, and the number of </a:t>
            </a:r>
            <a:r>
              <a:rPr lang="en-US" sz="2000" b="1" u="sng" smtClean="0">
                <a:solidFill>
                  <a:srgbClr val="FF0000"/>
                </a:solidFill>
                <a:latin typeface="Times New Roman" pitchFamily="18" charset="0"/>
                <a:cs typeface="Times New Roman" pitchFamily="18" charset="0"/>
              </a:rPr>
              <a:t>documentaries</a:t>
            </a:r>
            <a:r>
              <a:rPr lang="en-US" sz="2000" b="1" smtClean="0">
                <a:latin typeface="Times New Roman" pitchFamily="18" charset="0"/>
                <a:cs typeface="Times New Roman" pitchFamily="18" charset="0"/>
              </a:rPr>
              <a:t>. All have been replaced by these stupid </a:t>
            </a:r>
            <a:r>
              <a:rPr lang="en-US" sz="2000" b="1" u="sng" smtClean="0">
                <a:solidFill>
                  <a:srgbClr val="FF0000"/>
                </a:solidFill>
                <a:latin typeface="Times New Roman" pitchFamily="18" charset="0"/>
                <a:cs typeface="Times New Roman" pitchFamily="18" charset="0"/>
              </a:rPr>
              <a:t>reality shows</a:t>
            </a:r>
            <a:r>
              <a:rPr lang="en-US" sz="2000" b="1" smtClean="0">
                <a:latin typeface="Times New Roman" pitchFamily="18" charset="0"/>
                <a:cs typeface="Times New Roman" pitchFamily="18" charset="0"/>
              </a:rPr>
              <a:t> and game shows, you know.</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M: </a:t>
            </a:r>
            <a:r>
              <a:rPr lang="en-US" altLang="zh-CN" sz="2000" b="1" u="sng" smtClean="0">
                <a:solidFill>
                  <a:schemeClr val="tx1"/>
                </a:solidFill>
                <a:latin typeface="Times New Roman" pitchFamily="18" charset="0"/>
                <a:ea typeface="微软雅黑" pitchFamily="34" charset="-122"/>
                <a:cs typeface="Times New Roman" pitchFamily="18" charset="0"/>
              </a:rPr>
              <a:t>(12)</a:t>
            </a:r>
            <a:r>
              <a:rPr lang="en-US" sz="2000" b="1" u="sng" smtClean="0">
                <a:latin typeface="Times New Roman" pitchFamily="18" charset="0"/>
                <a:cs typeface="Times New Roman" pitchFamily="18" charset="0"/>
              </a:rPr>
              <a:t>Well, they often make me laugh. People want to watch that kind of thing. It's good, you know. </a:t>
            </a:r>
            <a:r>
              <a:rPr lang="en-US" sz="2000" b="1" smtClean="0">
                <a:latin typeface="Times New Roman" pitchFamily="18" charset="0"/>
                <a:cs typeface="Times New Roman" pitchFamily="18" charset="0"/>
              </a:rPr>
              <a:t>As long as </a:t>
            </a:r>
            <a:r>
              <a:rPr lang="en-US" sz="2000" b="1" u="sng" smtClean="0">
                <a:solidFill>
                  <a:srgbClr val="FF0000"/>
                </a:solidFill>
                <a:latin typeface="Times New Roman" pitchFamily="18" charset="0"/>
                <a:cs typeface="Times New Roman" pitchFamily="18" charset="0"/>
              </a:rPr>
              <a:t>there's a balance</a:t>
            </a:r>
            <a:r>
              <a:rPr lang="en-US" sz="2000" b="1" smtClean="0">
                <a:latin typeface="Times New Roman" pitchFamily="18" charset="0"/>
                <a:cs typeface="Times New Roman" pitchFamily="18" charset="0"/>
              </a:rPr>
              <a:t>, there's a bit of this, a bit of that.</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W: Should we be giving people what they want to watch? Or should we be, you know, trying to educate them? </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M: Well, TV is there for entertainment. If you want an education, you go to university or college or something, don't you?</a:t>
            </a:r>
            <a:endParaRPr lang="zh-CN" altLang="en-US" sz="2000" b="1" smtClean="0">
              <a:latin typeface="Times New Roman" pitchFamily="18" charset="0"/>
              <a:cs typeface="Times New Roman" pitchFamily="18" charset="0"/>
            </a:endParaRPr>
          </a:p>
          <a:p>
            <a:pPr algn="just"/>
            <a:r>
              <a:rPr lang="en-US" sz="2000" b="1" smtClean="0">
                <a:latin typeface="Times New Roman" pitchFamily="18" charset="0"/>
                <a:cs typeface="Times New Roman" pitchFamily="18" charset="0"/>
              </a:rPr>
              <a:t>W: No. I really don’t think so.</a:t>
            </a:r>
            <a:endParaRPr lang="zh-CN" altLang="en-US" sz="2000" b="1">
              <a:latin typeface="Times New Roman" pitchFamily="18" charset="0"/>
              <a:cs typeface="Times New Roman" pitchFamily="18" charset="0"/>
            </a:endParaRPr>
          </a:p>
        </p:txBody>
      </p:sp>
      <p:sp>
        <p:nvSpPr>
          <p:cNvPr id="7" name="文本框 10" title=""/>
          <p:cNvSpPr txBox="1"/>
          <p:nvPr>
            <p:custDataLst>
              <p:tags r:id="rId2"/>
            </p:custDataLst>
          </p:nvPr>
        </p:nvSpPr>
        <p:spPr>
          <a:xfrm>
            <a:off x="294646" y="107153"/>
            <a:ext cx="11602079" cy="707886"/>
          </a:xfrm>
          <a:prstGeom prst="rect">
            <a:avLst/>
          </a:prstGeom>
          <a:solidFill>
            <a:srgbClr val="FFFFCC"/>
          </a:solidFill>
          <a:ln w="19050">
            <a:solidFill>
              <a:schemeClr val="tx1"/>
            </a:solidFill>
          </a:ln>
        </p:spPr>
        <p:txBody>
          <a:bodyPr wrap="square" anchor="t" anchorCtr="0">
            <a:spAutoFit/>
          </a:bodyPr>
          <a:lstStyle/>
          <a:p>
            <a:r>
              <a:rPr lang="en-US" sz="2000" b="1" smtClean="0">
                <a:latin typeface="Times New Roman" pitchFamily="18" charset="0"/>
                <a:cs typeface="Times New Roman" pitchFamily="18" charset="0"/>
              </a:rPr>
              <a:t>12. What is the man’s attitude toward reality shows?</a:t>
            </a:r>
            <a:endParaRPr lang="zh-CN" altLang="en-US" sz="2000" b="1" smtClean="0">
              <a:latin typeface="Times New Roman" pitchFamily="18" charset="0"/>
              <a:cs typeface="Times New Roman" pitchFamily="18" charset="0"/>
            </a:endParaRPr>
          </a:p>
          <a:p>
            <a:r>
              <a:rPr lang="en-US" sz="2000" b="1" smtClean="0">
                <a:latin typeface="Times New Roman" pitchFamily="18" charset="0"/>
                <a:cs typeface="Times New Roman" pitchFamily="18" charset="0"/>
              </a:rPr>
              <a:t>      A. Favorable.	B. Critical.		C. Uncertain.</a:t>
            </a:r>
            <a:endParaRPr lang="zh-CN" altLang="en-US" sz="2000" b="1">
              <a:latin typeface="Times New Roman" pitchFamily="18" charset="0"/>
              <a:cs typeface="Times New Roman" pitchFamily="18" charset="0"/>
            </a:endParaRPr>
          </a:p>
        </p:txBody>
      </p:sp>
      <p:sp>
        <p:nvSpPr>
          <p:cNvPr id="8" name="文本框 3" title=""/>
          <p:cNvSpPr txBox="1"/>
          <p:nvPr>
            <p:custDataLst>
              <p:tags r:id="rId3"/>
            </p:custDataLst>
          </p:nvPr>
        </p:nvSpPr>
        <p:spPr>
          <a:xfrm>
            <a:off x="292320" y="4712553"/>
            <a:ext cx="11604405" cy="1823576"/>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】12. A。</a:t>
            </a:r>
            <a:r>
              <a:rPr lang="zh-CN" altLang="en-US" sz="2000" b="1" smtClean="0">
                <a:solidFill>
                  <a:srgbClr val="FF00FF"/>
                </a:solidFill>
                <a:latin typeface="Times New Roman" pitchFamily="18" charset="0"/>
                <a:ea typeface="微软雅黑" pitchFamily="34" charset="-122"/>
                <a:cs typeface="Times New Roman" pitchFamily="18" charset="0"/>
              </a:rPr>
              <a:t>观点态度题。女士提到新闻节目和纪录片的数量都减少了。所有这些都被愚蠢的真人秀和游戏节目取代了。根据男士的回应</a:t>
            </a:r>
            <a:r>
              <a:rPr lang="en-US" altLang="zh-CN" sz="2000" b="1" smtClean="0">
                <a:solidFill>
                  <a:srgbClr val="FF00FF"/>
                </a:solidFill>
                <a:latin typeface="Times New Roman" pitchFamily="18" charset="0"/>
                <a:ea typeface="微软雅黑" pitchFamily="34" charset="-122"/>
                <a:cs typeface="Times New Roman" pitchFamily="18" charset="0"/>
              </a:rPr>
              <a:t>Well, they often make me laugh. People want to watch that kind of thing. It’s good, you know. As long as there’s a balance, there’s a bit of this, a bit of that.”</a:t>
            </a:r>
            <a:r>
              <a:rPr lang="zh-CN" altLang="en-US" sz="2000" b="1" smtClean="0">
                <a:solidFill>
                  <a:srgbClr val="FF00FF"/>
                </a:solidFill>
                <a:latin typeface="Times New Roman" pitchFamily="18" charset="0"/>
                <a:ea typeface="微软雅黑" pitchFamily="34" charset="-122"/>
                <a:cs typeface="Times New Roman" pitchFamily="18" charset="0"/>
              </a:rPr>
              <a:t>可知，他认为真人秀这类节目经常能逗他笑，人们喜欢看这种东西。他认为电视节目每种都有一些，有一个平衡就行。他还认为电视就是用来娱乐的。那么也就是说，男士对真人秀节目持赞成的态度。</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748593" y="532323"/>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329749" y="974684"/>
            <a:ext cx="11586026" cy="4140241"/>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200" b="1" smtClean="0">
                <a:solidFill>
                  <a:srgbClr val="0000FF"/>
                </a:solidFill>
                <a:latin typeface="Times New Roman" pitchFamily="18" charset="0"/>
                <a:ea typeface="微软雅黑" pitchFamily="34" charset="-122"/>
                <a:cs typeface="Times New Roman" pitchFamily="18" charset="0"/>
              </a:rPr>
              <a:t>(Text 8)</a:t>
            </a:r>
            <a:r>
              <a:rPr lang="zh-CN" altLang="en-US" sz="2200" b="1" smtClean="0">
                <a:solidFill>
                  <a:srgbClr val="0000FF"/>
                </a:solidFill>
                <a:latin typeface="微软雅黑" pitchFamily="34" charset="-122"/>
                <a:ea typeface="微软雅黑" pitchFamily="34" charset="-122"/>
              </a:rPr>
              <a:t>话题：探讨电视节目类型</a:t>
            </a:r>
            <a:r>
              <a:rPr lang="en-US" altLang="en-US" sz="2200" b="1" smtClean="0">
                <a:solidFill>
                  <a:srgbClr val="0000FF"/>
                </a:solidFill>
                <a:latin typeface="微软雅黑" pitchFamily="34" charset="-122"/>
                <a:ea typeface="微软雅黑" pitchFamily="34" charset="-122"/>
              </a:rPr>
              <a:t>(</a:t>
            </a:r>
            <a:r>
              <a:rPr lang="zh-CN" altLang="en-US" sz="2200" b="1" smtClean="0">
                <a:solidFill>
                  <a:srgbClr val="0000FF"/>
                </a:solidFill>
                <a:latin typeface="微软雅黑" pitchFamily="34" charset="-122"/>
                <a:ea typeface="微软雅黑" pitchFamily="34" charset="-122"/>
              </a:rPr>
              <a:t>教育性与娱乐性</a:t>
            </a:r>
            <a:r>
              <a:rPr lang="en-US" altLang="en-US" sz="2200" b="1" smtClean="0">
                <a:solidFill>
                  <a:srgbClr val="0000FF"/>
                </a:solidFill>
                <a:latin typeface="微软雅黑" pitchFamily="34" charset="-122"/>
                <a:ea typeface="微软雅黑" pitchFamily="34" charset="-122"/>
              </a:rPr>
              <a:t>) </a:t>
            </a:r>
            <a:r>
              <a:rPr lang="zh-CN" altLang="en-US" sz="2400" b="1" smtClean="0">
                <a:solidFill>
                  <a:srgbClr val="0000FF"/>
                </a:solidFill>
                <a:latin typeface="微软雅黑" pitchFamily="34" charset="-122"/>
                <a:ea typeface="微软雅黑" pitchFamily="34" charset="-122"/>
              </a:rPr>
              <a:t>词数：</a:t>
            </a:r>
            <a:r>
              <a:rPr lang="en-US" sz="2400" b="1" smtClean="0">
                <a:solidFill>
                  <a:srgbClr val="0000FF"/>
                </a:solidFill>
                <a:latin typeface="微软雅黑" pitchFamily="34" charset="-122"/>
                <a:ea typeface="微软雅黑" pitchFamily="34" charset="-122"/>
              </a:rPr>
              <a:t>123</a:t>
            </a:r>
            <a:r>
              <a:rPr lang="zh-CN" altLang="en-US" sz="2400" b="1" smtClean="0">
                <a:solidFill>
                  <a:srgbClr val="0000FF"/>
                </a:solidFill>
                <a:latin typeface="微软雅黑" pitchFamily="34" charset="-122"/>
                <a:ea typeface="微软雅黑" pitchFamily="34" charset="-122"/>
              </a:rPr>
              <a:t>；时间：</a:t>
            </a:r>
            <a:r>
              <a:rPr lang="en-US" sz="2400" b="1" smtClean="0">
                <a:solidFill>
                  <a:srgbClr val="0000FF"/>
                </a:solidFill>
                <a:latin typeface="微软雅黑" pitchFamily="34" charset="-122"/>
                <a:ea typeface="微软雅黑" pitchFamily="34" charset="-122"/>
              </a:rPr>
              <a:t>55″</a:t>
            </a:r>
            <a:r>
              <a:rPr lang="zh-CN" altLang="en-US" sz="2400" b="1" smtClean="0">
                <a:solidFill>
                  <a:srgbClr val="0000FF"/>
                </a:solidFill>
                <a:latin typeface="微软雅黑" pitchFamily="34" charset="-122"/>
                <a:ea typeface="微软雅黑" pitchFamily="34" charset="-122"/>
              </a:rPr>
              <a:t>；语速：</a:t>
            </a:r>
            <a:r>
              <a:rPr lang="en-US" sz="2400" b="1" smtClean="0">
                <a:solidFill>
                  <a:srgbClr val="0000FF"/>
                </a:solidFill>
                <a:latin typeface="微软雅黑" pitchFamily="34" charset="-122"/>
                <a:ea typeface="微软雅黑" pitchFamily="34" charset="-122"/>
              </a:rPr>
              <a:t>134</a:t>
            </a:r>
            <a:endParaRPr lang="en-US" altLang="zh-CN" sz="2200" b="1" smtClean="0">
              <a:solidFill>
                <a:srgbClr val="0000FF"/>
              </a:solidFill>
              <a:latin typeface="微软雅黑" pitchFamily="34" charset="-122"/>
              <a:ea typeface="微软雅黑" pitchFamily="34" charset="-122"/>
            </a:endParaRPr>
          </a:p>
          <a:p>
            <a:pPr algn="just"/>
            <a:r>
              <a:rPr lang="en-US" sz="2200" b="1" smtClean="0">
                <a:latin typeface="Times New Roman" pitchFamily="18" charset="0"/>
                <a:cs typeface="Times New Roman" pitchFamily="18" charset="0"/>
              </a:rPr>
              <a:t>W: There's nothing </a:t>
            </a:r>
            <a:r>
              <a:rPr lang="en-US" sz="2200" b="1" u="sng" smtClean="0">
                <a:solidFill>
                  <a:srgbClr val="FF0000"/>
                </a:solidFill>
                <a:latin typeface="Times New Roman" pitchFamily="18" charset="0"/>
                <a:cs typeface="Times New Roman" pitchFamily="18" charset="0"/>
              </a:rPr>
              <a:t>decent</a:t>
            </a:r>
            <a:r>
              <a:rPr lang="en-US" sz="2200" b="1" smtClean="0">
                <a:latin typeface="Times New Roman" pitchFamily="18" charset="0"/>
                <a:cs typeface="Times New Roman" pitchFamily="18" charset="0"/>
              </a:rPr>
              <a:t> to watch these days on TV.</a:t>
            </a:r>
            <a:endParaRPr lang="zh-CN" altLang="en-US" sz="2200" b="1" smtClean="0">
              <a:latin typeface="Times New Roman" pitchFamily="18" charset="0"/>
              <a:cs typeface="Times New Roman" pitchFamily="18" charset="0"/>
            </a:endParaRPr>
          </a:p>
          <a:p>
            <a:pPr algn="just"/>
            <a:r>
              <a:rPr lang="en-US" sz="2200" b="1" smtClean="0">
                <a:latin typeface="Times New Roman" pitchFamily="18" charset="0"/>
                <a:cs typeface="Times New Roman" pitchFamily="18" charset="0"/>
              </a:rPr>
              <a:t>M: Nothing decent? There's </a:t>
            </a:r>
            <a:r>
              <a:rPr lang="en-US" sz="2200" b="1" u="sng" smtClean="0">
                <a:solidFill>
                  <a:srgbClr val="FF0000"/>
                </a:solidFill>
                <a:latin typeface="Times New Roman" pitchFamily="18" charset="0"/>
                <a:cs typeface="Times New Roman" pitchFamily="18" charset="0"/>
              </a:rPr>
              <a:t>tons of stuff</a:t>
            </a:r>
            <a:r>
              <a:rPr lang="en-US" sz="2200" b="1" smtClean="0">
                <a:latin typeface="Times New Roman" pitchFamily="18" charset="0"/>
                <a:cs typeface="Times New Roman" pitchFamily="18" charset="0"/>
              </a:rPr>
              <a:t>.</a:t>
            </a:r>
            <a:endParaRPr lang="zh-CN" altLang="en-US" sz="2200" b="1" smtClean="0">
              <a:latin typeface="Times New Roman" pitchFamily="18" charset="0"/>
              <a:cs typeface="Times New Roman" pitchFamily="18" charset="0"/>
            </a:endParaRPr>
          </a:p>
          <a:p>
            <a:pPr algn="just"/>
            <a:r>
              <a:rPr lang="en-US" sz="2200" b="1" smtClean="0">
                <a:latin typeface="Times New Roman" pitchFamily="18" charset="0"/>
                <a:cs typeface="Times New Roman" pitchFamily="18" charset="0"/>
              </a:rPr>
              <a:t>W: 'They've </a:t>
            </a:r>
            <a:r>
              <a:rPr lang="en-US" sz="2200" b="1" u="sng" smtClean="0">
                <a:solidFill>
                  <a:srgbClr val="FF0000"/>
                </a:solidFill>
                <a:latin typeface="Times New Roman" pitchFamily="18" charset="0"/>
                <a:cs typeface="Times New Roman" pitchFamily="18" charset="0"/>
              </a:rPr>
              <a:t>cut down on </a:t>
            </a:r>
            <a:r>
              <a:rPr lang="en-US" sz="2200" b="1" smtClean="0">
                <a:latin typeface="Times New Roman" pitchFamily="18" charset="0"/>
                <a:cs typeface="Times New Roman" pitchFamily="18" charset="0"/>
              </a:rPr>
              <a:t>the number of news programs, and the number of </a:t>
            </a:r>
            <a:r>
              <a:rPr lang="en-US" sz="2200" b="1" u="sng" smtClean="0">
                <a:solidFill>
                  <a:srgbClr val="FF0000"/>
                </a:solidFill>
                <a:latin typeface="Times New Roman" pitchFamily="18" charset="0"/>
                <a:cs typeface="Times New Roman" pitchFamily="18" charset="0"/>
              </a:rPr>
              <a:t>documentaries</a:t>
            </a:r>
            <a:r>
              <a:rPr lang="en-US" sz="2200" b="1" smtClean="0">
                <a:latin typeface="Times New Roman" pitchFamily="18" charset="0"/>
                <a:cs typeface="Times New Roman" pitchFamily="18" charset="0"/>
              </a:rPr>
              <a:t>. All have been replaced by these stupid </a:t>
            </a:r>
            <a:r>
              <a:rPr lang="en-US" sz="2200" b="1" u="sng" smtClean="0">
                <a:solidFill>
                  <a:srgbClr val="FF0000"/>
                </a:solidFill>
                <a:latin typeface="Times New Roman" pitchFamily="18" charset="0"/>
                <a:cs typeface="Times New Roman" pitchFamily="18" charset="0"/>
              </a:rPr>
              <a:t>reality shows</a:t>
            </a:r>
            <a:r>
              <a:rPr lang="en-US" sz="2200" b="1" smtClean="0">
                <a:latin typeface="Times New Roman" pitchFamily="18" charset="0"/>
                <a:cs typeface="Times New Roman" pitchFamily="18" charset="0"/>
              </a:rPr>
              <a:t> and game shows, you know.</a:t>
            </a:r>
            <a:endParaRPr lang="zh-CN" altLang="en-US" sz="2200" b="1" smtClean="0">
              <a:latin typeface="Times New Roman" pitchFamily="18" charset="0"/>
              <a:cs typeface="Times New Roman" pitchFamily="18" charset="0"/>
            </a:endParaRPr>
          </a:p>
          <a:p>
            <a:pPr algn="just"/>
            <a:r>
              <a:rPr lang="en-US" sz="2200" b="1" smtClean="0">
                <a:latin typeface="Times New Roman" pitchFamily="18" charset="0"/>
                <a:cs typeface="Times New Roman" pitchFamily="18" charset="0"/>
              </a:rPr>
              <a:t>M: Well, they often make me laugh. People want to watch that kind of thing. It's good, you know. As long as </a:t>
            </a:r>
            <a:r>
              <a:rPr lang="en-US" sz="2200" b="1" u="sng" smtClean="0">
                <a:solidFill>
                  <a:srgbClr val="FF0000"/>
                </a:solidFill>
                <a:latin typeface="Times New Roman" pitchFamily="18" charset="0"/>
                <a:cs typeface="Times New Roman" pitchFamily="18" charset="0"/>
              </a:rPr>
              <a:t>there's a balance</a:t>
            </a:r>
            <a:r>
              <a:rPr lang="en-US" sz="2200" b="1" smtClean="0">
                <a:latin typeface="Times New Roman" pitchFamily="18" charset="0"/>
                <a:cs typeface="Times New Roman" pitchFamily="18" charset="0"/>
              </a:rPr>
              <a:t>, there's a bit of this, a bit of that.</a:t>
            </a:r>
            <a:endParaRPr lang="zh-CN" altLang="en-US" sz="2200" b="1" smtClean="0">
              <a:latin typeface="Times New Roman" pitchFamily="18" charset="0"/>
              <a:cs typeface="Times New Roman" pitchFamily="18" charset="0"/>
            </a:endParaRPr>
          </a:p>
          <a:p>
            <a:pPr algn="just"/>
            <a:r>
              <a:rPr lang="en-US" sz="2200" b="1" smtClean="0">
                <a:latin typeface="Times New Roman" pitchFamily="18" charset="0"/>
                <a:cs typeface="Times New Roman" pitchFamily="18" charset="0"/>
              </a:rPr>
              <a:t>W: Should we be giving people what they want to watch? </a:t>
            </a:r>
            <a:r>
              <a:rPr lang="en-US" altLang="zh-CN" sz="2200" b="1" u="sng" smtClean="0">
                <a:latin typeface="Times New Roman" pitchFamily="18" charset="0"/>
                <a:cs typeface="Times New Roman" pitchFamily="18" charset="0"/>
              </a:rPr>
              <a:t>(13)</a:t>
            </a:r>
            <a:r>
              <a:rPr lang="en-US" sz="2200" b="1" u="sng" smtClean="0">
                <a:latin typeface="Times New Roman" pitchFamily="18" charset="0"/>
                <a:cs typeface="Times New Roman" pitchFamily="18" charset="0"/>
              </a:rPr>
              <a:t>Or should we be, you know, trying to educate them? </a:t>
            </a:r>
            <a:endParaRPr lang="zh-CN" altLang="en-US" sz="2200" b="1" u="sng" smtClean="0">
              <a:latin typeface="Times New Roman" pitchFamily="18" charset="0"/>
              <a:cs typeface="Times New Roman" pitchFamily="18" charset="0"/>
            </a:endParaRPr>
          </a:p>
          <a:p>
            <a:pPr algn="just"/>
            <a:r>
              <a:rPr lang="en-US" sz="2200" b="1" smtClean="0">
                <a:latin typeface="Times New Roman" pitchFamily="18" charset="0"/>
                <a:cs typeface="Times New Roman" pitchFamily="18" charset="0"/>
              </a:rPr>
              <a:t>M: Well, TV is there for entertainment. If you want an education, you go to university or college or something, don't you?</a:t>
            </a:r>
            <a:endParaRPr lang="zh-CN" altLang="en-US" sz="2200" b="1" smtClean="0">
              <a:latin typeface="Times New Roman" pitchFamily="18" charset="0"/>
              <a:cs typeface="Times New Roman" pitchFamily="18" charset="0"/>
            </a:endParaRPr>
          </a:p>
          <a:p>
            <a:pPr algn="just"/>
            <a:r>
              <a:rPr lang="en-US" sz="2200" b="1" smtClean="0">
                <a:latin typeface="Times New Roman" pitchFamily="18" charset="0"/>
                <a:cs typeface="Times New Roman" pitchFamily="18" charset="0"/>
              </a:rPr>
              <a:t>W: No. I really don’t think so.</a:t>
            </a:r>
            <a:endParaRPr lang="zh-CN" altLang="en-US" sz="2200" b="1" smtClean="0">
              <a:solidFill>
                <a:schemeClr val="tx1"/>
              </a:solidFill>
              <a:latin typeface="Times New Roman" pitchFamily="18" charset="0"/>
              <a:ea typeface="微软雅黑" pitchFamily="34" charset="-122"/>
              <a:cs typeface="Times New Roman" pitchFamily="18" charset="0"/>
            </a:endParaRPr>
          </a:p>
        </p:txBody>
      </p:sp>
      <p:sp>
        <p:nvSpPr>
          <p:cNvPr id="7" name="文本框 10" title=""/>
          <p:cNvSpPr txBox="1"/>
          <p:nvPr>
            <p:custDataLst>
              <p:tags r:id="rId2"/>
            </p:custDataLst>
          </p:nvPr>
        </p:nvSpPr>
        <p:spPr>
          <a:xfrm>
            <a:off x="294646" y="145253"/>
            <a:ext cx="11602079" cy="707886"/>
          </a:xfrm>
          <a:prstGeom prst="rect">
            <a:avLst/>
          </a:prstGeom>
          <a:solidFill>
            <a:srgbClr val="FFFFCC"/>
          </a:solidFill>
          <a:ln w="19050">
            <a:solidFill>
              <a:schemeClr val="tx1"/>
            </a:solidFill>
          </a:ln>
        </p:spPr>
        <p:txBody>
          <a:bodyPr wrap="square" anchor="t" anchorCtr="0">
            <a:spAutoFit/>
          </a:bodyPr>
          <a:lstStyle/>
          <a:p>
            <a:r>
              <a:rPr lang="en-US" sz="2000" b="1" smtClean="0">
                <a:latin typeface="Times New Roman" pitchFamily="18" charset="0"/>
                <a:cs typeface="Times New Roman" pitchFamily="18" charset="0"/>
              </a:rPr>
              <a:t>13. What does the woman expect TV programs to be?</a:t>
            </a:r>
            <a:endParaRPr lang="zh-CN" altLang="en-US" sz="2000" b="1" smtClean="0">
              <a:latin typeface="Times New Roman" pitchFamily="18" charset="0"/>
              <a:cs typeface="Times New Roman" pitchFamily="18" charset="0"/>
            </a:endParaRPr>
          </a:p>
          <a:p>
            <a:r>
              <a:rPr lang="en-US" sz="2000" b="1" smtClean="0">
                <a:latin typeface="Times New Roman" pitchFamily="18" charset="0"/>
                <a:cs typeface="Times New Roman" pitchFamily="18" charset="0"/>
              </a:rPr>
              <a:t>     A. Educational.		B. Diverse.		C. Entertaining.</a:t>
            </a:r>
            <a:endParaRPr lang="zh-CN" altLang="en-US" sz="2000" b="1">
              <a:latin typeface="Times New Roman" pitchFamily="18" charset="0"/>
              <a:cs typeface="Times New Roman" pitchFamily="18" charset="0"/>
            </a:endParaRPr>
          </a:p>
        </p:txBody>
      </p:sp>
      <p:sp>
        <p:nvSpPr>
          <p:cNvPr id="8" name="文本框 3" title=""/>
          <p:cNvSpPr txBox="1"/>
          <p:nvPr>
            <p:custDataLst>
              <p:tags r:id="rId3"/>
            </p:custDataLst>
          </p:nvPr>
        </p:nvSpPr>
        <p:spPr>
          <a:xfrm>
            <a:off x="292320" y="5255478"/>
            <a:ext cx="11604405" cy="1477328"/>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解析</a:t>
            </a:r>
            <a:r>
              <a:rPr lang="en-US" altLang="zh-CN" sz="2000" b="1" smtClean="0">
                <a:solidFill>
                  <a:srgbClr val="FF00FF"/>
                </a:solidFill>
                <a:latin typeface="Times New Roman" pitchFamily="18" charset="0"/>
                <a:ea typeface="微软雅黑" pitchFamily="34" charset="-122"/>
                <a:cs typeface="Times New Roman" pitchFamily="18" charset="0"/>
              </a:rPr>
              <a:t>】13. A。</a:t>
            </a:r>
            <a:r>
              <a:rPr lang="zh-CN" altLang="en-US" sz="2000" b="1" smtClean="0">
                <a:solidFill>
                  <a:srgbClr val="FF00FF"/>
                </a:solidFill>
                <a:latin typeface="Times New Roman" pitchFamily="18" charset="0"/>
                <a:ea typeface="微软雅黑" pitchFamily="34" charset="-122"/>
                <a:cs typeface="Times New Roman" pitchFamily="18" charset="0"/>
              </a:rPr>
              <a:t>推理判断题。对话中，说话者聊起电视节目的娱乐性和教育性。女士提出自己的想法“</a:t>
            </a:r>
            <a:r>
              <a:rPr lang="en-US" altLang="zh-CN" sz="2000" b="1" smtClean="0">
                <a:solidFill>
                  <a:srgbClr val="FF00FF"/>
                </a:solidFill>
                <a:latin typeface="Times New Roman" pitchFamily="18" charset="0"/>
                <a:ea typeface="微软雅黑" pitchFamily="34" charset="-122"/>
                <a:cs typeface="Times New Roman" pitchFamily="18" charset="0"/>
              </a:rPr>
              <a:t>Or should we be, you know, trying to educate them?”，</a:t>
            </a:r>
            <a:r>
              <a:rPr lang="zh-CN" altLang="en-US" sz="2000" b="1" smtClean="0">
                <a:solidFill>
                  <a:srgbClr val="FF00FF"/>
                </a:solidFill>
                <a:latin typeface="Times New Roman" pitchFamily="18" charset="0"/>
                <a:ea typeface="微软雅黑" pitchFamily="34" charset="-122"/>
                <a:cs typeface="Times New Roman" pitchFamily="18" charset="0"/>
              </a:rPr>
              <a:t>而男士认为电视就是用来娱乐的。根据女士的话“</a:t>
            </a:r>
            <a:r>
              <a:rPr lang="en-US" altLang="zh-CN" sz="2000" b="1" smtClean="0">
                <a:solidFill>
                  <a:srgbClr val="FF00FF"/>
                </a:solidFill>
                <a:latin typeface="Times New Roman" pitchFamily="18" charset="0"/>
                <a:ea typeface="微软雅黑" pitchFamily="34" charset="-122"/>
                <a:cs typeface="Times New Roman" pitchFamily="18" charset="0"/>
              </a:rPr>
              <a:t>No. I really don’t think so.”</a:t>
            </a:r>
            <a:r>
              <a:rPr lang="zh-CN" altLang="en-US" sz="2000" b="1" smtClean="0">
                <a:solidFill>
                  <a:srgbClr val="FF00FF"/>
                </a:solidFill>
                <a:latin typeface="Times New Roman" pitchFamily="18" charset="0"/>
                <a:ea typeface="微软雅黑" pitchFamily="34" charset="-122"/>
                <a:cs typeface="Times New Roman" pitchFamily="18" charset="0"/>
              </a:rPr>
              <a:t>可知，她并不认可男士的说法。由此可推断出，女士期望电视节目是具有教育性的。</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643818" y="560898"/>
            <a:ext cx="206826" cy="285716"/>
          </a:xfrm>
          <a:prstGeom prst="rect">
            <a:avLst/>
          </a:prstGeom>
        </p:spPr>
      </p:pic>
      <p:sp>
        <p:nvSpPr>
          <p:cNvPr id="9217" name="Rectangle 1" title=""/>
          <p:cNvSpPr>
            <a:spLocks noChangeArrowheads="1"/>
          </p:cNvSpPr>
          <p:nvPr/>
        </p:nvSpPr>
        <p:spPr bwMode="auto">
          <a:xfrm>
            <a:off x="4514850" y="4429125"/>
            <a:ext cx="7315200" cy="646331"/>
          </a:xfrm>
          <a:prstGeom prst="rect">
            <a:avLst/>
          </a:prstGeom>
          <a:noFill/>
          <a:ln w="9525">
            <a:noFill/>
            <a:miter lim="800000"/>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*decent a.</a:t>
            </a:r>
            <a:r>
              <a:rPr kumimoji="0" lang="zh-CN" altLang="en-US"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得体的 像样的   *</a:t>
            </a:r>
            <a:r>
              <a:rPr kumimoji="0" lang="en-US" altLang="zh-CN"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tons of </a:t>
            </a:r>
            <a:r>
              <a:rPr kumimoji="0" lang="zh-CN" altLang="en-US"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许多                    *</a:t>
            </a:r>
            <a:r>
              <a:rPr kumimoji="0" lang="en-US" altLang="zh-CN"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cut down </a:t>
            </a:r>
            <a:r>
              <a:rPr kumimoji="0" lang="zh-CN" altLang="en-US"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削减</a:t>
            </a:r>
            <a:endParaRPr kumimoji="0" lang="zh-CN" altLang="en-US" sz="14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a:t>
            </a:r>
            <a:r>
              <a:rPr kumimoji="0" lang="en-US" altLang="zh-CN"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documentary n.</a:t>
            </a:r>
            <a:r>
              <a:rPr kumimoji="0" lang="zh-CN" altLang="en-US"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纪录片     *</a:t>
            </a:r>
            <a:r>
              <a:rPr kumimoji="0" lang="en-US" altLang="zh-CN"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reality show </a:t>
            </a:r>
            <a:r>
              <a:rPr kumimoji="0" lang="zh-CN" altLang="en-US" b="1" i="0" u="none" strike="noStrike" cap="none" normalizeH="0" baseline="0" smtClean="0">
                <a:ln>
                  <a:noFill/>
                </a:ln>
                <a:solidFill>
                  <a:srgbClr val="7030A0"/>
                </a:solidFill>
                <a:effectLst/>
                <a:latin typeface="Times New Roman" pitchFamily="18" charset="0"/>
                <a:ea typeface="宋体" pitchFamily="2" charset="-122"/>
                <a:cs typeface="Times New Roman" pitchFamily="18" charset="0"/>
              </a:rPr>
              <a:t>真人秀</a:t>
            </a:r>
            <a:endParaRPr kumimoji="0" lang="zh-CN" altLang="en-US" sz="4000" b="1" i="0" u="none" strike="noStrike" cap="none" normalizeH="0" baseline="0" smtClean="0">
              <a:ln>
                <a:noFill/>
              </a:ln>
              <a:solidFill>
                <a:srgbClr val="7030A0"/>
              </a:solidFill>
              <a:effectLst/>
              <a:latin typeface="Arial" panose="020b0604020202020204" pitchFamily="34" charset="0"/>
              <a:ea typeface="宋体" pitchFamily="2" charset="-122"/>
              <a:cs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133350" y="908009"/>
            <a:ext cx="11887200" cy="5007016"/>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300"/>
              </a:lnSpc>
            </a:pPr>
            <a:r>
              <a:rPr lang="en-US" altLang="en-US" b="1" smtClean="0">
                <a:solidFill>
                  <a:srgbClr val="0000FF"/>
                </a:solidFill>
                <a:latin typeface="微软雅黑" pitchFamily="34" charset="-122"/>
                <a:ea typeface="微软雅黑" pitchFamily="34" charset="-122"/>
              </a:rPr>
              <a:t>(Text 9) </a:t>
            </a:r>
            <a:r>
              <a:rPr lang="zh-CN" altLang="en-US" b="1" smtClean="0">
                <a:solidFill>
                  <a:srgbClr val="0000FF"/>
                </a:solidFill>
                <a:latin typeface="微软雅黑" pitchFamily="34" charset="-122"/>
                <a:ea typeface="微软雅黑" pitchFamily="34" charset="-122"/>
              </a:rPr>
              <a:t>话题：</a:t>
            </a:r>
            <a:r>
              <a:rPr lang="zh-CN" altLang="en-US" sz="2400" b="1" smtClean="0">
                <a:solidFill>
                  <a:srgbClr val="0000FF"/>
                </a:solidFill>
                <a:latin typeface="微软雅黑" pitchFamily="34" charset="-122"/>
                <a:ea typeface="微软雅黑" pitchFamily="34" charset="-122"/>
              </a:rPr>
              <a:t>学校服务项目介绍</a:t>
            </a:r>
            <a:r>
              <a:rPr lang="en-US" altLang="en-US" sz="2400" b="1" smtClean="0">
                <a:solidFill>
                  <a:srgbClr val="0000FF"/>
                </a:solidFill>
                <a:latin typeface="微软雅黑" pitchFamily="34" charset="-122"/>
                <a:ea typeface="微软雅黑" pitchFamily="34" charset="-122"/>
              </a:rPr>
              <a:t>(</a:t>
            </a:r>
            <a:r>
              <a:rPr lang="zh-CN" altLang="en-US" sz="2400" b="1" smtClean="0">
                <a:solidFill>
                  <a:srgbClr val="0000FF"/>
                </a:solidFill>
                <a:latin typeface="微软雅黑" pitchFamily="34" charset="-122"/>
                <a:ea typeface="微软雅黑" pitchFamily="34" charset="-122"/>
              </a:rPr>
              <a:t>家校与社区互动</a:t>
            </a:r>
            <a:r>
              <a:rPr lang="en-US" altLang="en-US" sz="2400" b="1" smtClean="0">
                <a:solidFill>
                  <a:srgbClr val="0000FF"/>
                </a:solidFill>
                <a:latin typeface="微软雅黑" pitchFamily="34" charset="-122"/>
                <a:ea typeface="微软雅黑" pitchFamily="34" charset="-122"/>
              </a:rPr>
              <a:t>) </a:t>
            </a:r>
            <a:r>
              <a:rPr lang="zh-CN" altLang="en-US" sz="2400" b="1" smtClean="0">
                <a:solidFill>
                  <a:srgbClr val="0000FF"/>
                </a:solidFill>
                <a:latin typeface="微软雅黑" pitchFamily="34" charset="-122"/>
                <a:ea typeface="微软雅黑" pitchFamily="34" charset="-122"/>
              </a:rPr>
              <a:t>词数</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180</a:t>
            </a:r>
            <a:r>
              <a:rPr lang="zh-CN" altLang="en-US" sz="2400" b="1" smtClean="0">
                <a:solidFill>
                  <a:srgbClr val="0000FF"/>
                </a:solidFill>
                <a:latin typeface="微软雅黑" pitchFamily="34" charset="-122"/>
                <a:ea typeface="微软雅黑" pitchFamily="34" charset="-122"/>
              </a:rPr>
              <a:t>；时间</a:t>
            </a:r>
            <a:r>
              <a:rPr lang="en-US" altLang="zh-CN" sz="2400" b="1" smtClean="0">
                <a:solidFill>
                  <a:srgbClr val="0000FF"/>
                </a:solidFill>
                <a:latin typeface="微软雅黑" pitchFamily="34" charset="-122"/>
                <a:ea typeface="微软雅黑" pitchFamily="34" charset="-122"/>
              </a:rPr>
              <a:t>:</a:t>
            </a:r>
            <a:r>
              <a:rPr lang="en-US" altLang="en-US" sz="2400" b="1" smtClean="0">
                <a:solidFill>
                  <a:srgbClr val="0000FF"/>
                </a:solidFill>
                <a:latin typeface="微软雅黑" pitchFamily="34" charset="-122"/>
                <a:ea typeface="微软雅黑" pitchFamily="34" charset="-122"/>
              </a:rPr>
              <a:t>1′21″</a:t>
            </a:r>
            <a:r>
              <a:rPr lang="zh-CN" altLang="en-US" sz="2400" b="1" smtClean="0">
                <a:solidFill>
                  <a:srgbClr val="0000FF"/>
                </a:solidFill>
                <a:latin typeface="微软雅黑" pitchFamily="34" charset="-122"/>
                <a:ea typeface="微软雅黑" pitchFamily="34" charset="-122"/>
              </a:rPr>
              <a:t>；语速</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134</a:t>
            </a:r>
            <a:endParaRPr lang="en-US" altLang="zh-CN" sz="2400" b="1" smtClean="0">
              <a:solidFill>
                <a:srgbClr val="0000FF"/>
              </a:solidFill>
              <a:latin typeface="微软雅黑" pitchFamily="34" charset="-122"/>
              <a:ea typeface="微软雅黑" pitchFamily="34" charset="-122"/>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W: (14) </a:t>
            </a:r>
            <a:r>
              <a:rPr lang="en-US" altLang="zh-CN" sz="2000" b="1" u="sng" smtClean="0">
                <a:solidFill>
                  <a:schemeClr val="tx1"/>
                </a:solidFill>
                <a:latin typeface="Times New Roman" pitchFamily="18" charset="0"/>
                <a:ea typeface="微软雅黑" pitchFamily="34" charset="-122"/>
                <a:cs typeface="Times New Roman" pitchFamily="18" charset="0"/>
              </a:rPr>
              <a:t>Welcome to Education Update, Cathy. This is from Mountainside High School with us today. Hello, Mr. Hall. Could you tell us about the service program in your school?</a:t>
            </a:r>
            <a:endParaRPr lang="zh-CN" altLang="en-US" sz="2000" b="1" u="sng" smtClean="0">
              <a:solidFill>
                <a:schemeClr val="tx1"/>
              </a:solidFill>
              <a:latin typeface="Times New Roman" pitchFamily="18" charset="0"/>
              <a:ea typeface="微软雅黑" pitchFamily="34" charset="-122"/>
              <a:cs typeface="Times New Roman" pitchFamily="18" charset="0"/>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M: Okay. It goes like this. On certain days each month, adults from the neighborhood sit in class with the students and see what's going on in the school.</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W: That's interesting. What else can they do?</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M: They can also take adult courses in the evenings for both fun and serious learning.</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W: What about the students? What can they do in the program?</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M: Well, they can change places with adults and go working on a farm or in a factory or taking care of the house work.</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W: Good. This helps them better understand the lives of their parents and know more about their neighborhood.</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M: Yes. Students have a chance to work in hospitals, nursing homes, libraries, and even in government offices.</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W: So the school is not only part of the student's lives, but also part of the neighborhood.</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M: That's exactly what our service program is for.</a:t>
            </a:r>
            <a:endParaRPr lang="zh-CN" altLang="en-US" sz="2000" b="1" smtClean="0">
              <a:solidFill>
                <a:schemeClr val="tx1"/>
              </a:solidFill>
              <a:latin typeface="Times New Roman" pitchFamily="18" charset="0"/>
              <a:ea typeface="微软雅黑" pitchFamily="34" charset="-122"/>
              <a:cs typeface="Times New Roman" pitchFamily="18" charset="0"/>
            </a:endParaRPr>
          </a:p>
          <a:p>
            <a:pPr algn="just">
              <a:lnSpc>
                <a:spcPts val="2300"/>
              </a:lnSpc>
            </a:pPr>
            <a:r>
              <a:rPr lang="en-US" altLang="zh-CN" sz="2000" b="1" smtClean="0">
                <a:solidFill>
                  <a:schemeClr val="tx1"/>
                </a:solidFill>
                <a:latin typeface="Times New Roman" pitchFamily="18" charset="0"/>
                <a:ea typeface="微软雅黑" pitchFamily="34" charset="-122"/>
                <a:cs typeface="Times New Roman" pitchFamily="18" charset="0"/>
              </a:rPr>
              <a:t>W: Great. Thank you, Mr. Hall.</a:t>
            </a:r>
            <a:endParaRPr lang="zh-CN" altLang="en-US" sz="2000" b="1" smtClean="0">
              <a:solidFill>
                <a:schemeClr val="tx1"/>
              </a:solidFill>
              <a:latin typeface="Times New Roman" pitchFamily="18" charset="0"/>
              <a:ea typeface="微软雅黑" pitchFamily="34" charset="-122"/>
              <a:cs typeface="Times New Roman" pitchFamily="18" charset="0"/>
            </a:endParaRPr>
          </a:p>
        </p:txBody>
      </p:sp>
      <p:sp>
        <p:nvSpPr>
          <p:cNvPr id="7" name="文本框 10" title=""/>
          <p:cNvSpPr txBox="1"/>
          <p:nvPr>
            <p:custDataLst>
              <p:tags r:id="rId2"/>
            </p:custDataLst>
          </p:nvPr>
        </p:nvSpPr>
        <p:spPr>
          <a:xfrm>
            <a:off x="152400" y="97628"/>
            <a:ext cx="11820525" cy="707886"/>
          </a:xfrm>
          <a:prstGeom prst="rect">
            <a:avLst/>
          </a:prstGeom>
          <a:solidFill>
            <a:srgbClr val="FFFFCC"/>
          </a:solidFill>
          <a:ln w="19050">
            <a:solidFill>
              <a:schemeClr val="tx1"/>
            </a:solidFill>
          </a:ln>
        </p:spPr>
        <p:txBody>
          <a:bodyPr wrap="square" anchor="t" anchorCtr="0">
            <a:spAutoFit/>
          </a:bodyPr>
          <a:lstStyle/>
          <a:p>
            <a:r>
              <a:rPr lang="en-US" altLang="zh-CN" sz="2000" b="1" smtClean="0">
                <a:latin typeface="Times New Roman" pitchFamily="18" charset="0"/>
                <a:ea typeface="微软雅黑" pitchFamily="34" charset="-122"/>
                <a:cs typeface="Times New Roman" pitchFamily="18" charset="0"/>
              </a:rPr>
              <a:t>14. Who is Cathy?</a:t>
            </a:r>
            <a:endParaRPr lang="zh-CN" altLang="en-US" sz="2000" b="1" smtClean="0">
              <a:latin typeface="Times New Roman" pitchFamily="18" charset="0"/>
              <a:ea typeface="微软雅黑" pitchFamily="34" charset="-122"/>
              <a:cs typeface="Times New Roman" pitchFamily="18" charset="0"/>
            </a:endParaRPr>
          </a:p>
          <a:p>
            <a:r>
              <a:rPr lang="en-US" altLang="zh-CN" sz="2000" b="1" smtClean="0">
                <a:latin typeface="Times New Roman" pitchFamily="18" charset="0"/>
                <a:ea typeface="微软雅黑" pitchFamily="34" charset="-122"/>
                <a:cs typeface="Times New Roman" pitchFamily="18" charset="0"/>
              </a:rPr>
              <a:t>      A. A school teacher.	B. A radio host.	C. A government official.</a:t>
            </a:r>
            <a:endParaRPr lang="zh-CN" altLang="en-US" sz="2000" b="1" smtClean="0">
              <a:latin typeface="Times New Roman" pitchFamily="18" charset="0"/>
              <a:ea typeface="微软雅黑" pitchFamily="34" charset="-122"/>
              <a:cs typeface="Times New Roman" pitchFamily="18" charset="0"/>
            </a:endParaRPr>
          </a:p>
        </p:txBody>
      </p:sp>
      <p:sp>
        <p:nvSpPr>
          <p:cNvPr id="8" name="文本框 3" title=""/>
          <p:cNvSpPr txBox="1"/>
          <p:nvPr>
            <p:custDataLst>
              <p:tags r:id="rId3"/>
            </p:custDataLst>
          </p:nvPr>
        </p:nvSpPr>
        <p:spPr>
          <a:xfrm>
            <a:off x="139920" y="6045339"/>
            <a:ext cx="11861580" cy="784830"/>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分析</a:t>
            </a:r>
            <a:r>
              <a:rPr lang="en-US" altLang="zh-CN" sz="2000" b="1" smtClean="0">
                <a:solidFill>
                  <a:srgbClr val="FF00FF"/>
                </a:solidFill>
                <a:latin typeface="Times New Roman" pitchFamily="18" charset="0"/>
                <a:ea typeface="微软雅黑" pitchFamily="34" charset="-122"/>
                <a:cs typeface="Times New Roman" pitchFamily="18" charset="0"/>
              </a:rPr>
              <a:t>】14. B</a:t>
            </a:r>
            <a:r>
              <a:rPr lang="zh-CN" altLang="en-US" sz="2000" b="1" smtClean="0">
                <a:solidFill>
                  <a:srgbClr val="FF00FF"/>
                </a:solidFill>
                <a:latin typeface="Times New Roman" pitchFamily="18" charset="0"/>
                <a:ea typeface="微软雅黑" pitchFamily="34" charset="-122"/>
                <a:cs typeface="Times New Roman" pitchFamily="18" charset="0"/>
              </a:rPr>
              <a:t>。考查考生对所听内容作出简单推断的能力。根据对话第一句可知，女生来自</a:t>
            </a:r>
            <a:r>
              <a:rPr lang="en-US" altLang="zh-CN" sz="2000" b="1" smtClean="0">
                <a:solidFill>
                  <a:srgbClr val="FF00FF"/>
                </a:solidFill>
                <a:latin typeface="Times New Roman" pitchFamily="18" charset="0"/>
                <a:ea typeface="微软雅黑" pitchFamily="34" charset="-122"/>
                <a:cs typeface="Times New Roman" pitchFamily="18" charset="0"/>
              </a:rPr>
              <a:t> Education Update </a:t>
            </a:r>
            <a:r>
              <a:rPr lang="zh-CN" altLang="en-US" sz="2000" b="1" smtClean="0">
                <a:solidFill>
                  <a:srgbClr val="FF00FF"/>
                </a:solidFill>
                <a:latin typeface="Times New Roman" pitchFamily="18" charset="0"/>
                <a:ea typeface="微软雅黑" pitchFamily="34" charset="-122"/>
                <a:cs typeface="Times New Roman" pitchFamily="18" charset="0"/>
              </a:rPr>
              <a:t>，现场采访</a:t>
            </a:r>
            <a:r>
              <a:rPr lang="en-US" altLang="zh-CN" sz="2000" b="1" smtClean="0">
                <a:solidFill>
                  <a:srgbClr val="FF00FF"/>
                </a:solidFill>
                <a:latin typeface="Times New Roman" pitchFamily="18" charset="0"/>
                <a:ea typeface="微软雅黑" pitchFamily="34" charset="-122"/>
                <a:cs typeface="Times New Roman" pitchFamily="18" charset="0"/>
              </a:rPr>
              <a:t>Mountainside High School </a:t>
            </a:r>
            <a:r>
              <a:rPr lang="zh-CN" altLang="en-US" sz="2000" b="1" smtClean="0">
                <a:solidFill>
                  <a:srgbClr val="FF00FF"/>
                </a:solidFill>
                <a:latin typeface="Times New Roman" pitchFamily="18" charset="0"/>
                <a:ea typeface="微软雅黑" pitchFamily="34" charset="-122"/>
                <a:cs typeface="Times New Roman" pitchFamily="18" charset="0"/>
              </a:rPr>
              <a:t>学习服务项目负责人。因此女生应该是电台主持人。</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2996493" y="475173"/>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133350" y="908009"/>
            <a:ext cx="11887200" cy="4216441"/>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500"/>
              </a:lnSpc>
            </a:pPr>
            <a:r>
              <a:rPr lang="en-US" altLang="en-US" b="1" smtClean="0">
                <a:solidFill>
                  <a:srgbClr val="0000FF"/>
                </a:solidFill>
                <a:latin typeface="微软雅黑" pitchFamily="34" charset="-122"/>
                <a:ea typeface="微软雅黑" pitchFamily="34" charset="-122"/>
              </a:rPr>
              <a:t>(Text 9) </a:t>
            </a:r>
            <a:r>
              <a:rPr lang="zh-CN" altLang="en-US" b="1" smtClean="0">
                <a:solidFill>
                  <a:srgbClr val="0000FF"/>
                </a:solidFill>
                <a:latin typeface="微软雅黑" pitchFamily="34" charset="-122"/>
                <a:ea typeface="微软雅黑" pitchFamily="34" charset="-122"/>
              </a:rPr>
              <a:t>话题：</a:t>
            </a:r>
            <a:r>
              <a:rPr lang="zh-CN" altLang="en-US" sz="2400" b="1" smtClean="0">
                <a:solidFill>
                  <a:srgbClr val="0000FF"/>
                </a:solidFill>
                <a:latin typeface="微软雅黑" pitchFamily="34" charset="-122"/>
                <a:ea typeface="微软雅黑" pitchFamily="34" charset="-122"/>
              </a:rPr>
              <a:t>学校服务项目介绍</a:t>
            </a:r>
            <a:r>
              <a:rPr lang="en-US" altLang="en-US" sz="2400" b="1" smtClean="0">
                <a:solidFill>
                  <a:srgbClr val="0000FF"/>
                </a:solidFill>
                <a:latin typeface="微软雅黑" pitchFamily="34" charset="-122"/>
                <a:ea typeface="微软雅黑" pitchFamily="34" charset="-122"/>
              </a:rPr>
              <a:t>(</a:t>
            </a:r>
            <a:r>
              <a:rPr lang="zh-CN" altLang="en-US" sz="2400" b="1" smtClean="0">
                <a:solidFill>
                  <a:srgbClr val="0000FF"/>
                </a:solidFill>
                <a:latin typeface="微软雅黑" pitchFamily="34" charset="-122"/>
                <a:ea typeface="微软雅黑" pitchFamily="34" charset="-122"/>
              </a:rPr>
              <a:t>家校与社区互动</a:t>
            </a:r>
            <a:r>
              <a:rPr lang="en-US" altLang="en-US" sz="2400" b="1" smtClean="0">
                <a:solidFill>
                  <a:srgbClr val="0000FF"/>
                </a:solidFill>
                <a:latin typeface="微软雅黑" pitchFamily="34" charset="-122"/>
                <a:ea typeface="微软雅黑" pitchFamily="34" charset="-122"/>
              </a:rPr>
              <a:t>)  </a:t>
            </a:r>
            <a:r>
              <a:rPr lang="zh-CN" altLang="en-US" sz="2400" b="1" smtClean="0">
                <a:solidFill>
                  <a:srgbClr val="0000FF"/>
                </a:solidFill>
                <a:latin typeface="微软雅黑" pitchFamily="34" charset="-122"/>
                <a:ea typeface="微软雅黑" pitchFamily="34" charset="-122"/>
              </a:rPr>
              <a:t>词数</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180</a:t>
            </a:r>
            <a:r>
              <a:rPr lang="zh-CN" altLang="en-US" sz="2400" b="1" smtClean="0">
                <a:solidFill>
                  <a:srgbClr val="0000FF"/>
                </a:solidFill>
                <a:latin typeface="微软雅黑" pitchFamily="34" charset="-122"/>
                <a:ea typeface="微软雅黑" pitchFamily="34" charset="-122"/>
              </a:rPr>
              <a:t>；时间</a:t>
            </a:r>
            <a:r>
              <a:rPr lang="en-US" altLang="zh-CN" sz="2400" b="1" smtClean="0">
                <a:solidFill>
                  <a:srgbClr val="0000FF"/>
                </a:solidFill>
                <a:latin typeface="微软雅黑" pitchFamily="34" charset="-122"/>
                <a:ea typeface="微软雅黑" pitchFamily="34" charset="-122"/>
              </a:rPr>
              <a:t>:</a:t>
            </a:r>
            <a:r>
              <a:rPr lang="en-US" altLang="en-US" sz="2400" b="1" smtClean="0">
                <a:solidFill>
                  <a:srgbClr val="0000FF"/>
                </a:solidFill>
                <a:latin typeface="微软雅黑" pitchFamily="34" charset="-122"/>
                <a:ea typeface="微软雅黑" pitchFamily="34" charset="-122"/>
              </a:rPr>
              <a:t>1′21″</a:t>
            </a:r>
            <a:r>
              <a:rPr lang="zh-CN" altLang="en-US" sz="2400" b="1" smtClean="0">
                <a:solidFill>
                  <a:srgbClr val="0000FF"/>
                </a:solidFill>
                <a:latin typeface="微软雅黑" pitchFamily="34" charset="-122"/>
                <a:ea typeface="微软雅黑" pitchFamily="34" charset="-122"/>
              </a:rPr>
              <a:t>；语速</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134</a:t>
            </a:r>
            <a:endParaRPr lang="en-US" altLang="zh-CN" sz="2400" b="1" smtClean="0">
              <a:solidFill>
                <a:srgbClr val="0000FF"/>
              </a:solidFill>
              <a:latin typeface="微软雅黑" pitchFamily="34" charset="-122"/>
              <a:ea typeface="微软雅黑" pitchFamily="34" charset="-122"/>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Welcome to Education Update, Kathy. This is from Mountainside High School with us today. Hello, Mr. Hall. Could you tell us about the service program in your school?</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Okay. It goes like this. On certain days each month, </a:t>
            </a:r>
            <a:r>
              <a:rPr lang="en-US" altLang="zh-CN" b="1" u="sng" smtClean="0">
                <a:solidFill>
                  <a:schemeClr val="tx1"/>
                </a:solidFill>
                <a:latin typeface="Times New Roman" pitchFamily="18" charset="0"/>
                <a:ea typeface="微软雅黑" pitchFamily="34" charset="-122"/>
                <a:cs typeface="Times New Roman" pitchFamily="18" charset="0"/>
              </a:rPr>
              <a:t>(15) adults from the neighborhood sit in class with the students and see what's going on in the school.</a:t>
            </a:r>
            <a:endParaRPr lang="zh-CN" altLang="en-US" b="1" u="sng"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That's interesting. What else can they do?</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a:t>
            </a:r>
            <a:r>
              <a:rPr lang="en-US" altLang="zh-CN" b="1" u="sng" smtClean="0">
                <a:solidFill>
                  <a:schemeClr val="tx1"/>
                </a:solidFill>
                <a:latin typeface="Times New Roman" pitchFamily="18" charset="0"/>
                <a:ea typeface="微软雅黑" pitchFamily="34" charset="-122"/>
                <a:cs typeface="Times New Roman" pitchFamily="18" charset="0"/>
              </a:rPr>
              <a:t>(15) They can also take adult courses in the evenings for both fun and serious learning</a:t>
            </a:r>
            <a:r>
              <a:rPr lang="en-US" altLang="zh-CN" b="1" smtClean="0">
                <a:solidFill>
                  <a:schemeClr val="tx1"/>
                </a:solidFill>
                <a:latin typeface="Times New Roman" pitchFamily="18" charset="0"/>
                <a:ea typeface="微软雅黑" pitchFamily="34" charset="-122"/>
                <a:cs typeface="Times New Roman" pitchFamily="18" charset="0"/>
              </a:rPr>
              <a:t>.</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What about the students? What can they do in the program?</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Well, they can change places with adults and go working on a farm or in a factory or taking care of the house work.</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Good. This helps them better understand the lives of their parents and know more about their neighborhood.</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Yes. Students have a chance to work in hospitals, nursing homes, libraries, and even in government offices.</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So the school is not only part of the student's lives, but also part of the neighborhood.</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That's exactly what our service program is for.</a:t>
            </a:r>
            <a:endParaRPr lang="zh-CN" altLang="en-US" b="1" smtClean="0">
              <a:solidFill>
                <a:schemeClr val="tx1"/>
              </a:solidFill>
              <a:latin typeface="Times New Roman" pitchFamily="18" charset="0"/>
              <a:ea typeface="微软雅黑" pitchFamily="34" charset="-122"/>
              <a:cs typeface="Times New Roman" pitchFamily="18" charset="0"/>
            </a:endParaRPr>
          </a:p>
        </p:txBody>
      </p:sp>
      <p:sp>
        <p:nvSpPr>
          <p:cNvPr id="7" name="文本框 10" title=""/>
          <p:cNvSpPr txBox="1"/>
          <p:nvPr>
            <p:custDataLst>
              <p:tags r:id="rId2"/>
            </p:custDataLst>
          </p:nvPr>
        </p:nvSpPr>
        <p:spPr>
          <a:xfrm>
            <a:off x="152400" y="97628"/>
            <a:ext cx="11820525" cy="646331"/>
          </a:xfrm>
          <a:prstGeom prst="rect">
            <a:avLst/>
          </a:prstGeom>
          <a:solidFill>
            <a:srgbClr val="FFFFCC"/>
          </a:solidFill>
          <a:ln w="19050">
            <a:solidFill>
              <a:schemeClr val="tx1"/>
            </a:solidFill>
          </a:ln>
        </p:spPr>
        <p:txBody>
          <a:bodyPr wrap="square" anchor="t" anchorCtr="0">
            <a:spAutoFit/>
          </a:bodyPr>
          <a:lstStyle/>
          <a:p>
            <a:r>
              <a:rPr lang="en-US" altLang="zh-CN" b="1" smtClean="0">
                <a:latin typeface="Times New Roman" pitchFamily="18" charset="0"/>
                <a:ea typeface="微软雅黑" pitchFamily="34" charset="-122"/>
                <a:cs typeface="Times New Roman" pitchFamily="18" charset="0"/>
              </a:rPr>
              <a:t>15. What can the visiting adults do in the school?</a:t>
            </a:r>
            <a:endParaRPr lang="zh-CN" altLang="en-US" b="1" smtClean="0">
              <a:latin typeface="Times New Roman" pitchFamily="18" charset="0"/>
              <a:ea typeface="微软雅黑" pitchFamily="34" charset="-122"/>
              <a:cs typeface="Times New Roman" pitchFamily="18" charset="0"/>
            </a:endParaRPr>
          </a:p>
          <a:p>
            <a:r>
              <a:rPr lang="en-US" altLang="zh-CN" b="1" smtClean="0">
                <a:latin typeface="Times New Roman" pitchFamily="18" charset="0"/>
                <a:ea typeface="微软雅黑" pitchFamily="34" charset="-122"/>
                <a:cs typeface="Times New Roman" pitchFamily="18" charset="0"/>
              </a:rPr>
              <a:t>      A. Give speeches.	B. Observe classes.	C. Organize activities.</a:t>
            </a:r>
            <a:endParaRPr lang="zh-CN" altLang="en-US" b="1" smtClean="0">
              <a:latin typeface="Times New Roman" pitchFamily="18" charset="0"/>
              <a:ea typeface="微软雅黑" pitchFamily="34" charset="-122"/>
              <a:cs typeface="Times New Roman" pitchFamily="18" charset="0"/>
            </a:endParaRPr>
          </a:p>
        </p:txBody>
      </p:sp>
      <p:sp>
        <p:nvSpPr>
          <p:cNvPr id="8" name="文本框 3" title=""/>
          <p:cNvSpPr txBox="1"/>
          <p:nvPr>
            <p:custDataLst>
              <p:tags r:id="rId3"/>
            </p:custDataLst>
          </p:nvPr>
        </p:nvSpPr>
        <p:spPr>
          <a:xfrm>
            <a:off x="158970" y="5445264"/>
            <a:ext cx="11861580" cy="784830"/>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分析</a:t>
            </a:r>
            <a:r>
              <a:rPr lang="en-US" altLang="zh-CN" sz="2000" b="1" smtClean="0">
                <a:solidFill>
                  <a:srgbClr val="FF00FF"/>
                </a:solidFill>
                <a:latin typeface="Times New Roman" pitchFamily="18" charset="0"/>
                <a:ea typeface="微软雅黑" pitchFamily="34" charset="-122"/>
                <a:cs typeface="Times New Roman" pitchFamily="18" charset="0"/>
              </a:rPr>
              <a:t>】15. B</a:t>
            </a:r>
            <a:r>
              <a:rPr lang="zh-CN" altLang="en-US" sz="2000" b="1" smtClean="0">
                <a:solidFill>
                  <a:srgbClr val="FF00FF"/>
                </a:solidFill>
                <a:latin typeface="Times New Roman" pitchFamily="18" charset="0"/>
                <a:ea typeface="微软雅黑" pitchFamily="34" charset="-122"/>
                <a:cs typeface="Times New Roman" pitchFamily="18" charset="0"/>
              </a:rPr>
              <a:t>。考查考生获取事实性具体信息的能力。 根据男士所说内容可知，来自附近社区的成人们可以和学生一起坐在教室上课，还可以晚上上成人课。因此他们可以观察课堂。</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2958393" y="427548"/>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133350" y="908009"/>
            <a:ext cx="11887200" cy="4559341"/>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500"/>
              </a:lnSpc>
            </a:pPr>
            <a:r>
              <a:rPr lang="en-US" altLang="en-US" b="1" smtClean="0">
                <a:solidFill>
                  <a:srgbClr val="0000FF"/>
                </a:solidFill>
                <a:latin typeface="微软雅黑" pitchFamily="34" charset="-122"/>
                <a:ea typeface="微软雅黑" pitchFamily="34" charset="-122"/>
              </a:rPr>
              <a:t>(Text 9) </a:t>
            </a:r>
            <a:r>
              <a:rPr lang="zh-CN" altLang="en-US" b="1" smtClean="0">
                <a:solidFill>
                  <a:srgbClr val="0000FF"/>
                </a:solidFill>
                <a:latin typeface="微软雅黑" pitchFamily="34" charset="-122"/>
                <a:ea typeface="微软雅黑" pitchFamily="34" charset="-122"/>
              </a:rPr>
              <a:t>话题：</a:t>
            </a:r>
            <a:r>
              <a:rPr lang="zh-CN" altLang="en-US" sz="2400" b="1" smtClean="0">
                <a:solidFill>
                  <a:srgbClr val="0000FF"/>
                </a:solidFill>
                <a:latin typeface="微软雅黑" pitchFamily="34" charset="-122"/>
                <a:ea typeface="微软雅黑" pitchFamily="34" charset="-122"/>
              </a:rPr>
              <a:t>学校服务项目介绍</a:t>
            </a:r>
            <a:r>
              <a:rPr lang="en-US" altLang="en-US" sz="2400" b="1" smtClean="0">
                <a:solidFill>
                  <a:srgbClr val="0000FF"/>
                </a:solidFill>
                <a:latin typeface="微软雅黑" pitchFamily="34" charset="-122"/>
                <a:ea typeface="微软雅黑" pitchFamily="34" charset="-122"/>
              </a:rPr>
              <a:t>(</a:t>
            </a:r>
            <a:r>
              <a:rPr lang="zh-CN" altLang="en-US" sz="2400" b="1" smtClean="0">
                <a:solidFill>
                  <a:srgbClr val="0000FF"/>
                </a:solidFill>
                <a:latin typeface="微软雅黑" pitchFamily="34" charset="-122"/>
                <a:ea typeface="微软雅黑" pitchFamily="34" charset="-122"/>
              </a:rPr>
              <a:t>家校与社区互动</a:t>
            </a:r>
            <a:r>
              <a:rPr lang="en-US" altLang="en-US" sz="2400" b="1" smtClean="0">
                <a:solidFill>
                  <a:srgbClr val="0000FF"/>
                </a:solidFill>
                <a:latin typeface="微软雅黑" pitchFamily="34" charset="-122"/>
                <a:ea typeface="微软雅黑" pitchFamily="34" charset="-122"/>
              </a:rPr>
              <a:t>)  </a:t>
            </a:r>
            <a:r>
              <a:rPr lang="zh-CN" altLang="en-US" sz="2400" b="1" smtClean="0">
                <a:solidFill>
                  <a:srgbClr val="0000FF"/>
                </a:solidFill>
                <a:latin typeface="微软雅黑" pitchFamily="34" charset="-122"/>
                <a:ea typeface="微软雅黑" pitchFamily="34" charset="-122"/>
              </a:rPr>
              <a:t>词数</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180</a:t>
            </a:r>
            <a:r>
              <a:rPr lang="zh-CN" altLang="en-US" sz="2400" b="1" smtClean="0">
                <a:solidFill>
                  <a:srgbClr val="0000FF"/>
                </a:solidFill>
                <a:latin typeface="微软雅黑" pitchFamily="34" charset="-122"/>
                <a:ea typeface="微软雅黑" pitchFamily="34" charset="-122"/>
              </a:rPr>
              <a:t>；时间</a:t>
            </a:r>
            <a:r>
              <a:rPr lang="en-US" altLang="zh-CN" sz="2400" b="1" smtClean="0">
                <a:solidFill>
                  <a:srgbClr val="0000FF"/>
                </a:solidFill>
                <a:latin typeface="微软雅黑" pitchFamily="34" charset="-122"/>
                <a:ea typeface="微软雅黑" pitchFamily="34" charset="-122"/>
              </a:rPr>
              <a:t>:</a:t>
            </a:r>
            <a:r>
              <a:rPr lang="en-US" altLang="en-US" sz="2400" b="1" smtClean="0">
                <a:solidFill>
                  <a:srgbClr val="0000FF"/>
                </a:solidFill>
                <a:latin typeface="微软雅黑" pitchFamily="34" charset="-122"/>
                <a:ea typeface="微软雅黑" pitchFamily="34" charset="-122"/>
              </a:rPr>
              <a:t>1′21″</a:t>
            </a:r>
            <a:r>
              <a:rPr lang="zh-CN" altLang="en-US" sz="2400" b="1" smtClean="0">
                <a:solidFill>
                  <a:srgbClr val="0000FF"/>
                </a:solidFill>
                <a:latin typeface="微软雅黑" pitchFamily="34" charset="-122"/>
                <a:ea typeface="微软雅黑" pitchFamily="34" charset="-122"/>
              </a:rPr>
              <a:t>；语速</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134</a:t>
            </a:r>
            <a:endParaRPr lang="en-US" altLang="zh-CN" sz="2400" b="1" smtClean="0">
              <a:solidFill>
                <a:srgbClr val="0000FF"/>
              </a:solidFill>
              <a:latin typeface="微软雅黑" pitchFamily="34" charset="-122"/>
              <a:ea typeface="微软雅黑" pitchFamily="34" charset="-122"/>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Welcome to Education Update, Kathy. This is from Mountainside High School with us today. Hello, Mr. Hall. Could you tell us about the service program in your school?</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Okay. It goes like this. On certain days each month, adults from the neighborhood sit in class with the students and see what's going on in the school.</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That's interesting. What else can they do?</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They can also take adult courses in the evenings for both fun and serious learning.</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What about the students? What can they do in the program?</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Well, </a:t>
            </a:r>
            <a:r>
              <a:rPr lang="en-US" altLang="zh-CN" b="1" u="sng" smtClean="0">
                <a:solidFill>
                  <a:schemeClr val="tx1"/>
                </a:solidFill>
                <a:latin typeface="Times New Roman" pitchFamily="18" charset="0"/>
                <a:ea typeface="微软雅黑" pitchFamily="34" charset="-122"/>
                <a:cs typeface="Times New Roman" pitchFamily="18" charset="0"/>
              </a:rPr>
              <a:t>(16) they can change places with adults and go working on a farm or in a factory or taking care of the house work.</a:t>
            </a:r>
            <a:endParaRPr lang="zh-CN" altLang="en-US" b="1" u="sng"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Good. </a:t>
            </a:r>
            <a:r>
              <a:rPr lang="en-US" altLang="zh-CN" b="1" u="sng" smtClean="0">
                <a:solidFill>
                  <a:schemeClr val="tx1"/>
                </a:solidFill>
                <a:latin typeface="Times New Roman" pitchFamily="18" charset="0"/>
                <a:ea typeface="微软雅黑" pitchFamily="34" charset="-122"/>
                <a:cs typeface="Times New Roman" pitchFamily="18" charset="0"/>
              </a:rPr>
              <a:t>(16) This helps them better understand the lives of their parents and know more about their neighborhood.</a:t>
            </a:r>
            <a:endParaRPr lang="zh-CN" altLang="en-US" b="1" u="sng"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Yes. Students have a chance to work in hospitals, nursing homes, libraries, and even in government offices.</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So the school is not only part of the student's lives, but also part of the neighborhood.</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That's exactly what our service program is for.</a:t>
            </a:r>
            <a:endParaRPr lang="zh-CN" altLang="en-US" b="1" smtClean="0">
              <a:solidFill>
                <a:schemeClr val="tx1"/>
              </a:solidFill>
              <a:latin typeface="Times New Roman" pitchFamily="18" charset="0"/>
              <a:ea typeface="微软雅黑" pitchFamily="34" charset="-122"/>
              <a:cs typeface="Times New Roman" pitchFamily="18" charset="0"/>
            </a:endParaRPr>
          </a:p>
        </p:txBody>
      </p:sp>
      <p:sp>
        <p:nvSpPr>
          <p:cNvPr id="7" name="文本框 10" title=""/>
          <p:cNvSpPr txBox="1"/>
          <p:nvPr>
            <p:custDataLst>
              <p:tags r:id="rId2"/>
            </p:custDataLst>
          </p:nvPr>
        </p:nvSpPr>
        <p:spPr>
          <a:xfrm>
            <a:off x="152400" y="97628"/>
            <a:ext cx="11820525" cy="646331"/>
          </a:xfrm>
          <a:prstGeom prst="rect">
            <a:avLst/>
          </a:prstGeom>
          <a:solidFill>
            <a:srgbClr val="FFFFCC"/>
          </a:solidFill>
          <a:ln w="19050">
            <a:solidFill>
              <a:schemeClr val="tx1"/>
            </a:solidFill>
          </a:ln>
        </p:spPr>
        <p:txBody>
          <a:bodyPr wrap="square" anchor="t" anchorCtr="0">
            <a:spAutoFit/>
          </a:bodyPr>
          <a:lstStyle/>
          <a:p>
            <a:r>
              <a:rPr lang="en-US" altLang="zh-CN" b="1" smtClean="0">
                <a:latin typeface="Times New Roman" pitchFamily="18" charset="0"/>
                <a:ea typeface="微软雅黑" pitchFamily="34" charset="-122"/>
                <a:cs typeface="Times New Roman" pitchFamily="18" charset="0"/>
              </a:rPr>
              <a:t>16. How can the students benefit from the school program?</a:t>
            </a:r>
            <a:endParaRPr lang="zh-CN" altLang="en-US" b="1" smtClean="0">
              <a:latin typeface="Times New Roman" pitchFamily="18" charset="0"/>
              <a:ea typeface="微软雅黑" pitchFamily="34" charset="-122"/>
              <a:cs typeface="Times New Roman" pitchFamily="18" charset="0"/>
            </a:endParaRPr>
          </a:p>
          <a:p>
            <a:r>
              <a:rPr lang="en-US" altLang="zh-CN" b="1" smtClean="0">
                <a:latin typeface="Times New Roman" pitchFamily="18" charset="0"/>
                <a:ea typeface="微软雅黑" pitchFamily="34" charset="-122"/>
                <a:cs typeface="Times New Roman" pitchFamily="18" charset="0"/>
              </a:rPr>
              <a:t>      A. Earn extra credits.	  B. Find job opportunities.	            C. Learn about adults' life.</a:t>
            </a:r>
            <a:endParaRPr lang="zh-CN" altLang="en-US" b="1" smtClean="0">
              <a:latin typeface="Times New Roman" pitchFamily="18" charset="0"/>
              <a:ea typeface="微软雅黑" pitchFamily="34" charset="-122"/>
              <a:cs typeface="Times New Roman" pitchFamily="18" charset="0"/>
            </a:endParaRPr>
          </a:p>
        </p:txBody>
      </p:sp>
      <p:sp>
        <p:nvSpPr>
          <p:cNvPr id="8" name="文本框 3" title=""/>
          <p:cNvSpPr txBox="1"/>
          <p:nvPr>
            <p:custDataLst>
              <p:tags r:id="rId3"/>
            </p:custDataLst>
          </p:nvPr>
        </p:nvSpPr>
        <p:spPr>
          <a:xfrm>
            <a:off x="130395" y="5711964"/>
            <a:ext cx="11861580" cy="784830"/>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分析</a:t>
            </a:r>
            <a:r>
              <a:rPr lang="en-US" altLang="zh-CN" sz="2000" b="1" smtClean="0">
                <a:solidFill>
                  <a:srgbClr val="FF00FF"/>
                </a:solidFill>
                <a:latin typeface="Times New Roman" pitchFamily="18" charset="0"/>
                <a:ea typeface="微软雅黑" pitchFamily="34" charset="-122"/>
                <a:cs typeface="Times New Roman" pitchFamily="18" charset="0"/>
              </a:rPr>
              <a:t>】16. C</a:t>
            </a:r>
            <a:r>
              <a:rPr lang="zh-CN" altLang="en-US" sz="2000" b="1" smtClean="0">
                <a:solidFill>
                  <a:srgbClr val="FF00FF"/>
                </a:solidFill>
                <a:latin typeface="Times New Roman" pitchFamily="18" charset="0"/>
                <a:ea typeface="微软雅黑" pitchFamily="34" charset="-122"/>
                <a:cs typeface="Times New Roman" pitchFamily="18" charset="0"/>
              </a:rPr>
              <a:t>。考查考生对所听内容作出简单推断的能力。根据男士所说，学生可以和成人交换位置，在农场、工厂工作或在家干活。这些能够帮助他们更好了解父母的生活，了解自己的社区。</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6358818" y="418023"/>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133350" y="1441409"/>
            <a:ext cx="11887200" cy="4178341"/>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lnSpc>
                <a:spcPts val="2500"/>
              </a:lnSpc>
            </a:pPr>
            <a:r>
              <a:rPr lang="en-US" altLang="en-US" b="1" smtClean="0">
                <a:solidFill>
                  <a:srgbClr val="0000FF"/>
                </a:solidFill>
                <a:latin typeface="微软雅黑" pitchFamily="34" charset="-122"/>
                <a:ea typeface="微软雅黑" pitchFamily="34" charset="-122"/>
              </a:rPr>
              <a:t>(Text 9) </a:t>
            </a:r>
            <a:r>
              <a:rPr lang="zh-CN" altLang="en-US" b="1" smtClean="0">
                <a:solidFill>
                  <a:srgbClr val="0000FF"/>
                </a:solidFill>
                <a:latin typeface="微软雅黑" pitchFamily="34" charset="-122"/>
                <a:ea typeface="微软雅黑" pitchFamily="34" charset="-122"/>
              </a:rPr>
              <a:t>话题：</a:t>
            </a:r>
            <a:r>
              <a:rPr lang="zh-CN" altLang="en-US" sz="2400" b="1" smtClean="0">
                <a:solidFill>
                  <a:srgbClr val="0000FF"/>
                </a:solidFill>
                <a:latin typeface="微软雅黑" pitchFamily="34" charset="-122"/>
                <a:ea typeface="微软雅黑" pitchFamily="34" charset="-122"/>
              </a:rPr>
              <a:t>学校服务项目介绍</a:t>
            </a:r>
            <a:r>
              <a:rPr lang="en-US" altLang="en-US" sz="2400" b="1" smtClean="0">
                <a:solidFill>
                  <a:srgbClr val="0000FF"/>
                </a:solidFill>
                <a:latin typeface="微软雅黑" pitchFamily="34" charset="-122"/>
                <a:ea typeface="微软雅黑" pitchFamily="34" charset="-122"/>
              </a:rPr>
              <a:t>(</a:t>
            </a:r>
            <a:r>
              <a:rPr lang="zh-CN" altLang="en-US" sz="2400" b="1" smtClean="0">
                <a:solidFill>
                  <a:srgbClr val="0000FF"/>
                </a:solidFill>
                <a:latin typeface="微软雅黑" pitchFamily="34" charset="-122"/>
                <a:ea typeface="微软雅黑" pitchFamily="34" charset="-122"/>
              </a:rPr>
              <a:t>家校与社区互动</a:t>
            </a:r>
            <a:r>
              <a:rPr lang="en-US" altLang="en-US" sz="2400" b="1" smtClean="0">
                <a:solidFill>
                  <a:srgbClr val="0000FF"/>
                </a:solidFill>
                <a:latin typeface="微软雅黑" pitchFamily="34" charset="-122"/>
                <a:ea typeface="微软雅黑" pitchFamily="34" charset="-122"/>
              </a:rPr>
              <a:t>)  </a:t>
            </a:r>
            <a:r>
              <a:rPr lang="zh-CN" altLang="en-US" sz="2400" b="1" smtClean="0">
                <a:solidFill>
                  <a:srgbClr val="0000FF"/>
                </a:solidFill>
                <a:latin typeface="微软雅黑" pitchFamily="34" charset="-122"/>
                <a:ea typeface="微软雅黑" pitchFamily="34" charset="-122"/>
              </a:rPr>
              <a:t>词数</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180</a:t>
            </a:r>
            <a:r>
              <a:rPr lang="zh-CN" altLang="en-US" sz="2400" b="1" smtClean="0">
                <a:solidFill>
                  <a:srgbClr val="0000FF"/>
                </a:solidFill>
                <a:latin typeface="微软雅黑" pitchFamily="34" charset="-122"/>
                <a:ea typeface="微软雅黑" pitchFamily="34" charset="-122"/>
              </a:rPr>
              <a:t>；时间</a:t>
            </a:r>
            <a:r>
              <a:rPr lang="en-US" altLang="zh-CN" sz="2400" b="1" smtClean="0">
                <a:solidFill>
                  <a:srgbClr val="0000FF"/>
                </a:solidFill>
                <a:latin typeface="微软雅黑" pitchFamily="34" charset="-122"/>
                <a:ea typeface="微软雅黑" pitchFamily="34" charset="-122"/>
              </a:rPr>
              <a:t>:</a:t>
            </a:r>
            <a:r>
              <a:rPr lang="en-US" altLang="en-US" sz="2400" b="1" smtClean="0">
                <a:solidFill>
                  <a:srgbClr val="0000FF"/>
                </a:solidFill>
                <a:latin typeface="微软雅黑" pitchFamily="34" charset="-122"/>
                <a:ea typeface="微软雅黑" pitchFamily="34" charset="-122"/>
              </a:rPr>
              <a:t>1′21″</a:t>
            </a:r>
            <a:r>
              <a:rPr lang="zh-CN" altLang="en-US" sz="2400" b="1" smtClean="0">
                <a:solidFill>
                  <a:srgbClr val="0000FF"/>
                </a:solidFill>
                <a:latin typeface="微软雅黑" pitchFamily="34" charset="-122"/>
                <a:ea typeface="微软雅黑" pitchFamily="34" charset="-122"/>
              </a:rPr>
              <a:t>；语速</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134</a:t>
            </a:r>
            <a:endParaRPr lang="en-US" altLang="zh-CN" sz="2400" b="1" smtClean="0">
              <a:solidFill>
                <a:srgbClr val="0000FF"/>
              </a:solidFill>
              <a:latin typeface="微软雅黑" pitchFamily="34" charset="-122"/>
              <a:ea typeface="微软雅黑" pitchFamily="34" charset="-122"/>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Welcome to Education Update, Kathy. This is from Mountainside High School with us today. Hello, Mr. Hall. Could you tell us about the service program in your school?</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Okay. It goes like this. On certain days each month, adults from the neighborhood sit in class with the students and see what's going on in the school.</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That's interesting. What else can they do?</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They can also take adult courses in the evenings for both fun and serious learning.</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What about the students? What can they do in the program?</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Well, they can change places with adults and go working on a farm or in a factory or taking care of the house work.</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Good. This helps them better understand the lives of their parents and know more about their neighborhood.</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Yes. Students have a chance to work in hospitals, nursing homes, libraries, and even in government offices.</a:t>
            </a:r>
            <a:endParaRPr lang="zh-CN" altLang="en-US" b="1"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W: </a:t>
            </a:r>
            <a:r>
              <a:rPr lang="en-US" altLang="zh-CN" b="1" u="sng" smtClean="0">
                <a:solidFill>
                  <a:schemeClr val="tx1"/>
                </a:solidFill>
                <a:latin typeface="Times New Roman" pitchFamily="18" charset="0"/>
                <a:ea typeface="微软雅黑" pitchFamily="34" charset="-122"/>
                <a:cs typeface="Times New Roman" pitchFamily="18" charset="0"/>
              </a:rPr>
              <a:t>(17) So the school is not only part of the student's lives, but also part of the neighborhood.</a:t>
            </a:r>
            <a:endParaRPr lang="zh-CN" altLang="en-US" b="1" u="sng" smtClean="0">
              <a:solidFill>
                <a:schemeClr val="tx1"/>
              </a:solidFill>
              <a:latin typeface="Times New Roman" pitchFamily="18" charset="0"/>
              <a:ea typeface="微软雅黑" pitchFamily="34" charset="-122"/>
              <a:cs typeface="Times New Roman" pitchFamily="18" charset="0"/>
            </a:endParaRPr>
          </a:p>
          <a:p>
            <a:pPr algn="just">
              <a:lnSpc>
                <a:spcPts val="2500"/>
              </a:lnSpc>
            </a:pPr>
            <a:r>
              <a:rPr lang="en-US" altLang="zh-CN" b="1" smtClean="0">
                <a:solidFill>
                  <a:schemeClr val="tx1"/>
                </a:solidFill>
                <a:latin typeface="Times New Roman" pitchFamily="18" charset="0"/>
                <a:ea typeface="微软雅黑" pitchFamily="34" charset="-122"/>
                <a:cs typeface="Times New Roman" pitchFamily="18" charset="0"/>
              </a:rPr>
              <a:t>M: </a:t>
            </a:r>
            <a:r>
              <a:rPr lang="en-US" altLang="zh-CN" b="1" u="sng" smtClean="0">
                <a:solidFill>
                  <a:schemeClr val="tx1"/>
                </a:solidFill>
                <a:latin typeface="Times New Roman" pitchFamily="18" charset="0"/>
                <a:ea typeface="微软雅黑" pitchFamily="34" charset="-122"/>
                <a:cs typeface="Times New Roman" pitchFamily="18" charset="0"/>
              </a:rPr>
              <a:t>(17) That's exactly what our service program is for.</a:t>
            </a:r>
            <a:endParaRPr lang="zh-CN" altLang="en-US" b="1" u="sng" smtClean="0">
              <a:solidFill>
                <a:schemeClr val="tx1"/>
              </a:solidFill>
              <a:latin typeface="Times New Roman" pitchFamily="18" charset="0"/>
              <a:ea typeface="微软雅黑" pitchFamily="34" charset="-122"/>
              <a:cs typeface="Times New Roman" pitchFamily="18" charset="0"/>
            </a:endParaRPr>
          </a:p>
        </p:txBody>
      </p:sp>
      <p:sp>
        <p:nvSpPr>
          <p:cNvPr id="7" name="文本框 10" title=""/>
          <p:cNvSpPr txBox="1"/>
          <p:nvPr>
            <p:custDataLst>
              <p:tags r:id="rId2"/>
            </p:custDataLst>
          </p:nvPr>
        </p:nvSpPr>
        <p:spPr>
          <a:xfrm>
            <a:off x="152400" y="97628"/>
            <a:ext cx="11820525" cy="1200329"/>
          </a:xfrm>
          <a:prstGeom prst="rect">
            <a:avLst/>
          </a:prstGeom>
          <a:solidFill>
            <a:srgbClr val="FFFFCC"/>
          </a:solidFill>
          <a:ln w="19050">
            <a:solidFill>
              <a:schemeClr val="tx1"/>
            </a:solidFill>
          </a:ln>
        </p:spPr>
        <p:txBody>
          <a:bodyPr wrap="square" anchor="t" anchorCtr="0">
            <a:spAutoFit/>
          </a:bodyPr>
          <a:lstStyle/>
          <a:p>
            <a:r>
              <a:rPr lang="en-US" altLang="zh-CN" b="1" smtClean="0">
                <a:latin typeface="Times New Roman" pitchFamily="18" charset="0"/>
                <a:ea typeface="微软雅黑" pitchFamily="34" charset="-122"/>
                <a:cs typeface="Times New Roman" pitchFamily="18" charset="0"/>
              </a:rPr>
              <a:t>17. What is the goal of the school program?</a:t>
            </a:r>
            <a:endParaRPr lang="zh-CN" altLang="en-US" b="1" smtClean="0">
              <a:latin typeface="Times New Roman" pitchFamily="18" charset="0"/>
              <a:ea typeface="微软雅黑" pitchFamily="34" charset="-122"/>
              <a:cs typeface="Times New Roman" pitchFamily="18" charset="0"/>
            </a:endParaRPr>
          </a:p>
          <a:p>
            <a:r>
              <a:rPr lang="en-US" altLang="zh-CN" b="1" smtClean="0">
                <a:latin typeface="Times New Roman" pitchFamily="18" charset="0"/>
                <a:ea typeface="微软雅黑" pitchFamily="34" charset="-122"/>
                <a:cs typeface="Times New Roman" pitchFamily="18" charset="0"/>
              </a:rPr>
              <a:t>      A. To improve student-teacher relationship.</a:t>
            </a:r>
            <a:endParaRPr lang="zh-CN" altLang="en-US" b="1" smtClean="0">
              <a:latin typeface="Times New Roman" pitchFamily="18" charset="0"/>
              <a:ea typeface="微软雅黑" pitchFamily="34" charset="-122"/>
              <a:cs typeface="Times New Roman" pitchFamily="18" charset="0"/>
            </a:endParaRPr>
          </a:p>
          <a:p>
            <a:r>
              <a:rPr lang="en-US" altLang="zh-CN" b="1" smtClean="0">
                <a:latin typeface="Times New Roman" pitchFamily="18" charset="0"/>
                <a:ea typeface="微软雅黑" pitchFamily="34" charset="-122"/>
                <a:cs typeface="Times New Roman" pitchFamily="18" charset="0"/>
              </a:rPr>
              <a:t>      B. To promote the idea of work-life balance.</a:t>
            </a:r>
            <a:endParaRPr lang="zh-CN" altLang="en-US" b="1" smtClean="0">
              <a:latin typeface="Times New Roman" pitchFamily="18" charset="0"/>
              <a:ea typeface="微软雅黑" pitchFamily="34" charset="-122"/>
              <a:cs typeface="Times New Roman" pitchFamily="18" charset="0"/>
            </a:endParaRPr>
          </a:p>
          <a:p>
            <a:r>
              <a:rPr lang="en-US" altLang="zh-CN" b="1" smtClean="0">
                <a:latin typeface="Times New Roman" pitchFamily="18" charset="0"/>
                <a:ea typeface="微软雅黑" pitchFamily="34" charset="-122"/>
                <a:cs typeface="Times New Roman" pitchFamily="18" charset="0"/>
              </a:rPr>
              <a:t>      C. To enhance school-community interaction.</a:t>
            </a:r>
            <a:endParaRPr lang="zh-CN" altLang="en-US" b="1" smtClean="0">
              <a:latin typeface="Times New Roman" pitchFamily="18" charset="0"/>
              <a:ea typeface="微软雅黑" pitchFamily="34" charset="-122"/>
              <a:cs typeface="Times New Roman" pitchFamily="18" charset="0"/>
            </a:endParaRPr>
          </a:p>
        </p:txBody>
      </p:sp>
      <p:sp>
        <p:nvSpPr>
          <p:cNvPr id="8" name="文本框 3" title=""/>
          <p:cNvSpPr txBox="1"/>
          <p:nvPr>
            <p:custDataLst>
              <p:tags r:id="rId3"/>
            </p:custDataLst>
          </p:nvPr>
        </p:nvSpPr>
        <p:spPr>
          <a:xfrm>
            <a:off x="139920" y="5807214"/>
            <a:ext cx="11861580" cy="784830"/>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分析</a:t>
            </a:r>
            <a:r>
              <a:rPr lang="en-US" altLang="zh-CN" sz="2000" b="1" smtClean="0">
                <a:solidFill>
                  <a:srgbClr val="FF00FF"/>
                </a:solidFill>
                <a:latin typeface="Times New Roman" pitchFamily="18" charset="0"/>
                <a:ea typeface="微软雅黑" pitchFamily="34" charset="-122"/>
                <a:cs typeface="Times New Roman" pitchFamily="18" charset="0"/>
              </a:rPr>
              <a:t>】17. C</a:t>
            </a:r>
            <a:r>
              <a:rPr lang="zh-CN" altLang="en-US" sz="2000" b="1" smtClean="0">
                <a:solidFill>
                  <a:srgbClr val="FF00FF"/>
                </a:solidFill>
                <a:latin typeface="Times New Roman" pitchFamily="18" charset="0"/>
                <a:ea typeface="微软雅黑" pitchFamily="34" charset="-122"/>
                <a:cs typeface="Times New Roman" pitchFamily="18" charset="0"/>
              </a:rPr>
              <a:t>。考查考生获取事实性具体信息的能力。根据最后一个轮次对话可知，通过这个活动让学生明白学校既是他们生活的一部分，也是社区一部分。换言之，该活动能够促进学校社区互动。</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529518" y="989523"/>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133350" y="908009"/>
            <a:ext cx="11887200" cy="3492541"/>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000" b="1" smtClean="0">
                <a:solidFill>
                  <a:srgbClr val="0000FF"/>
                </a:solidFill>
                <a:latin typeface="微软雅黑" pitchFamily="34" charset="-122"/>
                <a:ea typeface="微软雅黑" pitchFamily="34" charset="-122"/>
              </a:rPr>
              <a:t>(Text 10)</a:t>
            </a:r>
            <a:r>
              <a:rPr lang="zh-CN" altLang="en-US" sz="2000" b="1" smtClean="0">
                <a:solidFill>
                  <a:srgbClr val="0000FF"/>
                </a:solidFill>
                <a:latin typeface="微软雅黑" pitchFamily="34" charset="-122"/>
                <a:ea typeface="微软雅黑" pitchFamily="34" charset="-122"/>
              </a:rPr>
              <a:t>话题：艺术</a:t>
            </a:r>
            <a:r>
              <a:rPr lang="zh-CN" altLang="en-US" sz="2400" b="1" smtClean="0">
                <a:solidFill>
                  <a:srgbClr val="0000FF"/>
                </a:solidFill>
                <a:latin typeface="微软雅黑" pitchFamily="34" charset="-122"/>
                <a:ea typeface="微软雅黑" pitchFamily="34" charset="-122"/>
              </a:rPr>
              <a:t>如何传播气候变化意识  词数</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173</a:t>
            </a:r>
            <a:r>
              <a:rPr lang="zh-CN" altLang="en-US" sz="2400" b="1" smtClean="0">
                <a:solidFill>
                  <a:srgbClr val="0000FF"/>
                </a:solidFill>
                <a:latin typeface="微软雅黑" pitchFamily="34" charset="-122"/>
                <a:ea typeface="微软雅黑" pitchFamily="34" charset="-122"/>
              </a:rPr>
              <a:t>；时间</a:t>
            </a:r>
            <a:r>
              <a:rPr lang="en-US" altLang="zh-CN" sz="2400" b="1" smtClean="0">
                <a:solidFill>
                  <a:srgbClr val="0000FF"/>
                </a:solidFill>
                <a:latin typeface="微软雅黑" pitchFamily="34" charset="-122"/>
                <a:ea typeface="微软雅黑" pitchFamily="34" charset="-122"/>
              </a:rPr>
              <a:t>:</a:t>
            </a:r>
            <a:r>
              <a:rPr lang="en-US" altLang="en-US" sz="2400" b="1" smtClean="0">
                <a:solidFill>
                  <a:srgbClr val="0000FF"/>
                </a:solidFill>
                <a:latin typeface="微软雅黑" pitchFamily="34" charset="-122"/>
                <a:ea typeface="微软雅黑" pitchFamily="34" charset="-122"/>
              </a:rPr>
              <a:t>1′17″</a:t>
            </a:r>
            <a:r>
              <a:rPr lang="zh-CN" altLang="en-US" sz="2400" b="1" smtClean="0">
                <a:solidFill>
                  <a:srgbClr val="0000FF"/>
                </a:solidFill>
                <a:latin typeface="微软雅黑" pitchFamily="34" charset="-122"/>
                <a:ea typeface="微软雅黑" pitchFamily="34" charset="-122"/>
              </a:rPr>
              <a:t>；语速</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135</a:t>
            </a:r>
            <a:endParaRPr lang="en-US" altLang="zh-CN" sz="2400" b="1" smtClean="0">
              <a:solidFill>
                <a:srgbClr val="0000FF"/>
              </a:solidFill>
              <a:latin typeface="微软雅黑" pitchFamily="34" charset="-122"/>
              <a:ea typeface="微软雅黑" pitchFamily="34" charset="-122"/>
            </a:endParaRPr>
          </a:p>
          <a:p>
            <a:pPr algn="just"/>
            <a:r>
              <a:rPr lang="en-US" sz="2000" b="1" smtClean="0">
                <a:latin typeface="Times New Roman" pitchFamily="18" charset="0"/>
                <a:cs typeface="Times New Roman" pitchFamily="18" charset="0"/>
              </a:rPr>
              <a:t>Good evening. Tonight, I'll continue to share how we can use art to spread the word about the changing climate. In our day-to-day lives, climate change can be hard to see, but some places will feel the changes sooner than others. </a:t>
            </a:r>
            <a:r>
              <a:rPr lang="en-US" altLang="zh-CN" sz="2000" b="1" u="sng" smtClean="0">
                <a:solidFill>
                  <a:schemeClr val="tx1"/>
                </a:solidFill>
                <a:latin typeface="Times New Roman" pitchFamily="18" charset="0"/>
                <a:ea typeface="微软雅黑" pitchFamily="34" charset="-122"/>
                <a:cs typeface="Times New Roman" pitchFamily="18" charset="0"/>
              </a:rPr>
              <a:t>(18) </a:t>
            </a:r>
            <a:r>
              <a:rPr lang="en-US" sz="2000" b="1" u="sng" smtClean="0">
                <a:latin typeface="Times New Roman" pitchFamily="18" charset="0"/>
                <a:cs typeface="Times New Roman" pitchFamily="18" charset="0"/>
              </a:rPr>
              <a:t>The city I live in is very flat and close to the waterline.</a:t>
            </a:r>
            <a:r>
              <a:rPr lang="en-US" sz="2000" b="1" smtClean="0">
                <a:latin typeface="Times New Roman" pitchFamily="18" charset="0"/>
                <a:cs typeface="Times New Roman" pitchFamily="18" charset="0"/>
              </a:rPr>
              <a:t> And rising sea levels are already creating floods. So I decided to do something to make it impossible to ignore. I started an art project called Underwater Homeowners’ Association and painted numbers onto thousands of large signs. Each number showed how high someone's house was above sea level. A one would mean that if the sea level rose one foot, the building would flood. I gave the signs to homeowners who put them in their yards. Kids painted more signs and put them near their schools and along busy roads. The project has already had a real-world effect. The people who put the signs in their yards created a real homeowners association to </a:t>
            </a:r>
            <a:r>
              <a:rPr lang="en-US" sz="2000" b="1" u="sng" smtClean="0">
                <a:latin typeface="Times New Roman" pitchFamily="18" charset="0"/>
                <a:cs typeface="Times New Roman" pitchFamily="18" charset="0"/>
              </a:rPr>
              <a:t>address</a:t>
            </a:r>
            <a:r>
              <a:rPr lang="en-US" sz="2000" b="1" smtClean="0">
                <a:latin typeface="Times New Roman" pitchFamily="18" charset="0"/>
                <a:cs typeface="Times New Roman" pitchFamily="18" charset="0"/>
              </a:rPr>
              <a:t> climate change in their communities.</a:t>
            </a:r>
            <a:endParaRPr lang="zh-CN" altLang="en-US" sz="2000" b="1">
              <a:latin typeface="Times New Roman" pitchFamily="18" charset="0"/>
              <a:cs typeface="Times New Roman" pitchFamily="18" charset="0"/>
            </a:endParaRPr>
          </a:p>
        </p:txBody>
      </p:sp>
      <p:sp>
        <p:nvSpPr>
          <p:cNvPr id="7" name="文本框 10" title=""/>
          <p:cNvSpPr txBox="1"/>
          <p:nvPr>
            <p:custDataLst>
              <p:tags r:id="rId2"/>
            </p:custDataLst>
          </p:nvPr>
        </p:nvSpPr>
        <p:spPr>
          <a:xfrm>
            <a:off x="152400" y="97628"/>
            <a:ext cx="11820525" cy="707886"/>
          </a:xfrm>
          <a:prstGeom prst="rect">
            <a:avLst/>
          </a:prstGeom>
          <a:solidFill>
            <a:srgbClr val="FFFFCC"/>
          </a:solidFill>
          <a:ln w="19050">
            <a:solidFill>
              <a:schemeClr val="tx1"/>
            </a:solidFill>
          </a:ln>
        </p:spPr>
        <p:txBody>
          <a:bodyPr wrap="square" anchor="t" anchorCtr="0">
            <a:spAutoFit/>
          </a:bodyPr>
          <a:lstStyle/>
          <a:p>
            <a:r>
              <a:rPr lang="en-US" sz="2000" b="1" smtClean="0">
                <a:solidFill>
                  <a:schemeClr val="dk1"/>
                </a:solidFill>
                <a:latin typeface="Times New Roman" pitchFamily="18" charset="0"/>
                <a:cs typeface="Times New Roman" pitchFamily="18" charset="0"/>
              </a:rPr>
              <a:t>18. Where is the speaker's city located?</a:t>
            </a:r>
            <a:endParaRPr lang="zh-CN" altLang="en-US" sz="2000" b="1" smtClean="0">
              <a:solidFill>
                <a:schemeClr val="dk1"/>
              </a:solidFill>
              <a:latin typeface="Times New Roman" pitchFamily="18" charset="0"/>
              <a:cs typeface="Times New Roman" pitchFamily="18" charset="0"/>
            </a:endParaRPr>
          </a:p>
          <a:p>
            <a:r>
              <a:rPr lang="en-US" sz="2000" b="1" smtClean="0">
                <a:solidFill>
                  <a:schemeClr val="dk1"/>
                </a:solidFill>
                <a:latin typeface="Times New Roman" pitchFamily="18" charset="0"/>
                <a:cs typeface="Times New Roman" pitchFamily="18" charset="0"/>
              </a:rPr>
              <a:t>       A. By the lake.		B. On the coast.		C. In the valley.</a:t>
            </a:r>
            <a:endParaRPr lang="zh-CN" altLang="en-US" sz="2000" b="1" smtClean="0">
              <a:solidFill>
                <a:schemeClr val="dk1"/>
              </a:solidFill>
              <a:latin typeface="Times New Roman" pitchFamily="18" charset="0"/>
              <a:cs typeface="Times New Roman" pitchFamily="18" charset="0"/>
            </a:endParaRPr>
          </a:p>
        </p:txBody>
      </p:sp>
      <p:sp>
        <p:nvSpPr>
          <p:cNvPr id="8" name="文本框 3" title=""/>
          <p:cNvSpPr txBox="1"/>
          <p:nvPr>
            <p:custDataLst>
              <p:tags r:id="rId3"/>
            </p:custDataLst>
          </p:nvPr>
        </p:nvSpPr>
        <p:spPr>
          <a:xfrm>
            <a:off x="120870" y="4778514"/>
            <a:ext cx="11861580" cy="1092607"/>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分析</a:t>
            </a:r>
            <a:r>
              <a:rPr lang="en-US" altLang="zh-CN" sz="2000" b="1" smtClean="0">
                <a:solidFill>
                  <a:srgbClr val="FF00FF"/>
                </a:solidFill>
                <a:latin typeface="Times New Roman" pitchFamily="18" charset="0"/>
                <a:ea typeface="微软雅黑" pitchFamily="34" charset="-122"/>
                <a:cs typeface="Times New Roman" pitchFamily="18" charset="0"/>
              </a:rPr>
              <a:t>】18. C</a:t>
            </a:r>
            <a:r>
              <a:rPr lang="zh-CN" altLang="en-US" sz="2000" b="1" smtClean="0">
                <a:solidFill>
                  <a:srgbClr val="FF00FF"/>
                </a:solidFill>
                <a:latin typeface="Times New Roman" pitchFamily="18" charset="0"/>
                <a:ea typeface="微软雅黑" pitchFamily="34" charset="-122"/>
                <a:cs typeface="Times New Roman" pitchFamily="18" charset="0"/>
              </a:rPr>
              <a:t>。考查考生对所听内容作出简单推断的能力。根据 </a:t>
            </a:r>
            <a:r>
              <a:rPr lang="en-US" altLang="zh-CN" sz="2000" b="1" smtClean="0">
                <a:solidFill>
                  <a:srgbClr val="FF00FF"/>
                </a:solidFill>
                <a:latin typeface="Times New Roman" pitchFamily="18" charset="0"/>
                <a:ea typeface="微软雅黑" pitchFamily="34" charset="-122"/>
                <a:cs typeface="Times New Roman" pitchFamily="18" charset="0"/>
              </a:rPr>
              <a:t>The city I live in is very flat and close to the waterline.</a:t>
            </a:r>
            <a:r>
              <a:rPr lang="zh-CN" altLang="en-US" sz="2000" b="1" smtClean="0">
                <a:solidFill>
                  <a:srgbClr val="FF00FF"/>
                </a:solidFill>
                <a:latin typeface="Times New Roman" pitchFamily="18" charset="0"/>
                <a:ea typeface="微软雅黑" pitchFamily="34" charset="-122"/>
                <a:cs typeface="Times New Roman" pitchFamily="18" charset="0"/>
              </a:rPr>
              <a:t>可知，作者所在城市地势较低，靠近吃水线。这说明该城市就位于海边。 </a:t>
            </a:r>
          </a:p>
          <a:p>
            <a:endParaRPr lang="zh-CN" altLang="en-US" sz="2000" b="1" smtClean="0">
              <a:latin typeface="Times New Roman" pitchFamily="18" charset="0"/>
              <a:ea typeface="微软雅黑" pitchFamily="34" charset="-122"/>
              <a:cs typeface="Times New Roman" pitchFamily="18" charset="0"/>
            </a:endParaRP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6606468" y="446598"/>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133350" y="1479509"/>
            <a:ext cx="11887200" cy="3492541"/>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000" b="1" smtClean="0">
                <a:solidFill>
                  <a:srgbClr val="0000FF"/>
                </a:solidFill>
                <a:latin typeface="微软雅黑" pitchFamily="34" charset="-122"/>
                <a:ea typeface="微软雅黑" pitchFamily="34" charset="-122"/>
              </a:rPr>
              <a:t>(Text 10)</a:t>
            </a:r>
            <a:r>
              <a:rPr lang="zh-CN" altLang="en-US" sz="2000" b="1" smtClean="0">
                <a:solidFill>
                  <a:srgbClr val="0000FF"/>
                </a:solidFill>
                <a:latin typeface="微软雅黑" pitchFamily="34" charset="-122"/>
                <a:ea typeface="微软雅黑" pitchFamily="34" charset="-122"/>
              </a:rPr>
              <a:t>话题：艺术</a:t>
            </a:r>
            <a:r>
              <a:rPr lang="zh-CN" altLang="en-US" sz="2400" b="1" smtClean="0">
                <a:solidFill>
                  <a:srgbClr val="0000FF"/>
                </a:solidFill>
                <a:latin typeface="微软雅黑" pitchFamily="34" charset="-122"/>
                <a:ea typeface="微软雅黑" pitchFamily="34" charset="-122"/>
              </a:rPr>
              <a:t>如何传播气候变化意识   词数</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173</a:t>
            </a:r>
            <a:r>
              <a:rPr lang="zh-CN" altLang="en-US" sz="2400" b="1" smtClean="0">
                <a:solidFill>
                  <a:srgbClr val="0000FF"/>
                </a:solidFill>
                <a:latin typeface="微软雅黑" pitchFamily="34" charset="-122"/>
                <a:ea typeface="微软雅黑" pitchFamily="34" charset="-122"/>
              </a:rPr>
              <a:t>；时间</a:t>
            </a:r>
            <a:r>
              <a:rPr lang="en-US" altLang="zh-CN" sz="2400" b="1" smtClean="0">
                <a:solidFill>
                  <a:srgbClr val="0000FF"/>
                </a:solidFill>
                <a:latin typeface="微软雅黑" pitchFamily="34" charset="-122"/>
                <a:ea typeface="微软雅黑" pitchFamily="34" charset="-122"/>
              </a:rPr>
              <a:t>:</a:t>
            </a:r>
            <a:r>
              <a:rPr lang="en-US" altLang="en-US" sz="2400" b="1" smtClean="0">
                <a:solidFill>
                  <a:srgbClr val="0000FF"/>
                </a:solidFill>
                <a:latin typeface="微软雅黑" pitchFamily="34" charset="-122"/>
                <a:ea typeface="微软雅黑" pitchFamily="34" charset="-122"/>
              </a:rPr>
              <a:t>1′17″</a:t>
            </a:r>
            <a:r>
              <a:rPr lang="zh-CN" altLang="en-US" sz="2400" b="1" smtClean="0">
                <a:solidFill>
                  <a:srgbClr val="0000FF"/>
                </a:solidFill>
                <a:latin typeface="微软雅黑" pitchFamily="34" charset="-122"/>
                <a:ea typeface="微软雅黑" pitchFamily="34" charset="-122"/>
              </a:rPr>
              <a:t>；语速</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135</a:t>
            </a:r>
            <a:endParaRPr lang="en-US" altLang="zh-CN" sz="2400" b="1" smtClean="0">
              <a:solidFill>
                <a:srgbClr val="0000FF"/>
              </a:solidFill>
              <a:latin typeface="微软雅黑" pitchFamily="34" charset="-122"/>
              <a:ea typeface="微软雅黑" pitchFamily="34" charset="-122"/>
            </a:endParaRPr>
          </a:p>
          <a:p>
            <a:pPr algn="just"/>
            <a:r>
              <a:rPr lang="en-US" sz="2000" b="1" smtClean="0">
                <a:latin typeface="Times New Roman" pitchFamily="18" charset="0"/>
                <a:cs typeface="Times New Roman" pitchFamily="18" charset="0"/>
              </a:rPr>
              <a:t>Good evening. Tonight, I'll continue to share how we can use art to spread the word about the changing climate. In our day-to-day lives, climate change can be hard to see, but some places will feel the changes sooner than others. The city I live in is very </a:t>
            </a:r>
            <a:r>
              <a:rPr lang="en-US" sz="2000" b="1" u="sng" smtClean="0">
                <a:latin typeface="Times New Roman" pitchFamily="18" charset="0"/>
                <a:cs typeface="Times New Roman" pitchFamily="18" charset="0"/>
              </a:rPr>
              <a:t>flat</a:t>
            </a:r>
            <a:r>
              <a:rPr lang="en-US" sz="2000" b="1" smtClean="0">
                <a:latin typeface="Times New Roman" pitchFamily="18" charset="0"/>
                <a:cs typeface="Times New Roman" pitchFamily="18" charset="0"/>
              </a:rPr>
              <a:t> and close to the </a:t>
            </a:r>
            <a:r>
              <a:rPr lang="en-US" sz="2000" b="1" u="sng" smtClean="0">
                <a:latin typeface="Times New Roman" pitchFamily="18" charset="0"/>
                <a:cs typeface="Times New Roman" pitchFamily="18" charset="0"/>
              </a:rPr>
              <a:t>waterline</a:t>
            </a:r>
            <a:r>
              <a:rPr lang="en-US" sz="2000" b="1" smtClean="0">
                <a:latin typeface="Times New Roman" pitchFamily="18" charset="0"/>
                <a:cs typeface="Times New Roman" pitchFamily="18" charset="0"/>
              </a:rPr>
              <a:t>. And rising sea levels are already creating floods. So I decided to do something to make it impossible to ignore. I started an art project called Underwater Homeowners’ Association and painted numbers onto thousands of large signs. </a:t>
            </a:r>
            <a:r>
              <a:rPr lang="en-US" altLang="zh-CN" sz="2000" b="1" u="sng" smtClean="0">
                <a:solidFill>
                  <a:schemeClr val="tx1"/>
                </a:solidFill>
                <a:latin typeface="Times New Roman" pitchFamily="18" charset="0"/>
                <a:ea typeface="微软雅黑" pitchFamily="34" charset="-122"/>
                <a:cs typeface="Times New Roman" pitchFamily="18" charset="0"/>
              </a:rPr>
              <a:t>(19) </a:t>
            </a:r>
            <a:r>
              <a:rPr lang="en-US" sz="2000" b="1" u="sng" smtClean="0">
                <a:latin typeface="Times New Roman" pitchFamily="18" charset="0"/>
                <a:cs typeface="Times New Roman" pitchFamily="18" charset="0"/>
              </a:rPr>
              <a:t>Each number showed how high someone's house was above sea level. </a:t>
            </a:r>
            <a:r>
              <a:rPr lang="en-US" sz="2000" b="1" smtClean="0">
                <a:latin typeface="Times New Roman" pitchFamily="18" charset="0"/>
                <a:cs typeface="Times New Roman" pitchFamily="18" charset="0"/>
              </a:rPr>
              <a:t>A one would mean that if the sea level rose one foot, the building would flood. I gave the signs to homeowners who put them in their yards. Kids painted more signs and put them near their schools and along busy roads. The project has already had a real-world effect. The people who put the signs in their yards created a real homeowners association to </a:t>
            </a:r>
            <a:r>
              <a:rPr lang="en-US" sz="2000" b="1" u="sng" smtClean="0">
                <a:latin typeface="Times New Roman" pitchFamily="18" charset="0"/>
                <a:cs typeface="Times New Roman" pitchFamily="18" charset="0"/>
              </a:rPr>
              <a:t>address</a:t>
            </a:r>
            <a:r>
              <a:rPr lang="en-US" sz="2000" b="1" smtClean="0">
                <a:latin typeface="Times New Roman" pitchFamily="18" charset="0"/>
                <a:cs typeface="Times New Roman" pitchFamily="18" charset="0"/>
              </a:rPr>
              <a:t> climate change in their communities.</a:t>
            </a:r>
            <a:endParaRPr lang="zh-CN" altLang="en-US" sz="2000" b="1">
              <a:latin typeface="Times New Roman" pitchFamily="18" charset="0"/>
              <a:cs typeface="Times New Roman" pitchFamily="18" charset="0"/>
            </a:endParaRPr>
          </a:p>
        </p:txBody>
      </p:sp>
      <p:sp>
        <p:nvSpPr>
          <p:cNvPr id="7" name="文本框 10" title=""/>
          <p:cNvSpPr txBox="1"/>
          <p:nvPr>
            <p:custDataLst>
              <p:tags r:id="rId2"/>
            </p:custDataLst>
          </p:nvPr>
        </p:nvSpPr>
        <p:spPr>
          <a:xfrm>
            <a:off x="152400" y="97628"/>
            <a:ext cx="11820525" cy="1323439"/>
          </a:xfrm>
          <a:prstGeom prst="rect">
            <a:avLst/>
          </a:prstGeom>
          <a:solidFill>
            <a:srgbClr val="FFFFCC"/>
          </a:solidFill>
          <a:ln w="19050">
            <a:solidFill>
              <a:schemeClr val="tx1"/>
            </a:solidFill>
          </a:ln>
        </p:spPr>
        <p:txBody>
          <a:bodyPr wrap="square" anchor="t" anchorCtr="0">
            <a:spAutoFit/>
          </a:bodyPr>
          <a:lstStyle/>
          <a:p>
            <a:r>
              <a:rPr lang="en-US" sz="2000" b="1" smtClean="0">
                <a:solidFill>
                  <a:schemeClr val="dk1"/>
                </a:solidFill>
                <a:latin typeface="Times New Roman" pitchFamily="18" charset="0"/>
                <a:cs typeface="Times New Roman" pitchFamily="18" charset="0"/>
              </a:rPr>
              <a:t>19. What do the numbers on the signs stand for?</a:t>
            </a:r>
            <a:endParaRPr lang="zh-CN" altLang="en-US" sz="2000" b="1" smtClean="0">
              <a:solidFill>
                <a:schemeClr val="dk1"/>
              </a:solidFill>
              <a:latin typeface="Times New Roman" pitchFamily="18" charset="0"/>
              <a:cs typeface="Times New Roman" pitchFamily="18" charset="0"/>
            </a:endParaRPr>
          </a:p>
          <a:p>
            <a:r>
              <a:rPr lang="en-US" sz="2000" b="1" smtClean="0">
                <a:solidFill>
                  <a:schemeClr val="dk1"/>
                </a:solidFill>
                <a:latin typeface="Times New Roman" pitchFamily="18" charset="0"/>
                <a:cs typeface="Times New Roman" pitchFamily="18" charset="0"/>
              </a:rPr>
              <a:t>      A. The duration of flooding.	</a:t>
            </a:r>
            <a:endParaRPr lang="zh-CN" altLang="en-US" sz="2000" b="1" smtClean="0">
              <a:solidFill>
                <a:schemeClr val="dk1"/>
              </a:solidFill>
              <a:latin typeface="Times New Roman" pitchFamily="18" charset="0"/>
              <a:cs typeface="Times New Roman" pitchFamily="18" charset="0"/>
            </a:endParaRPr>
          </a:p>
          <a:p>
            <a:r>
              <a:rPr lang="en-US" sz="2000" b="1" smtClean="0">
                <a:solidFill>
                  <a:schemeClr val="dk1"/>
                </a:solidFill>
                <a:latin typeface="Times New Roman" pitchFamily="18" charset="0"/>
                <a:cs typeface="Times New Roman" pitchFamily="18" charset="0"/>
              </a:rPr>
              <a:t>      B. The rise in air temperature. </a:t>
            </a:r>
            <a:endParaRPr lang="zh-CN" altLang="en-US" sz="2000" b="1" smtClean="0">
              <a:solidFill>
                <a:schemeClr val="dk1"/>
              </a:solidFill>
              <a:latin typeface="Times New Roman" pitchFamily="18" charset="0"/>
              <a:cs typeface="Times New Roman" pitchFamily="18" charset="0"/>
            </a:endParaRPr>
          </a:p>
          <a:p>
            <a:r>
              <a:rPr lang="en-US" sz="2000" b="1" smtClean="0">
                <a:solidFill>
                  <a:schemeClr val="dk1"/>
                </a:solidFill>
                <a:latin typeface="Times New Roman" pitchFamily="18" charset="0"/>
                <a:cs typeface="Times New Roman" pitchFamily="18" charset="0"/>
              </a:rPr>
              <a:t>      C. The height above sea level.</a:t>
            </a:r>
            <a:endParaRPr lang="zh-CN" altLang="en-US" sz="2000" b="1" smtClean="0">
              <a:solidFill>
                <a:schemeClr val="dk1"/>
              </a:solidFill>
              <a:latin typeface="Times New Roman" pitchFamily="18" charset="0"/>
              <a:cs typeface="Times New Roman" pitchFamily="18" charset="0"/>
            </a:endParaRPr>
          </a:p>
        </p:txBody>
      </p:sp>
      <p:sp>
        <p:nvSpPr>
          <p:cNvPr id="8" name="文本框 3" title=""/>
          <p:cNvSpPr txBox="1"/>
          <p:nvPr>
            <p:custDataLst>
              <p:tags r:id="rId3"/>
            </p:custDataLst>
          </p:nvPr>
        </p:nvSpPr>
        <p:spPr>
          <a:xfrm>
            <a:off x="120870" y="5169039"/>
            <a:ext cx="11861580" cy="1131079"/>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分析</a:t>
            </a:r>
            <a:r>
              <a:rPr lang="en-US" altLang="zh-CN" sz="2000" b="1" smtClean="0">
                <a:solidFill>
                  <a:srgbClr val="FF00FF"/>
                </a:solidFill>
                <a:latin typeface="Times New Roman" pitchFamily="18" charset="0"/>
                <a:ea typeface="微软雅黑" pitchFamily="34" charset="-122"/>
                <a:cs typeface="Times New Roman" pitchFamily="18" charset="0"/>
              </a:rPr>
              <a:t>】19. B</a:t>
            </a:r>
            <a:r>
              <a:rPr lang="zh-CN" altLang="en-US" sz="2000" b="1" smtClean="0">
                <a:solidFill>
                  <a:srgbClr val="FF00FF"/>
                </a:solidFill>
                <a:latin typeface="Times New Roman" pitchFamily="18" charset="0"/>
                <a:ea typeface="微软雅黑" pitchFamily="34" charset="-122"/>
                <a:cs typeface="Times New Roman" pitchFamily="18" charset="0"/>
              </a:rPr>
              <a:t>。考查考生获取事实性具体信息的能力。根据 </a:t>
            </a:r>
            <a:r>
              <a:rPr lang="en-US" altLang="zh-CN" sz="2000" b="1" smtClean="0">
                <a:solidFill>
                  <a:srgbClr val="FF00FF"/>
                </a:solidFill>
                <a:latin typeface="Times New Roman" pitchFamily="18" charset="0"/>
                <a:ea typeface="微软雅黑" pitchFamily="34" charset="-122"/>
                <a:cs typeface="Times New Roman" pitchFamily="18" charset="0"/>
              </a:rPr>
              <a:t>Each number showed how high someone’s house was above sea level</a:t>
            </a:r>
            <a:r>
              <a:rPr lang="zh-CN" altLang="en-US" sz="2000" b="1" smtClean="0">
                <a:solidFill>
                  <a:srgbClr val="FF00FF"/>
                </a:solidFill>
                <a:latin typeface="Times New Roman" pitchFamily="18" charset="0"/>
                <a:ea typeface="微软雅黑" pitchFamily="34" charset="-122"/>
                <a:cs typeface="Times New Roman" pitchFamily="18" charset="0"/>
              </a:rPr>
              <a:t>可知，每个标志牌上的数字代表某人家高于海平面的数字。换言之，该数字代表海平面以上的高度。原句是同义替换。</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281868" y="741873"/>
            <a:ext cx="206826" cy="28571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文本框 4" title=""/>
          <p:cNvSpPr txBox="1"/>
          <p:nvPr/>
        </p:nvSpPr>
        <p:spPr>
          <a:xfrm>
            <a:off x="3239409" y="1738146"/>
            <a:ext cx="6120339" cy="757130"/>
          </a:xfrm>
          <a:prstGeom prst="rect">
            <a:avLst/>
          </a:prstGeom>
          <a:noFill/>
        </p:spPr>
        <p:txBody>
          <a:bodyPr wrap="square" rtlCol="0">
            <a:spAutoFit/>
          </a:bodyPr>
          <a:lstStyle/>
          <a:p>
            <a:pPr lvl="0" algn="ctr">
              <a:lnSpc>
                <a:spcPct val="90000"/>
              </a:lnSpc>
              <a:spcBef>
                <a:spcPct val="0"/>
              </a:spcBef>
              <a:defRPr/>
            </a:pPr>
            <a:r>
              <a:rPr lang="zh-CN" altLang="en-US" sz="4800" b="1" smtClean="0">
                <a:solidFill>
                  <a:schemeClr val="bg1"/>
                </a:solidFill>
                <a:latin typeface="微软雅黑" pitchFamily="34" charset="-122"/>
                <a:ea typeface="微软雅黑" pitchFamily="34" charset="-122"/>
                <a:cs typeface="Meiryo UI" panose="020b0604030504040204" pitchFamily="34" charset="-128"/>
              </a:rPr>
              <a:t>适用省份</a:t>
            </a:r>
            <a:endParaRPr lang="zh-CN" altLang="en-US" sz="4800" b="1">
              <a:solidFill>
                <a:schemeClr val="bg1"/>
              </a:solidFill>
              <a:latin typeface="微软雅黑" pitchFamily="34" charset="-122"/>
              <a:ea typeface="微软雅黑" pitchFamily="34" charset="-122"/>
              <a:cs typeface="Meiryo UI" panose="020b0604030504040204" pitchFamily="34" charset="-128"/>
            </a:endParaRPr>
          </a:p>
        </p:txBody>
      </p:sp>
      <p:sp>
        <p:nvSpPr>
          <p:cNvPr id="6" name="文本框 10" title=""/>
          <p:cNvSpPr txBox="1"/>
          <p:nvPr/>
        </p:nvSpPr>
        <p:spPr>
          <a:xfrm>
            <a:off x="133350" y="888959"/>
            <a:ext cx="11887200" cy="3492541"/>
          </a:xfrm>
          <a:prstGeom prst="rect">
            <a:avLst/>
          </a:prstGeom>
          <a:ln w="19050">
            <a:solidFill>
              <a:srgbClr val="00B0F0"/>
            </a:solidFill>
          </a:ln>
        </p:spPr>
        <p:style>
          <a:lnRef idx="2">
            <a:schemeClr val="accent3"/>
          </a:lnRef>
          <a:fillRef idx="1">
            <a:schemeClr val="lt1"/>
          </a:fillRef>
          <a:effectRef idx="0">
            <a:schemeClr val="accent3"/>
          </a:effectRef>
          <a:fontRef idx="minor">
            <a:schemeClr val="dk1"/>
          </a:fontRef>
        </p:style>
        <p:txBody>
          <a:bodyPr wrap="square" anchor="t" anchorCtr="0">
            <a:noAutofit/>
          </a:bodyPr>
          <a:lstStyle/>
          <a:p>
            <a:pPr algn="just" fontAlgn="auto"/>
            <a:r>
              <a:rPr lang="en-US" altLang="en-US" sz="2000" b="1" smtClean="0">
                <a:solidFill>
                  <a:srgbClr val="0000FF"/>
                </a:solidFill>
                <a:latin typeface="微软雅黑" pitchFamily="34" charset="-122"/>
                <a:ea typeface="微软雅黑" pitchFamily="34" charset="-122"/>
              </a:rPr>
              <a:t>(Text 10)</a:t>
            </a:r>
            <a:r>
              <a:rPr lang="zh-CN" altLang="en-US" sz="2000" b="1" smtClean="0">
                <a:solidFill>
                  <a:srgbClr val="0000FF"/>
                </a:solidFill>
                <a:latin typeface="微软雅黑" pitchFamily="34" charset="-122"/>
                <a:ea typeface="微软雅黑" pitchFamily="34" charset="-122"/>
              </a:rPr>
              <a:t>话题：艺术</a:t>
            </a:r>
            <a:r>
              <a:rPr lang="zh-CN" altLang="en-US" sz="2400" b="1" smtClean="0">
                <a:solidFill>
                  <a:srgbClr val="0000FF"/>
                </a:solidFill>
                <a:latin typeface="微软雅黑" pitchFamily="34" charset="-122"/>
                <a:ea typeface="微软雅黑" pitchFamily="34" charset="-122"/>
              </a:rPr>
              <a:t>如何传播气候变化意识   词数</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173</a:t>
            </a:r>
            <a:r>
              <a:rPr lang="zh-CN" altLang="en-US" sz="2400" b="1" smtClean="0">
                <a:solidFill>
                  <a:srgbClr val="0000FF"/>
                </a:solidFill>
                <a:latin typeface="微软雅黑" pitchFamily="34" charset="-122"/>
                <a:ea typeface="微软雅黑" pitchFamily="34" charset="-122"/>
              </a:rPr>
              <a:t>；时间</a:t>
            </a:r>
            <a:r>
              <a:rPr lang="en-US" altLang="zh-CN" sz="2400" b="1" smtClean="0">
                <a:solidFill>
                  <a:srgbClr val="0000FF"/>
                </a:solidFill>
                <a:latin typeface="微软雅黑" pitchFamily="34" charset="-122"/>
                <a:ea typeface="微软雅黑" pitchFamily="34" charset="-122"/>
              </a:rPr>
              <a:t>:</a:t>
            </a:r>
            <a:r>
              <a:rPr lang="en-US" altLang="en-US" sz="2400" b="1" smtClean="0">
                <a:solidFill>
                  <a:srgbClr val="0000FF"/>
                </a:solidFill>
                <a:latin typeface="微软雅黑" pitchFamily="34" charset="-122"/>
                <a:ea typeface="微软雅黑" pitchFamily="34" charset="-122"/>
              </a:rPr>
              <a:t>1′17″</a:t>
            </a:r>
            <a:r>
              <a:rPr lang="zh-CN" altLang="en-US" sz="2400" b="1" smtClean="0">
                <a:solidFill>
                  <a:srgbClr val="0000FF"/>
                </a:solidFill>
                <a:latin typeface="微软雅黑" pitchFamily="34" charset="-122"/>
                <a:ea typeface="微软雅黑" pitchFamily="34" charset="-122"/>
              </a:rPr>
              <a:t>；语速</a:t>
            </a:r>
            <a:r>
              <a:rPr lang="en-US" altLang="zh-CN" sz="2400" b="1" smtClean="0">
                <a:solidFill>
                  <a:srgbClr val="0000FF"/>
                </a:solidFill>
                <a:latin typeface="微软雅黑" pitchFamily="34" charset="-122"/>
                <a:ea typeface="微软雅黑" pitchFamily="34" charset="-122"/>
              </a:rPr>
              <a:t>:</a:t>
            </a:r>
            <a:r>
              <a:rPr lang="en-US" sz="2400" b="1" smtClean="0">
                <a:solidFill>
                  <a:srgbClr val="0000FF"/>
                </a:solidFill>
                <a:latin typeface="微软雅黑" pitchFamily="34" charset="-122"/>
                <a:ea typeface="微软雅黑" pitchFamily="34" charset="-122"/>
              </a:rPr>
              <a:t>135</a:t>
            </a:r>
            <a:endParaRPr lang="en-US" altLang="zh-CN" sz="2400" b="1" smtClean="0">
              <a:solidFill>
                <a:srgbClr val="0000FF"/>
              </a:solidFill>
              <a:latin typeface="微软雅黑" pitchFamily="34" charset="-122"/>
              <a:ea typeface="微软雅黑" pitchFamily="34" charset="-122"/>
            </a:endParaRPr>
          </a:p>
          <a:p>
            <a:pPr algn="just"/>
            <a:r>
              <a:rPr lang="en-US" sz="2000" b="1" smtClean="0">
                <a:latin typeface="Times New Roman" pitchFamily="18" charset="0"/>
                <a:cs typeface="Times New Roman" pitchFamily="18" charset="0"/>
              </a:rPr>
              <a:t>Good evening. Tonight, I'll continue to share how we can use art to spread the word about the changing climate. In our day-to-day lives, climate change can be hard to see, but some places will feel the changes sooner than others. The city I live in is very </a:t>
            </a:r>
            <a:r>
              <a:rPr lang="en-US" sz="2000" b="1" u="sng" smtClean="0">
                <a:latin typeface="Times New Roman" pitchFamily="18" charset="0"/>
                <a:cs typeface="Times New Roman" pitchFamily="18" charset="0"/>
              </a:rPr>
              <a:t>flat</a:t>
            </a:r>
            <a:r>
              <a:rPr lang="en-US" sz="2000" b="1" smtClean="0">
                <a:latin typeface="Times New Roman" pitchFamily="18" charset="0"/>
                <a:cs typeface="Times New Roman" pitchFamily="18" charset="0"/>
              </a:rPr>
              <a:t> and close to the </a:t>
            </a:r>
            <a:r>
              <a:rPr lang="en-US" sz="2000" b="1" u="sng" smtClean="0">
                <a:latin typeface="Times New Roman" pitchFamily="18" charset="0"/>
                <a:cs typeface="Times New Roman" pitchFamily="18" charset="0"/>
              </a:rPr>
              <a:t>waterline</a:t>
            </a:r>
            <a:r>
              <a:rPr lang="en-US" sz="2000" b="1" smtClean="0">
                <a:latin typeface="Times New Roman" pitchFamily="18" charset="0"/>
                <a:cs typeface="Times New Roman" pitchFamily="18" charset="0"/>
              </a:rPr>
              <a:t>. And rising sea levels are already creating floods. So I decided to do something to make it impossible to ignore. I started an art project called Underwater Homeowners’ Association and painted numbers onto thousands of large signs. Each number showed how high someone's house was above sea level. A one would mean that if the sea level rose one foot, the building would flood. I gave the signs to homeowners who put them in their yards. Kids painted more signs and put them near their schools and along busy roads. </a:t>
            </a:r>
            <a:r>
              <a:rPr lang="en-US" altLang="zh-CN" sz="2000" b="1" u="sng" smtClean="0">
                <a:solidFill>
                  <a:schemeClr val="tx1"/>
                </a:solidFill>
                <a:latin typeface="Times New Roman" pitchFamily="18" charset="0"/>
                <a:ea typeface="微软雅黑" pitchFamily="34" charset="-122"/>
                <a:cs typeface="Times New Roman" pitchFamily="18" charset="0"/>
              </a:rPr>
              <a:t>(20) </a:t>
            </a:r>
            <a:r>
              <a:rPr lang="en-US" sz="2000" b="1" u="sng" smtClean="0">
                <a:latin typeface="Times New Roman" pitchFamily="18" charset="0"/>
                <a:cs typeface="Times New Roman" pitchFamily="18" charset="0"/>
              </a:rPr>
              <a:t>The project has already had a real-world effect. The people who put the signs in their yards created a real homeowners association to address climate change in their communities.</a:t>
            </a:r>
            <a:endParaRPr lang="zh-CN" altLang="en-US" sz="2000" b="1" u="sng">
              <a:latin typeface="Times New Roman" pitchFamily="18" charset="0"/>
              <a:cs typeface="Times New Roman" pitchFamily="18" charset="0"/>
            </a:endParaRPr>
          </a:p>
        </p:txBody>
      </p:sp>
      <p:sp>
        <p:nvSpPr>
          <p:cNvPr id="7" name="文本框 10" title=""/>
          <p:cNvSpPr txBox="1"/>
          <p:nvPr>
            <p:custDataLst>
              <p:tags r:id="rId2"/>
            </p:custDataLst>
          </p:nvPr>
        </p:nvSpPr>
        <p:spPr>
          <a:xfrm>
            <a:off x="152400" y="97628"/>
            <a:ext cx="11820525" cy="707886"/>
          </a:xfrm>
          <a:prstGeom prst="rect">
            <a:avLst/>
          </a:prstGeom>
          <a:solidFill>
            <a:srgbClr val="FFFFCC"/>
          </a:solidFill>
          <a:ln w="19050">
            <a:solidFill>
              <a:schemeClr val="tx1"/>
            </a:solidFill>
          </a:ln>
        </p:spPr>
        <p:txBody>
          <a:bodyPr wrap="square" anchor="t" anchorCtr="0">
            <a:spAutoFit/>
          </a:bodyPr>
          <a:lstStyle/>
          <a:p>
            <a:r>
              <a:rPr lang="en-US" sz="2000" b="1" smtClean="0">
                <a:solidFill>
                  <a:schemeClr val="dk1"/>
                </a:solidFill>
                <a:latin typeface="Times New Roman" pitchFamily="18" charset="0"/>
                <a:cs typeface="Times New Roman" pitchFamily="18" charset="0"/>
              </a:rPr>
              <a:t>20. What does the success of the project indicate?</a:t>
            </a:r>
            <a:endParaRPr lang="zh-CN" altLang="en-US" sz="2000" b="1" smtClean="0">
              <a:solidFill>
                <a:schemeClr val="dk1"/>
              </a:solidFill>
              <a:latin typeface="Times New Roman" pitchFamily="18" charset="0"/>
              <a:cs typeface="Times New Roman" pitchFamily="18" charset="0"/>
            </a:endParaRPr>
          </a:p>
          <a:p>
            <a:r>
              <a:rPr lang="en-US" sz="2000" b="1" smtClean="0">
                <a:solidFill>
                  <a:schemeClr val="dk1"/>
                </a:solidFill>
                <a:latin typeface="Times New Roman" pitchFamily="18" charset="0"/>
                <a:cs typeface="Times New Roman" pitchFamily="18" charset="0"/>
              </a:rPr>
              <a:t>      A. Art can make a difference.	  B. The homeowners are creative.   C. Climate change is controllable.</a:t>
            </a:r>
            <a:endParaRPr lang="zh-CN" altLang="en-US" sz="2000" b="1" smtClean="0">
              <a:solidFill>
                <a:schemeClr val="dk1"/>
              </a:solidFill>
              <a:latin typeface="Times New Roman" pitchFamily="18" charset="0"/>
              <a:cs typeface="Times New Roman" pitchFamily="18" charset="0"/>
            </a:endParaRPr>
          </a:p>
        </p:txBody>
      </p:sp>
      <p:sp>
        <p:nvSpPr>
          <p:cNvPr id="8" name="文本框 3" title=""/>
          <p:cNvSpPr txBox="1"/>
          <p:nvPr>
            <p:custDataLst>
              <p:tags r:id="rId3"/>
            </p:custDataLst>
          </p:nvPr>
        </p:nvSpPr>
        <p:spPr>
          <a:xfrm>
            <a:off x="120870" y="4445139"/>
            <a:ext cx="11861580" cy="784830"/>
          </a:xfrm>
          <a:prstGeom prst="rect">
            <a:avLst/>
          </a:prstGeom>
          <a:ln w="19050">
            <a:solidFill>
              <a:srgbClr val="7030A0"/>
            </a:solidFill>
          </a:ln>
          <a:extLst>
            <a:ext uri="{909E8E84-426E-40DD-AFC4-6F175D3DCCD1}">
              <a14:hiddenFill xmlns:a14="http://schemas.microsoft.com/office/drawing/2010/main">
                <a:solidFill>
                  <a:srgbClr val="000000">
                    <a:alpha val="0"/>
                  </a:srgbClr>
                </a:solidFill>
              </a14:hiddenFill>
            </a:ext>
          </a:extLst>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just">
              <a:lnSpc>
                <a:spcPts val="2700"/>
              </a:lnSpc>
            </a:pPr>
            <a:r>
              <a:rPr lang="en-US" altLang="zh-CN" sz="2000" b="1" smtClean="0">
                <a:solidFill>
                  <a:srgbClr val="FF00FF"/>
                </a:solidFill>
                <a:latin typeface="Times New Roman" pitchFamily="18" charset="0"/>
                <a:ea typeface="微软雅黑" pitchFamily="34" charset="-122"/>
                <a:cs typeface="Times New Roman" pitchFamily="18" charset="0"/>
              </a:rPr>
              <a:t>【</a:t>
            </a:r>
            <a:r>
              <a:rPr lang="zh-CN" altLang="en-US" sz="2000" b="1" smtClean="0">
                <a:solidFill>
                  <a:srgbClr val="FF00FF"/>
                </a:solidFill>
                <a:latin typeface="Times New Roman" pitchFamily="18" charset="0"/>
                <a:ea typeface="微软雅黑" pitchFamily="34" charset="-122"/>
                <a:cs typeface="Times New Roman" pitchFamily="18" charset="0"/>
              </a:rPr>
              <a:t>分析</a:t>
            </a:r>
            <a:r>
              <a:rPr lang="en-US" altLang="zh-CN" sz="2000" b="1" smtClean="0">
                <a:solidFill>
                  <a:srgbClr val="FF00FF"/>
                </a:solidFill>
                <a:latin typeface="Times New Roman" pitchFamily="18" charset="0"/>
                <a:ea typeface="微软雅黑" pitchFamily="34" charset="-122"/>
                <a:cs typeface="Times New Roman" pitchFamily="18" charset="0"/>
              </a:rPr>
              <a:t>】20. A</a:t>
            </a:r>
            <a:r>
              <a:rPr lang="zh-CN" altLang="en-US" sz="2000" b="1" smtClean="0">
                <a:solidFill>
                  <a:srgbClr val="FF00FF"/>
                </a:solidFill>
                <a:latin typeface="Times New Roman" pitchFamily="18" charset="0"/>
                <a:ea typeface="微软雅黑" pitchFamily="34" charset="-122"/>
                <a:cs typeface="Times New Roman" pitchFamily="18" charset="0"/>
              </a:rPr>
              <a:t>。考查考生获取事实性具体信息的能力。根据 最后一句话可知，该项目取得实时效果。那些院子里写上标识牌的人们创造一个真正的联系来解决社区气候变化问题。</a:t>
            </a:r>
          </a:p>
        </p:txBody>
      </p:sp>
      <p:pic>
        <p:nvPicPr>
          <p:cNvPr id="9" name="图片 8" title=""/>
          <p:cNvPicPr/>
          <p:nvPr/>
        </p:nvPicPr>
        <p:blipFill>
          <a:blip r:embed="rId4">
            <a:extLst>
              <a:ext uri="{28A0092B-C50C-407E-A947-70E740481C1C}">
                <a14:useLocalDpi xmlns:aink="http://schemas.microsoft.com/office/drawing/2016/ink" xmlns:am3d="http://schemas.microsoft.com/office/drawing/2017/model3d" xmlns:arto="http://schemas.microsoft.com/office/word/2006/arto"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lc="http://schemas.openxmlformats.org/drawingml/2006/lockedCanvas" xmlns:o="urn:schemas-microsoft-com:office:office" xmlns:oel="http://schemas.microsoft.com/office/2019/extlst" xmlns:pic="http://schemas.openxmlformats.org/drawingml/2006/picture" xmlns:v="urn:schemas-microsoft-com:vml" xmlns:ve="http://schemas.openxmlformats.org/markup-compatibility/2006" xmlns:w10="urn:schemas-microsoft-com:office:word" xmlns:w14="http://schemas.microsoft.com/office/word/2010/wordml" xmlns:w15="http://schemas.microsoft.com/office/word/2012/wordml" xmlns:w16="http://schemas.microsoft.com/office/word/2018/wordml" xmlns:w16cex="http://schemas.microsoft.com/office/word/2018/wordml/cex" xmlns:w16cid="http://schemas.microsoft.com/office/word/2016/wordml/cid" xmlns:w16sdtdh="http://schemas.microsoft.com/office/word/2020/wordml/sdtdatahash" xmlns:w16se="http://schemas.microsoft.com/office/word/2015/wordml/symex" xmlns:wne="http://schemas.microsoft.com/office/word/2006/wordml" xmlns:wp14="http://schemas.microsoft.com/office/word/2010/wordprocessingDrawing" xmlns:wpc="http://schemas.microsoft.com/office/word/2010/wordprocessingCanvas" xmlns:wpg="http://schemas.microsoft.com/office/word/2010/wordprocessingGroup" xmlns:wpi="http://schemas.microsoft.com/office/word/2010/wordprocessingInk" xmlns:wps="http://schemas.microsoft.com/office/word/2010/wordprocessingShape" xmlns:a14="http://schemas.microsoft.com/office/drawing/2010/main" val="0"/>
              </a:ext>
            </a:extLst>
          </a:blip>
          <a:stretch>
            <a:fillRect/>
          </a:stretch>
        </p:blipFill>
        <p:spPr>
          <a:xfrm>
            <a:off x="586668" y="465648"/>
            <a:ext cx="206826" cy="285716"/>
          </a:xfrm>
          <a:prstGeom prst="rect">
            <a:avLst/>
          </a:prstGeom>
        </p:spPr>
      </p:pic>
      <p:sp>
        <p:nvSpPr>
          <p:cNvPr id="10" name="文本框 3" title=""/>
          <p:cNvSpPr txBox="1"/>
          <p:nvPr>
            <p:custDataLst>
              <p:tags r:id="rId5"/>
            </p:custDataLst>
          </p:nvPr>
        </p:nvSpPr>
        <p:spPr>
          <a:xfrm>
            <a:off x="167072" y="5236428"/>
            <a:ext cx="11786803" cy="1323439"/>
          </a:xfrm>
          <a:prstGeom prst="rect">
            <a:avLst/>
          </a:prstGeom>
          <a:ln w="19050"/>
          <a:extLst>
            <a:ext uri="{909E8E84-426E-40DD-AFC4-6F175D3DCCD1}">
              <a14:hiddenFill xmlns:a14="http://schemas.microsoft.com/office/drawing/2010/main">
                <a:solidFill>
                  <a:srgbClr val="000000">
                    <a:alpha val="0"/>
                  </a:srgbClr>
                </a:solidFill>
              </a14:hiddenFill>
            </a:ext>
          </a:extLst>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en-US" sz="2000" b="1" smtClean="0">
                <a:solidFill>
                  <a:srgbClr val="7030A0"/>
                </a:solidFill>
                <a:latin typeface="Times New Roman" pitchFamily="18" charset="0"/>
                <a:cs typeface="Times New Roman" pitchFamily="18" charset="0"/>
              </a:rPr>
              <a:t>*spread the word</a:t>
            </a:r>
            <a:r>
              <a:rPr lang="zh-CN" altLang="en-US" sz="2000" b="1" smtClean="0">
                <a:solidFill>
                  <a:srgbClr val="7030A0"/>
                </a:solidFill>
                <a:latin typeface="Times New Roman" pitchFamily="18" charset="0"/>
                <a:cs typeface="Times New Roman" pitchFamily="18" charset="0"/>
              </a:rPr>
              <a:t>传播消息                            </a:t>
            </a:r>
            <a:r>
              <a:rPr lang="en-US" sz="2000" b="1" smtClean="0">
                <a:solidFill>
                  <a:srgbClr val="7030A0"/>
                </a:solidFill>
                <a:latin typeface="Times New Roman" pitchFamily="18" charset="0"/>
                <a:cs typeface="Times New Roman" pitchFamily="18" charset="0"/>
              </a:rPr>
              <a:t>*day-to-day adj. </a:t>
            </a:r>
            <a:r>
              <a:rPr lang="zh-CN" altLang="en-US" sz="2000" b="1" smtClean="0">
                <a:solidFill>
                  <a:srgbClr val="7030A0"/>
                </a:solidFill>
                <a:latin typeface="Times New Roman" pitchFamily="18" charset="0"/>
                <a:cs typeface="Times New Roman" pitchFamily="18" charset="0"/>
              </a:rPr>
              <a:t>日常的；每日的</a:t>
            </a:r>
            <a:endParaRPr lang="zh-CN" altLang="en-US" sz="2000" smtClean="0">
              <a:solidFill>
                <a:srgbClr val="7030A0"/>
              </a:solidFill>
              <a:latin typeface="Times New Roman" pitchFamily="18" charset="0"/>
              <a:cs typeface="Times New Roman" pitchFamily="18" charset="0"/>
            </a:endParaRPr>
          </a:p>
          <a:p>
            <a:r>
              <a:rPr lang="en-US" sz="2000" b="1" smtClean="0">
                <a:solidFill>
                  <a:srgbClr val="7030A0"/>
                </a:solidFill>
                <a:latin typeface="Times New Roman" pitchFamily="18" charset="0"/>
                <a:cs typeface="Times New Roman" pitchFamily="18" charset="0"/>
              </a:rPr>
              <a:t>*water line n.</a:t>
            </a:r>
            <a:r>
              <a:rPr lang="zh-CN" altLang="en-US" sz="2000" b="1" smtClean="0">
                <a:solidFill>
                  <a:srgbClr val="7030A0"/>
                </a:solidFill>
                <a:latin typeface="Times New Roman" pitchFamily="18" charset="0"/>
                <a:cs typeface="Times New Roman" pitchFamily="18" charset="0"/>
              </a:rPr>
              <a:t>（船的）吃水线，水线           </a:t>
            </a:r>
            <a:r>
              <a:rPr lang="en-US" sz="2000" b="1" smtClean="0">
                <a:solidFill>
                  <a:srgbClr val="7030A0"/>
                </a:solidFill>
                <a:latin typeface="Times New Roman" pitchFamily="18" charset="0"/>
                <a:cs typeface="Times New Roman" pitchFamily="18" charset="0"/>
              </a:rPr>
              <a:t>*fat a.</a:t>
            </a:r>
            <a:r>
              <a:rPr lang="zh-CN" altLang="en-US" sz="2000" b="1" smtClean="0">
                <a:solidFill>
                  <a:srgbClr val="7030A0"/>
                </a:solidFill>
                <a:latin typeface="Times New Roman" pitchFamily="18" charset="0"/>
                <a:cs typeface="Times New Roman" pitchFamily="18" charset="0"/>
              </a:rPr>
              <a:t>平坦的 </a:t>
            </a:r>
            <a:endParaRPr lang="zh-CN" altLang="en-US" sz="2000" smtClean="0">
              <a:solidFill>
                <a:srgbClr val="7030A0"/>
              </a:solidFill>
              <a:latin typeface="Times New Roman" pitchFamily="18" charset="0"/>
              <a:cs typeface="Times New Roman" pitchFamily="18" charset="0"/>
            </a:endParaRPr>
          </a:p>
          <a:p>
            <a:r>
              <a:rPr lang="en-US" sz="2000" b="1" smtClean="0">
                <a:solidFill>
                  <a:srgbClr val="7030A0"/>
                </a:solidFill>
                <a:latin typeface="Times New Roman" pitchFamily="18" charset="0"/>
                <a:cs typeface="Times New Roman" pitchFamily="18" charset="0"/>
              </a:rPr>
              <a:t>*ignore v. </a:t>
            </a:r>
            <a:r>
              <a:rPr lang="zh-CN" altLang="en-US" sz="2000" b="1" smtClean="0">
                <a:solidFill>
                  <a:srgbClr val="7030A0"/>
                </a:solidFill>
                <a:latin typeface="Times New Roman" pitchFamily="18" charset="0"/>
                <a:cs typeface="Times New Roman" pitchFamily="18" charset="0"/>
              </a:rPr>
              <a:t>忽视；对</a:t>
            </a:r>
            <a:r>
              <a:rPr lang="en-US" altLang="zh-CN" sz="2000" b="1" smtClean="0">
                <a:solidFill>
                  <a:srgbClr val="7030A0"/>
                </a:solidFill>
                <a:latin typeface="Times New Roman" pitchFamily="18" charset="0"/>
                <a:cs typeface="Times New Roman" pitchFamily="18" charset="0"/>
              </a:rPr>
              <a:t>……</a:t>
            </a:r>
            <a:r>
              <a:rPr lang="zh-CN" altLang="en-US" sz="2000" b="1" smtClean="0">
                <a:solidFill>
                  <a:srgbClr val="7030A0"/>
                </a:solidFill>
                <a:latin typeface="Times New Roman" pitchFamily="18" charset="0"/>
                <a:cs typeface="Times New Roman" pitchFamily="18" charset="0"/>
              </a:rPr>
              <a:t>不予理会                </a:t>
            </a:r>
            <a:r>
              <a:rPr lang="en-US" sz="2000" b="1" smtClean="0">
                <a:solidFill>
                  <a:srgbClr val="7030A0"/>
                </a:solidFill>
                <a:latin typeface="Times New Roman" pitchFamily="18" charset="0"/>
                <a:cs typeface="Times New Roman" pitchFamily="18" charset="0"/>
              </a:rPr>
              <a:t>*association n. </a:t>
            </a:r>
            <a:r>
              <a:rPr lang="zh-CN" altLang="en-US" sz="2000" b="1" smtClean="0">
                <a:solidFill>
                  <a:srgbClr val="7030A0"/>
                </a:solidFill>
                <a:latin typeface="Times New Roman" pitchFamily="18" charset="0"/>
                <a:cs typeface="Times New Roman" pitchFamily="18" charset="0"/>
              </a:rPr>
              <a:t>协会；社团；联盟</a:t>
            </a:r>
            <a:endParaRPr lang="zh-CN" altLang="en-US" sz="2000" smtClean="0">
              <a:solidFill>
                <a:srgbClr val="7030A0"/>
              </a:solidFill>
              <a:latin typeface="Times New Roman" pitchFamily="18" charset="0"/>
              <a:cs typeface="Times New Roman" pitchFamily="18" charset="0"/>
            </a:endParaRPr>
          </a:p>
          <a:p>
            <a:r>
              <a:rPr lang="en-US" sz="2000" b="1" smtClean="0">
                <a:solidFill>
                  <a:srgbClr val="7030A0"/>
                </a:solidFill>
                <a:latin typeface="Times New Roman" pitchFamily="18" charset="0"/>
                <a:cs typeface="Times New Roman" pitchFamily="18" charset="0"/>
              </a:rPr>
              <a:t>*foot n.</a:t>
            </a:r>
            <a:r>
              <a:rPr lang="zh-CN" altLang="en-US" sz="2000" b="1" smtClean="0">
                <a:solidFill>
                  <a:srgbClr val="7030A0"/>
                </a:solidFill>
                <a:latin typeface="Times New Roman" pitchFamily="18" charset="0"/>
                <a:cs typeface="Times New Roman" pitchFamily="18" charset="0"/>
              </a:rPr>
              <a:t>（长度单位）英尺（</a:t>
            </a:r>
            <a:r>
              <a:rPr lang="en-US" sz="2000" b="1" smtClean="0">
                <a:solidFill>
                  <a:srgbClr val="7030A0"/>
                </a:solidFill>
                <a:latin typeface="Times New Roman" pitchFamily="18" charset="0"/>
                <a:cs typeface="Times New Roman" pitchFamily="18" charset="0"/>
              </a:rPr>
              <a:t>12</a:t>
            </a:r>
            <a:r>
              <a:rPr lang="zh-CN" altLang="en-US" sz="2000" b="1" smtClean="0">
                <a:solidFill>
                  <a:srgbClr val="7030A0"/>
                </a:solidFill>
                <a:latin typeface="Times New Roman" pitchFamily="18" charset="0"/>
                <a:cs typeface="Times New Roman" pitchFamily="18" charset="0"/>
              </a:rPr>
              <a:t>英寸）         </a:t>
            </a:r>
            <a:r>
              <a:rPr lang="en-US" sz="2000" b="1" smtClean="0">
                <a:solidFill>
                  <a:srgbClr val="7030A0"/>
                </a:solidFill>
                <a:latin typeface="Times New Roman" pitchFamily="18" charset="0"/>
                <a:cs typeface="Times New Roman" pitchFamily="18" charset="0"/>
              </a:rPr>
              <a:t>*address v. </a:t>
            </a:r>
            <a:r>
              <a:rPr lang="zh-CN" altLang="en-US" sz="2000" b="1" smtClean="0">
                <a:solidFill>
                  <a:srgbClr val="7030A0"/>
                </a:solidFill>
                <a:latin typeface="Times New Roman" pitchFamily="18" charset="0"/>
                <a:cs typeface="Times New Roman" pitchFamily="18" charset="0"/>
              </a:rPr>
              <a:t>设法解决；处理；对付</a:t>
            </a:r>
            <a:endParaRPr lang="zh-CN" altLang="en-US" sz="2000">
              <a:solidFill>
                <a:srgbClr val="7030A0"/>
              </a:solidFill>
              <a:latin typeface="Times New Roman" pitchFamily="18" charset="0"/>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Lst>
  </p:timing>
</p:sld>
</file>

<file path=ppt/tags/tag1.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5.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6.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7.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8.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9.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0.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1.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2.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3.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4.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5.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6.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7.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8.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19.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0.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1.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2.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3.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4.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5.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6.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7.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8.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29.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0.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1.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2.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3.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4.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5.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6.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7.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8.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39.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0.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1.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2.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3.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4.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5.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6.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7.xml><?xml version="1.0" encoding="utf-8"?>
<p:tagLst xmlns:p="http://schemas.openxmlformats.org/presentationml/2006/main">
  <p:tag name="KSO_WM_UNIT_TEXT_FILL_FORE_SCHEMECOLOR_INDEX" val="13"/>
  <p:tag name="KSO_WM_UNIT_TEXT_FILL_FORE_SCHEMECOLOR_INDEX_BRIGHTNESS" val="0"/>
  <p:tag name="KSO_WM_UNIT_TEXT_FILL_TYPE" val="1"/>
</p:tagLst>
</file>

<file path=ppt/tags/tag48.xml><?xml version="1.0" encoding="utf-8"?>
<p:tagLst xmlns:p="http://schemas.openxmlformats.org/presentationml/2006/main">
  <p:tag name="AS_OS" val="Unix 3.10 unknown"/>
  <p:tag name="AS_RELEASE_DATE" val="2023.03.31"/>
  <p:tag name="AS_TITLE" val="Aspose.Slides for Java"/>
  <p:tag name="AS_VERSION" val="23.3"/>
  <p:tag name="COMMONDATA" val="eyJoZGlkIjoiMjQxNzI1M2Y5NjQ2OGI3YzRkNTFiMDU4YmQ0MmY4OTMifQ=="/>
  <p:tag name="KSO_WPP_MARK_KEY" val="369cf29a-0f70-4642-ae7a-6824c4ec562d"/>
</p:tagLst>
</file>

<file path=ppt/theme/theme1.xml><?xml version="1.0" encoding="utf-8"?>
<a:theme xmlns:r="http://schemas.openxmlformats.org/officeDocument/2006/relationships"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266</Paragraphs>
  <Slides>24</Slides>
  <Notes>0</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24</vt:i4>
      </vt:variant>
    </vt:vector>
  </HeadingPairs>
  <TitlesOfParts>
    <vt:vector baseType="lpstr" size="32">
      <vt:lpstr>Arial</vt:lpstr>
      <vt:lpstr>等线 Light</vt:lpstr>
      <vt:lpstr>等线</vt:lpstr>
      <vt:lpstr>微软雅黑</vt:lpstr>
      <vt:lpstr>Times New Roman</vt:lpstr>
      <vt:lpstr>Meiryo UI</vt:lpstr>
      <vt:lpstr>宋体</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2025-06-11T11:26:07.432</cp:lastPrinted>
  <dcterms:created xsi:type="dcterms:W3CDTF">2025-06-11T11:26:07Z</dcterms:created>
  <dcterms:modified xsi:type="dcterms:W3CDTF">2025-06-11T03:26:07Z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