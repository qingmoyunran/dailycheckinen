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removePersonalInfoOnSave="1">
  <p:sldMasterIdLst>
    <p:sldMasterId id="2147483648" r:id="rId1"/>
  </p:sldMasterIdLst>
  <p:notesMasterIdLst>
    <p:notesMasterId r:id="rId2"/>
  </p:notesMasterIdLst>
  <p:sldIdLst>
    <p:sldId id="585" r:id="rId3"/>
    <p:sldId id="1289" r:id="rId4"/>
    <p:sldId id="1291" r:id="rId5"/>
    <p:sldId id="1253" r:id="rId6"/>
    <p:sldId id="1264" r:id="rId7"/>
    <p:sldId id="1266" r:id="rId8"/>
    <p:sldId id="1265" r:id="rId9"/>
    <p:sldId id="1267" r:id="rId10"/>
    <p:sldId id="1268" r:id="rId11"/>
    <p:sldId id="1269" r:id="rId12"/>
    <p:sldId id="1270" r:id="rId13"/>
    <p:sldId id="1271" r:id="rId14"/>
    <p:sldId id="1272" r:id="rId15"/>
    <p:sldId id="1273" r:id="rId16"/>
    <p:sldId id="1274" r:id="rId17"/>
    <p:sldId id="1275" r:id="rId18"/>
    <p:sldId id="1277" r:id="rId19"/>
    <p:sldId id="1278" r:id="rId20"/>
    <p:sldId id="1279" r:id="rId21"/>
    <p:sldId id="1280" r:id="rId22"/>
    <p:sldId id="1282" r:id="rId23"/>
    <p:sldId id="1283" r:id="rId24"/>
    <p:sldId id="1292" r:id="rId25"/>
    <p:sldId id="1284" r:id="rId26"/>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userDrawn="1">
          <p15:clr>
            <a:srgbClr val="A4A3A4"/>
          </p15:clr>
        </p15:guide>
        <p15:guide id="2" orient="horz" pos="1001" userDrawn="1">
          <p15:clr>
            <a:srgbClr val="A4A3A4"/>
          </p15:clr>
        </p15:guide>
        <p15:guide id="3" pos="4930" userDrawn="1">
          <p15:clr>
            <a:srgbClr val="A4A3A4"/>
          </p15:clr>
        </p15:guide>
        <p15:guide id="4" pos="2817" userDrawn="1">
          <p15:clr>
            <a:srgbClr val="A4A3A4"/>
          </p15:clr>
        </p15:guide>
        <p15:guide id="5" pos="392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50" autoAdjust="0"/>
    <p:restoredTop sz="91920" autoAdjust="0"/>
  </p:normalViewPr>
  <p:slideViewPr>
    <p:cSldViewPr snapToGrid="0" showGuides="1">
      <p:cViewPr varScale="1">
        <p:scale>
          <a:sx n="105" d="100"/>
          <a:sy n="105" d="100"/>
        </p:scale>
        <p:origin x="144" y="318"/>
      </p:cViewPr>
      <p:guideLst>
        <p:guide orient="horz" pos="2120"/>
        <p:guide orient="horz" pos="1001"/>
        <p:guide pos="4930"/>
        <p:guide pos="2817"/>
        <p:guide pos="3922"/>
      </p:guideLst>
    </p:cSldViewPr>
  </p:slideViewPr>
  <p:notesTextViewPr>
    <p:cViewPr>
      <p:scale>
        <a:sx n="3" d="2"/>
        <a:sy n="3" d="2"/>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tags" Target="tags/tag48.xml" /><Relationship Id="rId28" Type="http://schemas.openxmlformats.org/officeDocument/2006/relationships/presProps" Target="presProps.xml" /><Relationship Id="rId29" Type="http://schemas.openxmlformats.org/officeDocument/2006/relationships/viewProps" Target="viewProps.xml" /><Relationship Id="rId3" Type="http://schemas.openxmlformats.org/officeDocument/2006/relationships/slide" Target="slides/slide1.xml" /><Relationship Id="rId30" Type="http://schemas.openxmlformats.org/officeDocument/2006/relationships/theme" Target="theme/theme1.xml" /><Relationship Id="rId31"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9E4C1-D3A5-43D2-971C-709C6D848150}" type="datetimeFigureOut">
              <a:rPr lang="zh-CN" altLang="en-US" smtClean="0"/>
              <a:t>2026/6/11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4F384-1D1D-4AAD-AE68-D802FD71803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3.png"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本讲内容&amp;金句">
    <p:bg>
      <p:bgPr>
        <a:solidFill>
          <a:srgbClr val="FFFFF5"/>
        </a:solidFill>
        <a:effectLst/>
      </p:bgPr>
    </p:bg>
    <p:spTree>
      <p:nvGrpSpPr>
        <p:cNvPr id="1" name=""/>
        <p:cNvGrpSpPr/>
        <p:nvPr/>
      </p:nvGrpSpPr>
      <p:grpSpPr>
        <a:xfrm>
          <a:off x="0" y="0"/>
          <a:ext cx="0" cy="0"/>
        </a:xfrm>
      </p:grpSpPr>
      <p:pic>
        <p:nvPicPr>
          <p:cNvPr id="9" name="图片 36"/>
          <p:cNvPicPr>
            <a:picLocks noChangeAspect="1" noChangeArrowheads="1"/>
          </p:cNvPicPr>
          <p:nvPr userDrawn="1"/>
        </p:nvPicPr>
        <p:blipFill>
          <a:blip r:embed="rId1">
            <a:extLst>
              <a:ext uri="{28A0092B-C50C-407E-A947-70E740481C1C}">
                <a14:useLocalDpi xmlns:a14="http://schemas.microsoft.com/office/drawing/2010/main" val="0"/>
              </a:ext>
            </a:extLst>
          </a:blip>
          <a:srcRect l="247" t="-1" b="909"/>
          <a:stretch>
            <a:fillRect/>
          </a:stretch>
        </p:blipFill>
        <p:spPr bwMode="auto">
          <a:xfrm>
            <a:off x="0" y="6165850"/>
            <a:ext cx="12192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2" descr="图片包含 轮廓  已生成高可信度的说明"/>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0"/>
            <a:ext cx="3287713" cy="1441450"/>
          </a:xfrm>
          <a:prstGeom prst="rect">
            <a:avLst/>
          </a:prstGeom>
          <a:noFill/>
          <a:ln>
            <a:noFill/>
          </a:ln>
        </p:spPr>
      </p:pic>
    </p:spTree>
  </p:cSld>
  <p:clrMapOvr>
    <a:masterClrMapping/>
  </p:clrMapOvr>
  <p:transition/>
  <p:timing/>
  <p:hf hdr="0" ftr="0" dt="0"/>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正文】一部分">
    <p:bg>
      <p:bgPr>
        <a:solidFill>
          <a:srgbClr val="FFFFF5"/>
        </a:solidFill>
        <a:effectLst/>
      </p:bgPr>
    </p:bg>
    <p:spTree>
      <p:nvGrpSpPr>
        <p:cNvPr id="1" name=""/>
        <p:cNvGrpSpPr/>
        <p:nvPr/>
      </p:nvGrpSpPr>
      <p:grpSpPr>
        <a:xfrm>
          <a:off x="0" y="0"/>
          <a:ext cx="0" cy="0"/>
        </a:xfrm>
      </p:grpSpPr>
      <p:cxnSp>
        <p:nvCxnSpPr>
          <p:cNvPr id="9" name="直接连接符 8"/>
          <p:cNvCxnSpPr/>
          <p:nvPr userDrawn="1"/>
        </p:nvCxnSpPr>
        <p:spPr>
          <a:xfrm>
            <a:off x="350874" y="6582976"/>
            <a:ext cx="754939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正文】一部分">
    <p:bg>
      <p:bgPr>
        <a:solidFill>
          <a:srgbClr val="FFFFF5"/>
        </a:solidFill>
        <a:effectLst/>
      </p:bgPr>
    </p:bg>
    <p:spTree>
      <p:nvGrpSpPr>
        <p:cNvPr id="1" name=""/>
        <p:cNvGrpSpPr/>
        <p:nvPr/>
      </p:nvGrpSpPr>
      <p:grpSpPr>
        <a:xfrm>
          <a:off x="0" y="0"/>
          <a:ext cx="0" cy="0"/>
        </a:xfrm>
      </p:grpSpPr>
      <p:cxnSp>
        <p:nvCxnSpPr>
          <p:cNvPr id="41" name="直接箭头连接符 79"/>
          <p:cNvCxnSpPr/>
          <p:nvPr userDrawn="1"/>
        </p:nvCxnSpPr>
        <p:spPr bwMode="auto">
          <a:xfrm>
            <a:off x="4945380" y="258274"/>
            <a:ext cx="6911260" cy="2374"/>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350874" y="6582976"/>
            <a:ext cx="754939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10963812" y="0"/>
            <a:ext cx="961839" cy="411359"/>
          </a:xfrm>
          <a:prstGeom prst="rect">
            <a:avLst/>
          </a:prstGeom>
        </p:spPr>
      </p:pic>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image" Target="file:///D:\qq&#25991;&#20214;\712321467\Image\C2C\Image2\%7b75232B38-A165-1FB7-499C-2E1C792CACB5%7d.png" TargetMode="External" /><Relationship Id="rId5" Type="http://schemas.openxmlformats.org/officeDocument/2006/relationships/image" Target="../media/image4.png" /><Relationship Id="rId6" Type="http://schemas.openxmlformats.org/officeDocument/2006/relationships/image" Target="../media/image5.png" /><Relationship Id="rId7"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5"/>
        </a:solidFill>
        <a:effectLst/>
      </p:bgPr>
    </p:bg>
    <p:spTree>
      <p:nvGrpSpPr>
        <p:cNvPr id="1" name=""/>
        <p:cNvGrpSpPr/>
        <p:nvPr/>
      </p:nvGrpSpPr>
      <p:grpSpPr>
        <a:xfrm>
          <a:off x="0" y="0"/>
          <a:ext cx="0" cy="0"/>
        </a:xfrm>
      </p:grpSpPr>
      <p:pic>
        <p:nvPicPr>
          <p:cNvPr id="2" name="图片 1073743875" descr="学科网 zxxk.com"/>
          <p:cNvPicPr>
            <a:picLocks noChangeAspect="1"/>
          </p:cNvPicPr>
          <p:nvPr/>
        </p:nvPicPr>
        <p:blipFill>
          <a:blip r:embed="rId5" r:link="rId4"/>
          <a:stretch>
            <a:fillRect/>
          </a:stretch>
        </p:blipFill>
        <p:spPr>
          <a:xfrm>
            <a:off x="838200" y="365125"/>
            <a:ext cx="9525" cy="9525"/>
          </a:xfrm>
          <a:prstGeom prst="rect">
            <a:avLst/>
          </a:prstGeom>
          <a:noFill/>
          <a:ln>
            <a:noFill/>
            <a:miter lim="800000"/>
          </a:ln>
        </p:spPr>
      </p:pic>
      <p:pic>
        <p:nvPicPr>
          <p:cNvPr id="3" name="图片 1073743875" descr="学科网 zxxk.com"/>
          <p:cNvPicPr>
            <a:picLocks noChangeAspect="1"/>
          </p:cNvPicPr>
          <p:nvPr/>
        </p:nvPicPr>
        <p:blipFill>
          <a:blip r:embed="rId5" r:link="rId4"/>
          <a:stretch>
            <a:fillRect/>
          </a:stretch>
        </p:blipFill>
        <p:spPr>
          <a:xfrm>
            <a:off x="838200" y="365125"/>
            <a:ext cx="9525" cy="9525"/>
          </a:xfrm>
          <a:prstGeom prst="rect">
            <a:avLst/>
          </a:prstGeom>
          <a:noFill/>
          <a:ln>
            <a:noFill/>
            <a:miter lim="800000"/>
          </a:ln>
        </p:spPr>
      </p:pic>
      <p:pic>
        <p:nvPicPr>
          <p:cNvPr id="4" name="图片 1073743875" descr="学科网 zxxk.com" title=""/>
          <p:cNvPicPr>
            <a:picLocks noChangeAspect="1"/>
          </p:cNvPicPr>
          <p:nvPr/>
        </p:nvPicPr>
        <p:blipFill>
          <a:blip r:embed="rId6" r:link="rId4"/>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xml" /><Relationship Id="rId3" Type="http://schemas.openxmlformats.org/officeDocument/2006/relationships/tags" Target="../tags/tag2.xml" /><Relationship Id="rId4" Type="http://schemas.openxmlformats.org/officeDocument/2006/relationships/tags" Target="../tags/tag3.xml" /><Relationship Id="rId5" Type="http://schemas.openxmlformats.org/officeDocument/2006/relationships/image" Target="../media/image7.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xml" /><Relationship Id="rId3" Type="http://schemas.openxmlformats.org/officeDocument/2006/relationships/tags" Target="../tags/tag5.xml" /><Relationship Id="rId4" Type="http://schemas.openxmlformats.org/officeDocument/2006/relationships/tags" Target="../tags/tag6.xml" /><Relationship Id="rId5" Type="http://schemas.openxmlformats.org/officeDocument/2006/relationships/image" Target="../media/image7.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image" Target="../media/image7.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0.xml" /><Relationship Id="rId3" Type="http://schemas.openxmlformats.org/officeDocument/2006/relationships/tags" Target="../tags/tag11.xml" /><Relationship Id="rId4" Type="http://schemas.openxmlformats.org/officeDocument/2006/relationships/image" Target="../media/image7.png" /><Relationship Id="rId5" Type="http://schemas.openxmlformats.org/officeDocument/2006/relationships/tags" Target="../tags/tag12.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3.xml" /><Relationship Id="rId3" Type="http://schemas.openxmlformats.org/officeDocument/2006/relationships/tags" Target="../tags/tag14.xml" /><Relationship Id="rId4" Type="http://schemas.openxmlformats.org/officeDocument/2006/relationships/tags" Target="../tags/tag15.xml" /><Relationship Id="rId5" Type="http://schemas.openxmlformats.org/officeDocument/2006/relationships/image" Target="../media/image7.png" /><Relationship Id="rId6" Type="http://schemas.openxmlformats.org/officeDocument/2006/relationships/image" Target="../media/image8.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6.xml" /><Relationship Id="rId3" Type="http://schemas.openxmlformats.org/officeDocument/2006/relationships/tags" Target="../tags/tag17.xml" /><Relationship Id="rId4" Type="http://schemas.openxmlformats.org/officeDocument/2006/relationships/image" Target="../media/image7.png" /><Relationship Id="rId5" Type="http://schemas.openxmlformats.org/officeDocument/2006/relationships/tags" Target="../tags/tag1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9.xml" /><Relationship Id="rId3" Type="http://schemas.openxmlformats.org/officeDocument/2006/relationships/tags" Target="../tags/tag20.xml" /><Relationship Id="rId4" Type="http://schemas.openxmlformats.org/officeDocument/2006/relationships/image" Target="../media/image7.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1.xml" /><Relationship Id="rId3" Type="http://schemas.openxmlformats.org/officeDocument/2006/relationships/tags" Target="../tags/tag22.xml" /><Relationship Id="rId4" Type="http://schemas.openxmlformats.org/officeDocument/2006/relationships/image" Target="../media/image7.png" /><Relationship Id="rId5" Type="http://schemas.openxmlformats.org/officeDocument/2006/relationships/tags" Target="../tags/tag23.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4.xml" /><Relationship Id="rId3" Type="http://schemas.openxmlformats.org/officeDocument/2006/relationships/image" Target="../media/image7.png" /><Relationship Id="rId4" Type="http://schemas.openxmlformats.org/officeDocument/2006/relationships/tags" Target="../tags/tag25.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6.xml" /><Relationship Id="rId3" Type="http://schemas.openxmlformats.org/officeDocument/2006/relationships/tags" Target="../tags/tag27.xml" /><Relationship Id="rId4" Type="http://schemas.openxmlformats.org/officeDocument/2006/relationships/image" Target="../media/image7.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8.xml" /><Relationship Id="rId3" Type="http://schemas.openxmlformats.org/officeDocument/2006/relationships/tags" Target="../tags/tag29.xml" /><Relationship Id="rId4" Type="http://schemas.openxmlformats.org/officeDocument/2006/relationships/image" Target="../media/image7.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0.xml" /><Relationship Id="rId3" Type="http://schemas.openxmlformats.org/officeDocument/2006/relationships/tags" Target="../tags/tag31.xml" /><Relationship Id="rId4" Type="http://schemas.openxmlformats.org/officeDocument/2006/relationships/image" Target="../media/image7.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2.xml" /><Relationship Id="rId3" Type="http://schemas.openxmlformats.org/officeDocument/2006/relationships/tags" Target="../tags/tag33.xml" /><Relationship Id="rId4" Type="http://schemas.openxmlformats.org/officeDocument/2006/relationships/image" Target="../media/image7.pn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4.xml" /><Relationship Id="rId3" Type="http://schemas.openxmlformats.org/officeDocument/2006/relationships/tags" Target="../tags/tag35.xml" /><Relationship Id="rId4" Type="http://schemas.openxmlformats.org/officeDocument/2006/relationships/image" Target="../media/image7.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6.xml" /><Relationship Id="rId3" Type="http://schemas.openxmlformats.org/officeDocument/2006/relationships/tags" Target="../tags/tag37.xml" /><Relationship Id="rId4" Type="http://schemas.openxmlformats.org/officeDocument/2006/relationships/image" Target="../media/image7.pn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image" Target="../media/image7.pn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0.xml" /><Relationship Id="rId3" Type="http://schemas.openxmlformats.org/officeDocument/2006/relationships/tags" Target="../tags/tag41.xml" /><Relationship Id="rId4" Type="http://schemas.openxmlformats.org/officeDocument/2006/relationships/image" Target="../media/image7.pn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2.xml" /><Relationship Id="rId3" Type="http://schemas.openxmlformats.org/officeDocument/2006/relationships/tags" Target="../tags/tag43.xml" /><Relationship Id="rId4" Type="http://schemas.openxmlformats.org/officeDocument/2006/relationships/image" Target="../media/image7.pn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image" Target="../media/image7.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6.xml" /><Relationship Id="rId3" Type="http://schemas.openxmlformats.org/officeDocument/2006/relationships/tags" Target="../tags/tag47.xml" /><Relationship Id="rId4" Type="http://schemas.openxmlformats.org/officeDocument/2006/relationships/image" Target="../media/image7.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9.jpeg" /><Relationship Id="rId3" Type="http://schemas.openxmlformats.org/officeDocument/2006/relationships/image" Target="../media/image6.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圆角矩形 3" title=""/>
          <p:cNvSpPr/>
          <p:nvPr/>
        </p:nvSpPr>
        <p:spPr>
          <a:xfrm>
            <a:off x="2011998" y="2336743"/>
            <a:ext cx="8395538" cy="1786370"/>
          </a:xfrm>
          <a:prstGeom prst="roundRect">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5" name="文本框 4" title=""/>
          <p:cNvSpPr txBox="1"/>
          <p:nvPr/>
        </p:nvSpPr>
        <p:spPr>
          <a:xfrm>
            <a:off x="1944256" y="2465474"/>
            <a:ext cx="8463280" cy="1384995"/>
          </a:xfrm>
          <a:prstGeom prst="rect">
            <a:avLst/>
          </a:prstGeom>
          <a:noFill/>
        </p:spPr>
        <p:txBody>
          <a:bodyPr wrap="square" rtlCol="0">
            <a:spAutoFit/>
          </a:bodyPr>
          <a:lstStyle/>
          <a:p>
            <a:pPr lvl="0" algn="ctr">
              <a:spcBef>
                <a:spcPct val="0"/>
              </a:spcBef>
              <a:defRPr/>
            </a:pPr>
            <a:r>
              <a:rPr lang="en-US" altLang="zh-CN"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真题解析</a:t>
            </a:r>
            <a:r>
              <a:rPr lang="en-US" altLang="zh-CN"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专题</a:t>
            </a:r>
            <a:r>
              <a:rPr lang="en-US" altLang="zh-CN"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02 </a:t>
            </a:r>
          </a:p>
          <a:p>
            <a:pPr lvl="0" algn="ctr">
              <a:spcBef>
                <a:spcPct val="0"/>
              </a:spcBef>
              <a:defRPr/>
            </a:pPr>
            <a:r>
              <a:rPr lang="en-US" altLang="zh-CN" sz="40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2026</a:t>
            </a:r>
            <a:r>
              <a:rPr lang="zh-CN" altLang="en-US" sz="40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年全国一卷</a:t>
            </a:r>
            <a:r>
              <a:rPr lang="zh-CN" sz="40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英语</a:t>
            </a:r>
            <a:r>
              <a:rPr lang="zh-CN" altLang="en-US" sz="40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听力完全解读</a:t>
            </a:r>
            <a:endParaRPr lang="zh-CN" altLang="en-US" sz="40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Rectangle 1" title=""/>
          <p:cNvSpPr>
            <a:spLocks noChangeArrowheads="1"/>
          </p:cNvSpPr>
          <p:nvPr/>
        </p:nvSpPr>
        <p:spPr bwMode="auto">
          <a:xfrm>
            <a:off x="203120" y="95779"/>
            <a:ext cx="11632758" cy="6124754"/>
          </a:xfrm>
          <a:prstGeom prst="rect">
            <a:avLst/>
          </a:prstGeom>
          <a:noFill/>
          <a:ln w="28575">
            <a:solidFill>
              <a:schemeClr val="accent1"/>
            </a:solidFill>
            <a:miter lim="800000"/>
          </a:ln>
          <a:effectLst/>
        </p:spPr>
        <p:txBody>
          <a:bodyPr vert="horz" wrap="square" lIns="91440" tIns="45720" rIns="91440" bIns="45720" numCol="1" anchor="ctr" anchorCtr="0" compatLnSpc="1">
            <a:spAutoFit/>
          </a:bodyPr>
          <a:lstStyle/>
          <a:p>
            <a:r>
              <a:rPr lang="zh-CN" altLang="en-US" sz="2800" b="1" smtClean="0">
                <a:latin typeface="微软雅黑" panose="020b0503020204020204" pitchFamily="34" charset="-122"/>
                <a:ea typeface="微软雅黑" panose="020b0503020204020204" pitchFamily="34" charset="-122"/>
              </a:rPr>
              <a:t>第二节结构：</a:t>
            </a:r>
            <a:r>
              <a:rPr lang="en-US" altLang="zh-CN" sz="2800" b="1" smtClean="0">
                <a:solidFill>
                  <a:srgbClr val="FF0000"/>
                </a:solidFill>
                <a:latin typeface="Times New Roman" panose="02020603050405020304" pitchFamily="18" charset="0"/>
                <a:cs typeface="Times New Roman" panose="02020603050405020304" pitchFamily="18" charset="0"/>
              </a:rPr>
              <a:t>2-3-3-3-4</a:t>
            </a:r>
            <a:endParaRPr lang="zh-CN" altLang="en-US" sz="2800" b="1" smtClean="0">
              <a:solidFill>
                <a:srgbClr val="FF0000"/>
              </a:solidFill>
              <a:latin typeface="Times New Roman" panose="02020603050405020304" pitchFamily="18" charset="0"/>
              <a:cs typeface="Times New Roman" panose="02020603050405020304" pitchFamily="18" charset="0"/>
            </a:endParaRPr>
          </a:p>
          <a:p>
            <a:r>
              <a:rPr lang="zh-CN" altLang="en-US" sz="2800" b="1" smtClean="0">
                <a:latin typeface="微软雅黑" panose="020b0503020204020204" pitchFamily="34" charset="-122"/>
                <a:ea typeface="微软雅黑" panose="020b0503020204020204" pitchFamily="34" charset="-122"/>
              </a:rPr>
              <a:t>口 音：美音</a:t>
            </a:r>
            <a:r>
              <a:rPr lang="en-US" sz="2800" b="1" smtClean="0">
                <a:latin typeface="微软雅黑" panose="020b0503020204020204" pitchFamily="34" charset="-122"/>
                <a:ea typeface="微软雅黑" panose="020b0503020204020204" pitchFamily="34" charset="-122"/>
              </a:rPr>
              <a:t> </a:t>
            </a:r>
            <a:endParaRPr lang="zh-CN" altLang="en-US" sz="2800" b="1" smtClean="0">
              <a:latin typeface="微软雅黑" panose="020b0503020204020204" pitchFamily="34" charset="-122"/>
              <a:ea typeface="微软雅黑" panose="020b0503020204020204" pitchFamily="34" charset="-122"/>
            </a:endParaRPr>
          </a:p>
          <a:p>
            <a:r>
              <a:rPr lang="zh-CN" altLang="en-US" sz="2800" b="1" smtClean="0">
                <a:latin typeface="微软雅黑" panose="020b0503020204020204" pitchFamily="34" charset="-122"/>
                <a:ea typeface="微软雅黑" panose="020b0503020204020204" pitchFamily="34" charset="-122"/>
              </a:rPr>
              <a:t>词 数：</a:t>
            </a:r>
            <a:r>
              <a:rPr lang="en-US" sz="2800" b="1" smtClean="0">
                <a:latin typeface="微软雅黑" panose="020b0503020204020204" pitchFamily="34" charset="-122"/>
                <a:ea typeface="微软雅黑" panose="020b0503020204020204" pitchFamily="34" charset="-122"/>
              </a:rPr>
              <a:t>748 </a:t>
            </a:r>
            <a:endParaRPr lang="zh-CN" altLang="en-US" sz="2800" b="1" smtClean="0">
              <a:latin typeface="微软雅黑" panose="020b0503020204020204" pitchFamily="34" charset="-122"/>
              <a:ea typeface="微软雅黑" panose="020b0503020204020204" pitchFamily="34" charset="-122"/>
            </a:endParaRPr>
          </a:p>
          <a:p>
            <a:r>
              <a:rPr lang="zh-CN" altLang="en-US" sz="2800" b="1" smtClean="0">
                <a:latin typeface="微软雅黑" panose="020b0503020204020204" pitchFamily="34" charset="-122"/>
                <a:ea typeface="微软雅黑" panose="020b0503020204020204" pitchFamily="34" charset="-122"/>
              </a:rPr>
              <a:t>时 间：</a:t>
            </a:r>
            <a:r>
              <a:rPr lang="en-US" sz="2800" b="1" smtClean="0">
                <a:latin typeface="微软雅黑" panose="020b0503020204020204" pitchFamily="34" charset="-122"/>
                <a:ea typeface="微软雅黑" panose="020b0503020204020204" pitchFamily="34" charset="-122"/>
              </a:rPr>
              <a:t>5</a:t>
            </a:r>
            <a:r>
              <a:rPr lang="zh-CN" altLang="en-US" sz="2800" b="1" smtClean="0">
                <a:latin typeface="微软雅黑" panose="020b0503020204020204" pitchFamily="34" charset="-122"/>
                <a:ea typeface="微软雅黑" panose="020b0503020204020204" pitchFamily="34" charset="-122"/>
              </a:rPr>
              <a:t>分</a:t>
            </a:r>
            <a:r>
              <a:rPr lang="en-US" sz="2800" b="1" smtClean="0">
                <a:latin typeface="微软雅黑" panose="020b0503020204020204" pitchFamily="34" charset="-122"/>
                <a:ea typeface="微软雅黑" panose="020b0503020204020204" pitchFamily="34" charset="-122"/>
              </a:rPr>
              <a:t>23</a:t>
            </a:r>
            <a:r>
              <a:rPr lang="zh-CN" altLang="en-US" sz="2800" b="1" smtClean="0">
                <a:latin typeface="微软雅黑" panose="020b0503020204020204" pitchFamily="34" charset="-122"/>
                <a:ea typeface="微软雅黑" panose="020b0503020204020204" pitchFamily="34" charset="-122"/>
              </a:rPr>
              <a:t>秒</a:t>
            </a:r>
            <a:r>
              <a:rPr lang="en-US" sz="2800" b="1" smtClean="0">
                <a:latin typeface="微软雅黑" panose="020b0503020204020204" pitchFamily="34" charset="-122"/>
                <a:ea typeface="微软雅黑" panose="020b0503020204020204" pitchFamily="34" charset="-122"/>
              </a:rPr>
              <a:t> </a:t>
            </a:r>
            <a:r>
              <a:rPr lang="en-US" altLang="zh-CN" sz="2800" b="1">
                <a:latin typeface="微软雅黑" panose="020b0503020204020204" pitchFamily="34" charset="-122"/>
                <a:ea typeface="微软雅黑" panose="020b0503020204020204" pitchFamily="34" charset="-122"/>
              </a:rPr>
              <a:t>(</a:t>
            </a:r>
            <a:r>
              <a:rPr lang="zh-CN" altLang="en-US" sz="2800" b="1">
                <a:latin typeface="微软雅黑" panose="020b0503020204020204" pitchFamily="34" charset="-122"/>
                <a:ea typeface="微软雅黑" panose="020b0503020204020204" pitchFamily="34" charset="-122"/>
              </a:rPr>
              <a:t>单遍录音</a:t>
            </a:r>
            <a:r>
              <a:rPr lang="en-US" altLang="zh-CN" sz="2800" b="1">
                <a:latin typeface="微软雅黑" panose="020b0503020204020204" pitchFamily="34" charset="-122"/>
                <a:ea typeface="微软雅黑" panose="020b0503020204020204" pitchFamily="34" charset="-122"/>
              </a:rPr>
              <a:t>)</a:t>
            </a:r>
            <a:endParaRPr lang="zh-CN" altLang="en-US" sz="2800" b="1" smtClean="0">
              <a:latin typeface="微软雅黑" panose="020b0503020204020204" pitchFamily="34" charset="-122"/>
              <a:ea typeface="微软雅黑" panose="020b0503020204020204" pitchFamily="34" charset="-122"/>
            </a:endParaRPr>
          </a:p>
          <a:p>
            <a:r>
              <a:rPr lang="zh-CN" altLang="en-US" sz="2800" b="1" smtClean="0">
                <a:latin typeface="微软雅黑" panose="020b0503020204020204" pitchFamily="34" charset="-122"/>
                <a:ea typeface="微软雅黑" panose="020b0503020204020204" pitchFamily="34" charset="-122"/>
              </a:rPr>
              <a:t>语 速：</a:t>
            </a:r>
            <a:r>
              <a:rPr lang="en-US" sz="2800" b="1" smtClean="0">
                <a:latin typeface="微软雅黑" panose="020b0503020204020204" pitchFamily="34" charset="-122"/>
                <a:ea typeface="微软雅黑" panose="020b0503020204020204" pitchFamily="34" charset="-122"/>
              </a:rPr>
              <a:t>129</a:t>
            </a:r>
            <a:r>
              <a:rPr lang="zh-CN" altLang="en-US" sz="2800" b="1" smtClean="0">
                <a:latin typeface="微软雅黑" panose="020b0503020204020204" pitchFamily="34" charset="-122"/>
                <a:ea typeface="微软雅黑" panose="020b0503020204020204" pitchFamily="34" charset="-122"/>
              </a:rPr>
              <a:t>词 </a:t>
            </a:r>
            <a:r>
              <a:rPr lang="en-US" sz="2800" b="1" smtClean="0">
                <a:latin typeface="微软雅黑" panose="020b0503020204020204" pitchFamily="34" charset="-122"/>
                <a:ea typeface="微软雅黑" panose="020b0503020204020204" pitchFamily="34" charset="-122"/>
              </a:rPr>
              <a:t>/ </a:t>
            </a:r>
            <a:r>
              <a:rPr lang="zh-CN" altLang="en-US" sz="2800" b="1" smtClean="0">
                <a:latin typeface="微软雅黑" panose="020b0503020204020204" pitchFamily="34" charset="-122"/>
                <a:ea typeface="微软雅黑" panose="020b0503020204020204" pitchFamily="34" charset="-122"/>
              </a:rPr>
              <a:t>分</a:t>
            </a:r>
            <a:r>
              <a:rPr lang="en-US" sz="2800" b="1" smtClean="0">
                <a:latin typeface="微软雅黑" panose="020b0503020204020204" pitchFamily="34" charset="-122"/>
                <a:ea typeface="微软雅黑" panose="020b0503020204020204" pitchFamily="34" charset="-122"/>
              </a:rPr>
              <a:t> </a:t>
            </a:r>
            <a:r>
              <a:rPr lang="zh-CN" altLang="en-US" sz="2800" b="1" smtClean="0">
                <a:latin typeface="微软雅黑" panose="020b0503020204020204" pitchFamily="34" charset="-122"/>
                <a:ea typeface="微软雅黑" panose="020b0503020204020204" pitchFamily="34" charset="-122"/>
              </a:rPr>
              <a:t>（</a:t>
            </a:r>
            <a:r>
              <a:rPr lang="en-US" altLang="zh-CN" sz="2800" b="1" smtClean="0">
                <a:latin typeface="微软雅黑" panose="020b0503020204020204" pitchFamily="34" charset="-122"/>
                <a:ea typeface="微软雅黑" panose="020b0503020204020204" pitchFamily="34" charset="-122"/>
              </a:rPr>
              <a:t>2025</a:t>
            </a:r>
            <a:r>
              <a:rPr lang="zh-CN" altLang="en-US" sz="2800" b="1" smtClean="0">
                <a:latin typeface="微软雅黑" panose="020b0503020204020204" pitchFamily="34" charset="-122"/>
                <a:ea typeface="微软雅黑" panose="020b0503020204020204" pitchFamily="34" charset="-122"/>
              </a:rPr>
              <a:t>年</a:t>
            </a:r>
            <a:r>
              <a:rPr lang="en-US" altLang="zh-CN" sz="2800" b="1" smtClean="0">
                <a:latin typeface="微软雅黑" panose="020b0503020204020204" pitchFamily="34" charset="-122"/>
                <a:ea typeface="微软雅黑" panose="020b0503020204020204" pitchFamily="34" charset="-122"/>
              </a:rPr>
              <a:t>137/</a:t>
            </a:r>
            <a:r>
              <a:rPr lang="zh-CN" altLang="en-US" sz="2800" b="1" smtClean="0">
                <a:latin typeface="微软雅黑" panose="020b0503020204020204" pitchFamily="34" charset="-122"/>
                <a:ea typeface="微软雅黑" panose="020b0503020204020204" pitchFamily="34" charset="-122"/>
              </a:rPr>
              <a:t>分）</a:t>
            </a:r>
            <a:endParaRPr lang="zh-CN" altLang="en-US" sz="2800" b="1" smtClean="0">
              <a:latin typeface="微软雅黑" panose="020b0503020204020204" pitchFamily="34" charset="-122"/>
              <a:ea typeface="微软雅黑" panose="020b0503020204020204" pitchFamily="34" charset="-122"/>
            </a:endParaRPr>
          </a:p>
          <a:p>
            <a:r>
              <a:rPr lang="zh-CN" altLang="en-US" sz="2800" b="1" smtClean="0">
                <a:latin typeface="微软雅黑" panose="020b0503020204020204" pitchFamily="34" charset="-122"/>
                <a:ea typeface="微软雅黑" panose="020b0503020204020204" pitchFamily="34" charset="-122"/>
              </a:rPr>
              <a:t>话题：</a:t>
            </a:r>
            <a:r>
              <a:rPr lang="en-US" altLang="zh-CN" sz="2800" b="1" smtClean="0">
                <a:latin typeface="微软雅黑" panose="020b0503020204020204" pitchFamily="34" charset="-122"/>
                <a:ea typeface="微软雅黑" panose="020b0503020204020204" pitchFamily="34" charset="-122"/>
              </a:rPr>
              <a:t>2026</a:t>
            </a:r>
            <a:r>
              <a:rPr lang="zh-CN" altLang="en-US" sz="2800" b="1" smtClean="0">
                <a:latin typeface="微软雅黑" panose="020b0503020204020204" pitchFamily="34" charset="-122"/>
                <a:ea typeface="微软雅黑" panose="020b0503020204020204" pitchFamily="34" charset="-122"/>
              </a:rPr>
              <a:t>年高考英语听力试题话题覆盖了</a:t>
            </a:r>
            <a:r>
              <a:rPr lang="zh-CN" altLang="en-US" sz="2800" b="1" smtClean="0">
                <a:solidFill>
                  <a:srgbClr val="FF0000"/>
                </a:solidFill>
                <a:latin typeface="微软雅黑" panose="020b0503020204020204" pitchFamily="34" charset="-122"/>
                <a:ea typeface="微软雅黑" panose="020b0503020204020204" pitchFamily="34" charset="-122"/>
              </a:rPr>
              <a:t>职场、生活、</a:t>
            </a:r>
            <a:r>
              <a:rPr lang="en-US" altLang="zh-CN" sz="2800" b="1" smtClean="0">
                <a:solidFill>
                  <a:srgbClr val="FF0000"/>
                </a:solidFill>
                <a:latin typeface="微软雅黑" panose="020b0503020204020204" pitchFamily="34" charset="-122"/>
                <a:ea typeface="微软雅黑" panose="020b0503020204020204" pitchFamily="34" charset="-122"/>
              </a:rPr>
              <a:t>AI</a:t>
            </a:r>
            <a:r>
              <a:rPr lang="zh-CN" altLang="en-US" sz="2800" b="1" smtClean="0">
                <a:solidFill>
                  <a:srgbClr val="FF0000"/>
                </a:solidFill>
                <a:latin typeface="微软雅黑" panose="020b0503020204020204" pitchFamily="34" charset="-122"/>
                <a:ea typeface="微软雅黑" panose="020b0503020204020204" pitchFamily="34" charset="-122"/>
              </a:rPr>
              <a:t>技术、古巴比伦食谱、校园生活</a:t>
            </a:r>
            <a:r>
              <a:rPr lang="zh-CN" altLang="en-US" sz="2800" b="1" smtClean="0">
                <a:latin typeface="微软雅黑" panose="020b0503020204020204" pitchFamily="34" charset="-122"/>
                <a:ea typeface="微软雅黑" panose="020b0503020204020204" pitchFamily="34" charset="-122"/>
              </a:rPr>
              <a:t>等，紧跟时代热点话题，且兼顾传统科普与安全常识。听力原文语言非常地道，包含了英美国家日常口语中的地道习语、职场及学术高频词汇等。文本选材跨度极大，极具</a:t>
            </a:r>
            <a:r>
              <a:rPr lang="zh-CN" altLang="en-US" sz="2800" b="1" smtClean="0">
                <a:solidFill>
                  <a:srgbClr val="FF0000"/>
                </a:solidFill>
                <a:latin typeface="微软雅黑" panose="020b0503020204020204" pitchFamily="34" charset="-122"/>
                <a:ea typeface="微软雅黑" panose="020b0503020204020204" pitchFamily="34" charset="-122"/>
              </a:rPr>
              <a:t>时代感、科学性与人文性</a:t>
            </a:r>
            <a:r>
              <a:rPr lang="zh-CN" altLang="en-US" sz="2800" b="1" smtClean="0">
                <a:latin typeface="微软雅黑" panose="020b0503020204020204" pitchFamily="34" charset="-122"/>
                <a:ea typeface="微软雅黑" panose="020b0503020204020204" pitchFamily="34" charset="-122"/>
              </a:rPr>
              <a:t>，紧跟科技与社会热点，引入了</a:t>
            </a:r>
            <a:r>
              <a:rPr lang="zh-CN" altLang="en-US" sz="2800" b="1" smtClean="0">
                <a:solidFill>
                  <a:srgbClr val="FF0000"/>
                </a:solidFill>
                <a:latin typeface="微软雅黑" panose="020b0503020204020204" pitchFamily="34" charset="-122"/>
                <a:ea typeface="微软雅黑" panose="020b0503020204020204" pitchFamily="34" charset="-122"/>
              </a:rPr>
              <a:t>“</a:t>
            </a:r>
            <a:r>
              <a:rPr lang="en-US" altLang="zh-CN" sz="2800" b="1" smtClean="0">
                <a:solidFill>
                  <a:srgbClr val="FF0000"/>
                </a:solidFill>
                <a:latin typeface="微软雅黑" panose="020b0503020204020204" pitchFamily="34" charset="-122"/>
                <a:ea typeface="微软雅黑" panose="020b0503020204020204" pitchFamily="34" charset="-122"/>
              </a:rPr>
              <a:t>AI</a:t>
            </a:r>
            <a:r>
              <a:rPr lang="zh-CN" altLang="en-US" sz="2800" b="1" smtClean="0">
                <a:solidFill>
                  <a:srgbClr val="FF0000"/>
                </a:solidFill>
                <a:latin typeface="微软雅黑" panose="020b0503020204020204" pitchFamily="34" charset="-122"/>
                <a:ea typeface="微软雅黑" panose="020b0503020204020204" pitchFamily="34" charset="-122"/>
              </a:rPr>
              <a:t>克隆声音歌手及其版权</a:t>
            </a:r>
            <a:r>
              <a:rPr lang="en-US" altLang="zh-CN" sz="2800" b="1" smtClean="0">
                <a:solidFill>
                  <a:srgbClr val="FF0000"/>
                </a:solidFill>
                <a:latin typeface="微软雅黑" panose="020b0503020204020204" pitchFamily="34" charset="-122"/>
                <a:ea typeface="微软雅黑" panose="020b0503020204020204" pitchFamily="34" charset="-122"/>
              </a:rPr>
              <a:t>/</a:t>
            </a:r>
            <a:r>
              <a:rPr lang="zh-CN" altLang="en-US" sz="2800" b="1">
                <a:solidFill>
                  <a:srgbClr val="FF0000"/>
                </a:solidFill>
                <a:latin typeface="微软雅黑" panose="020b0503020204020204" pitchFamily="34" charset="-122"/>
                <a:ea typeface="微软雅黑" panose="020b0503020204020204" pitchFamily="34" charset="-122"/>
              </a:rPr>
              <a:t>商业模式”</a:t>
            </a:r>
            <a:r>
              <a:rPr lang="zh-CN" altLang="en-US" sz="2800" b="1">
                <a:latin typeface="微软雅黑" panose="020b0503020204020204" pitchFamily="34" charset="-122"/>
                <a:ea typeface="微软雅黑" panose="020b0503020204020204" pitchFamily="34" charset="-122"/>
              </a:rPr>
              <a:t>的讨论。这类话题直接折射了当下的社会科技焦点，考查学生在复杂、新潮语境下的信息提取能力</a:t>
            </a:r>
            <a:r>
              <a:rPr lang="zh-CN" altLang="en-US" sz="2800" b="1" smtClean="0">
                <a:latin typeface="微软雅黑" panose="020b0503020204020204" pitchFamily="34" charset="-122"/>
                <a:ea typeface="微软雅黑" panose="020b0503020204020204" pitchFamily="34" charset="-122"/>
              </a:rPr>
              <a:t>。</a:t>
            </a:r>
            <a:endParaRPr lang="en-US" altLang="zh-CN" sz="2800" b="1" smtClean="0">
              <a:latin typeface="微软雅黑" panose="020b0503020204020204" pitchFamily="34" charset="-122"/>
              <a:ea typeface="微软雅黑" panose="020b0503020204020204" pitchFamily="34" charset="-122"/>
            </a:endParaRPr>
          </a:p>
          <a:p>
            <a:r>
              <a:rPr lang="zh-CN" altLang="en-US" sz="2800" b="1" smtClean="0">
                <a:latin typeface="微软雅黑" panose="020b0503020204020204" pitchFamily="34" charset="-122"/>
                <a:ea typeface="微软雅黑" panose="020b0503020204020204" pitchFamily="34" charset="-122"/>
              </a:rPr>
              <a:t>设</a:t>
            </a:r>
            <a:r>
              <a:rPr lang="zh-CN" altLang="en-US" sz="2800" b="1">
                <a:latin typeface="微软雅黑" panose="020b0503020204020204" pitchFamily="34" charset="-122"/>
                <a:ea typeface="微软雅黑" panose="020b0503020204020204" pitchFamily="34" charset="-122"/>
              </a:rPr>
              <a:t>题</a:t>
            </a:r>
            <a:r>
              <a:rPr lang="en-US" altLang="zh-CN" sz="2800" b="1">
                <a:latin typeface="微软雅黑" panose="020b0503020204020204" pitchFamily="34" charset="-122"/>
                <a:ea typeface="微软雅黑" panose="020b0503020204020204" pitchFamily="34" charset="-122"/>
              </a:rPr>
              <a:t>:</a:t>
            </a:r>
            <a:r>
              <a:rPr lang="en-US" altLang="zh-CN" sz="2800" b="1" smtClean="0">
                <a:latin typeface="微软雅黑" panose="020b0503020204020204" pitchFamily="34" charset="-122"/>
                <a:ea typeface="微软雅黑" panose="020b0503020204020204" pitchFamily="34" charset="-122"/>
              </a:rPr>
              <a:t>13</a:t>
            </a:r>
            <a:r>
              <a:rPr lang="zh-CN" altLang="en-US" sz="2800" b="1" smtClean="0">
                <a:latin typeface="微软雅黑" panose="020b0503020204020204" pitchFamily="34" charset="-122"/>
                <a:ea typeface="微软雅黑" panose="020b0503020204020204" pitchFamily="34" charset="-122"/>
              </a:rPr>
              <a:t>个</a:t>
            </a:r>
            <a:r>
              <a:rPr lang="zh-CN" altLang="en-US" sz="2800" b="1">
                <a:latin typeface="微软雅黑" panose="020b0503020204020204" pitchFamily="34" charset="-122"/>
                <a:ea typeface="微软雅黑" panose="020b0503020204020204" pitchFamily="34" charset="-122"/>
              </a:rPr>
              <a:t>事实细节题</a:t>
            </a:r>
            <a:r>
              <a:rPr lang="zh-CN" altLang="en-US" sz="2800" b="1" smtClean="0">
                <a:latin typeface="微软雅黑" panose="020b0503020204020204" pitchFamily="34" charset="-122"/>
                <a:ea typeface="微软雅黑" panose="020b0503020204020204" pitchFamily="34" charset="-122"/>
              </a:rPr>
              <a:t>，</a:t>
            </a:r>
            <a:r>
              <a:rPr lang="en-US" altLang="zh-CN" sz="2800" b="1" smtClean="0">
                <a:latin typeface="微软雅黑" panose="020b0503020204020204" pitchFamily="34" charset="-122"/>
                <a:ea typeface="微软雅黑" panose="020b0503020204020204" pitchFamily="34" charset="-122"/>
              </a:rPr>
              <a:t>5</a:t>
            </a:r>
            <a:r>
              <a:rPr lang="zh-CN" altLang="en-US" sz="2800" b="1" smtClean="0">
                <a:latin typeface="微软雅黑" panose="020b0503020204020204" pitchFamily="34" charset="-122"/>
                <a:ea typeface="微软雅黑" panose="020b0503020204020204" pitchFamily="34" charset="-122"/>
              </a:rPr>
              <a:t>个</a:t>
            </a:r>
            <a:r>
              <a:rPr lang="zh-CN" altLang="en-US" sz="2800" b="1">
                <a:latin typeface="微软雅黑" panose="020b0503020204020204" pitchFamily="34" charset="-122"/>
                <a:ea typeface="微软雅黑" panose="020b0503020204020204" pitchFamily="34" charset="-122"/>
              </a:rPr>
              <a:t>推理判断</a:t>
            </a:r>
            <a:r>
              <a:rPr lang="zh-CN" altLang="en-US" sz="2800" b="1" smtClean="0">
                <a:latin typeface="微软雅黑" panose="020b0503020204020204" pitchFamily="34" charset="-122"/>
                <a:ea typeface="微软雅黑" panose="020b0503020204020204" pitchFamily="34" charset="-122"/>
              </a:rPr>
              <a:t>题，</a:t>
            </a:r>
            <a:r>
              <a:rPr lang="en-US" altLang="zh-CN" sz="2800" b="1" smtClean="0">
                <a:latin typeface="微软雅黑" panose="020b0503020204020204" pitchFamily="34" charset="-122"/>
                <a:ea typeface="微软雅黑" panose="020b0503020204020204" pitchFamily="34" charset="-122"/>
              </a:rPr>
              <a:t>1</a:t>
            </a:r>
            <a:r>
              <a:rPr lang="zh-CN" altLang="en-US" sz="2800" b="1">
                <a:latin typeface="微软雅黑" panose="020b0503020204020204" pitchFamily="34" charset="-122"/>
                <a:ea typeface="微软雅黑" panose="020b0503020204020204" pitchFamily="34" charset="-122"/>
              </a:rPr>
              <a:t>个观点态度题，</a:t>
            </a:r>
            <a:r>
              <a:rPr lang="en-US" altLang="zh-CN" sz="2800" b="1">
                <a:latin typeface="微软雅黑" panose="020b0503020204020204" pitchFamily="34" charset="-122"/>
                <a:ea typeface="微软雅黑" panose="020b0503020204020204" pitchFamily="34" charset="-122"/>
              </a:rPr>
              <a:t>1</a:t>
            </a:r>
            <a:r>
              <a:rPr lang="zh-CN" altLang="en-US" sz="2800" b="1">
                <a:latin typeface="微软雅黑" panose="020b0503020204020204" pitchFamily="34" charset="-122"/>
                <a:ea typeface="微软雅黑" panose="020b0503020204020204" pitchFamily="34" charset="-122"/>
              </a:rPr>
              <a:t>个主旨大意</a:t>
            </a:r>
            <a:r>
              <a:rPr lang="zh-CN" altLang="en-US" sz="2800" b="1" smtClean="0">
                <a:latin typeface="微软雅黑" panose="020b0503020204020204" pitchFamily="34" charset="-122"/>
                <a:ea typeface="微软雅黑" panose="020b0503020204020204" pitchFamily="34" charset="-122"/>
              </a:rPr>
              <a:t>题。</a:t>
            </a:r>
            <a:endParaRPr lang="zh-CN" altLang="en-US" sz="2800" b="1">
              <a:latin typeface="微软雅黑" panose="020b0503020204020204" pitchFamily="34" charset="-122"/>
              <a:ea typeface="微软雅黑" panose="020b0503020204020204" pitchFamily="34" charset="-122"/>
            </a:endParaRPr>
          </a:p>
        </p:txBody>
      </p:sp>
      <p:pic>
        <p:nvPicPr>
          <p:cNvPr id="3" name="图片 2"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文本框 4" title=""/>
          <p:cNvSpPr txBox="1"/>
          <p:nvPr/>
        </p:nvSpPr>
        <p:spPr>
          <a:xfrm>
            <a:off x="1969659" y="2316867"/>
            <a:ext cx="8463280" cy="1311128"/>
          </a:xfrm>
          <a:prstGeom prst="rect">
            <a:avLst/>
          </a:prstGeom>
          <a:noFill/>
        </p:spPr>
        <p:txBody>
          <a:bodyPr wrap="square" rtlCol="0">
            <a:spAutoFit/>
          </a:bodyPr>
          <a:lstStyle/>
          <a:p>
            <a:pPr lvl="0" algn="ctr">
              <a:lnSpc>
                <a:spcPct val="90000"/>
              </a:lnSpc>
              <a:spcBef>
                <a:spcPct val="0"/>
              </a:spcBef>
              <a:defRPr/>
            </a:pPr>
            <a:r>
              <a:rPr lang="en-US" altLang="zh-CN"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真题解析</a:t>
            </a:r>
            <a:r>
              <a:rPr lang="en-US" altLang="zh-CN" sz="4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专题</a:t>
            </a:r>
            <a:r>
              <a:rPr lang="en-US" altLang="zh-CN"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02 2025</a:t>
            </a:r>
            <a:r>
              <a:rPr lang="zh-CN" altLang="en-US"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年</a:t>
            </a:r>
            <a:r>
              <a:rPr lang="en-US" altLang="zh-CN"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1</a:t>
            </a:r>
            <a:r>
              <a:rPr lang="zh-CN" altLang="en-US" sz="44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月浙江贵州听力完全解读</a:t>
            </a:r>
            <a:endParaRPr lang="zh-CN" altLang="en-US" sz="44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graphicFrame>
        <p:nvGraphicFramePr>
          <p:cNvPr id="8" name="表格 7" title=""/>
          <p:cNvGraphicFramePr>
            <a:graphicFrameLocks noGrp="1"/>
          </p:cNvGraphicFramePr>
          <p:nvPr>
            <p:extLst>
              <p:ext uri="{D42A27DB-BD31-4B8C-83A1-F6EECF244321}">
                <p14:modId xmlns:p14="http://schemas.microsoft.com/office/powerpoint/2010/main" val="1475381881"/>
              </p:ext>
            </p:extLst>
          </p:nvPr>
        </p:nvGraphicFramePr>
        <p:xfrm>
          <a:off x="1330038" y="349134"/>
          <a:ext cx="9044244" cy="5942449"/>
        </p:xfrm>
        <a:graphic>
          <a:graphicData uri="http://schemas.openxmlformats.org/drawingml/2006/table">
            <a:tbl>
              <a:tblPr/>
              <a:tblGrid>
                <a:gridCol w="1299584">
                  <a:extLst>
                    <a:ext uri="{9D8B030D-6E8A-4147-A177-3AD203B41FA5}">
                      <a16:colId xmlns:a16="http://schemas.microsoft.com/office/drawing/2014/main" val="20000"/>
                    </a:ext>
                  </a:extLst>
                </a:gridCol>
                <a:gridCol w="3605772">
                  <a:extLst>
                    <a:ext uri="{9D8B030D-6E8A-4147-A177-3AD203B41FA5}">
                      <a16:colId xmlns:a16="http://schemas.microsoft.com/office/drawing/2014/main" val="20001"/>
                    </a:ext>
                  </a:extLst>
                </a:gridCol>
                <a:gridCol w="1034722">
                  <a:extLst>
                    <a:ext uri="{9D8B030D-6E8A-4147-A177-3AD203B41FA5}">
                      <a16:colId xmlns:a16="http://schemas.microsoft.com/office/drawing/2014/main" val="20002"/>
                    </a:ext>
                  </a:extLst>
                </a:gridCol>
                <a:gridCol w="1034722">
                  <a:extLst>
                    <a:ext uri="{9D8B030D-6E8A-4147-A177-3AD203B41FA5}">
                      <a16:colId xmlns:a16="http://schemas.microsoft.com/office/drawing/2014/main" val="20003"/>
                    </a:ext>
                  </a:extLst>
                </a:gridCol>
                <a:gridCol w="1034722">
                  <a:extLst>
                    <a:ext uri="{9D8B030D-6E8A-4147-A177-3AD203B41FA5}">
                      <a16:colId xmlns:a16="http://schemas.microsoft.com/office/drawing/2014/main" val="20004"/>
                    </a:ext>
                  </a:extLst>
                </a:gridCol>
                <a:gridCol w="1034722">
                  <a:extLst>
                    <a:ext uri="{9D8B030D-6E8A-4147-A177-3AD203B41FA5}">
                      <a16:colId xmlns:a16="http://schemas.microsoft.com/office/drawing/2014/main" val="20005"/>
                    </a:ext>
                  </a:extLst>
                </a:gridCol>
              </a:tblGrid>
              <a:tr h="456049">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段落</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话题</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轮数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词数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用时</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extLst>
                  <a:ext uri="{0D108BD9-81ED-4DB2-BD59-A6C34878D82A}">
                    <a16:rowId xmlns:a16="http://schemas.microsoft.com/office/drawing/2014/main" val="10000"/>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新员工入职引导</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35</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12''</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174</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餐</a:t>
                      </a: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厅</a:t>
                      </a: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点餐用餐</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23</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160</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讨论报</a:t>
                      </a: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纸</a:t>
                      </a: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照片</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27</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167</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深夜催促去睡觉</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22</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9''</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151</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更改见面时间</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41</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14''</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169</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哥本哈</a:t>
                      </a: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根生</a:t>
                      </a: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活方式</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70</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37''</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163</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b">
                        <a:lnSpc>
                          <a:spcPct val="150000"/>
                        </a:lnSpc>
                        <a:spcAft>
                          <a:spcPct val="0"/>
                        </a:spcAft>
                      </a:pP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酒店预订服务</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4.5</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112</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40″</a:t>
                      </a:r>
                      <a:endPar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147</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AI</a:t>
                      </a: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歌声授权模式</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129</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157</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古巴比伦食</a:t>
                      </a: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谱发现</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146</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139</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47738">
                <a:tc>
                  <a:txBody>
                    <a:bodyPr vert="horz" wrap="square"/>
                    <a:lstStyle/>
                    <a:p>
                      <a:pPr algn="ctr" fontAlgn="ctr"/>
                      <a:r>
                        <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Text 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ctr" fontAlgn="ctr">
                        <a:lnSpc>
                          <a:spcPct val="150000"/>
                        </a:lnSpc>
                        <a:spcAft>
                          <a:spcPct val="0"/>
                        </a:spcAft>
                      </a:pP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a:t>
                      </a:r>
                      <a:r>
                        <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验室安</a:t>
                      </a:r>
                      <a:r>
                        <a:rPr lang="zh-CN"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全</a:t>
                      </a:r>
                      <a:r>
                        <a:rPr lang="zh-CN" alt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规范</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en-US"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marL="0" algn="ctr" defTabSz="914400" rtl="0" eaLnBrk="1" fontAlgn="ctr" latinLnBrk="0" hangingPunct="1">
                        <a:lnSpc>
                          <a:spcPct val="150000"/>
                        </a:lnSpc>
                        <a:spcAft>
                          <a:spcPct val="0"/>
                        </a:spcAft>
                      </a:pPr>
                      <a:r>
                        <a:rPr lang="en-US" sz="2400" b="1" i="0" u="none" strike="noStrike" kern="120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143</a:t>
                      </a:r>
                      <a:endParaRPr lang="zh-CN" sz="2400" b="1" i="0" u="none" strike="noStrike" kern="12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1′11″</a:t>
                      </a:r>
                      <a:endParaRPr lang="en-US"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r>
                        <a:rPr lang="en-US" altLang="zh-CN" sz="2400" b="1" i="0" u="none" strike="noStrike"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159</a:t>
                      </a:r>
                      <a:endParaRPr lang="en-US" altLang="zh-CN" sz="2400" b="1" i="0" u="none" strike="noStrike">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74568" y="1149089"/>
            <a:ext cx="11684057" cy="1605379"/>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400"/>
              </a:lnSpc>
            </a:pPr>
            <a:r>
              <a:rPr lang="en-US"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1)</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话题：新员工入职；词数：</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35</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15″ </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140 </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fontAlgn="auto">
              <a:lnSpc>
                <a:spcPts val="2400"/>
              </a:lnSpc>
            </a:pPr>
            <a:r>
              <a:rPr lang="en-US" altLang="zh-CN" sz="2200" b="1" smtClean="0">
                <a:latin typeface="Times New Roman" panose="02020603050405020304" pitchFamily="18" charset="0"/>
                <a:cs typeface="Times New Roman" panose="02020603050405020304" pitchFamily="18" charset="0"/>
              </a:rPr>
              <a:t>M: Do I need a card to </a:t>
            </a:r>
            <a:r>
              <a:rPr lang="en-US" altLang="zh-CN" sz="2200" b="1" u="sng" smtClean="0">
                <a:latin typeface="Times New Roman" panose="02020603050405020304" pitchFamily="18" charset="0"/>
                <a:cs typeface="Times New Roman" panose="02020603050405020304" pitchFamily="18" charset="0"/>
              </a:rPr>
              <a:t>enter the building</a:t>
            </a:r>
            <a:r>
              <a:rPr lang="en-US" altLang="zh-CN" sz="2200" b="1" smtClean="0">
                <a:latin typeface="Times New Roman" panose="02020603050405020304" pitchFamily="18" charset="0"/>
                <a:cs typeface="Times New Roman" panose="02020603050405020304" pitchFamily="18" charset="0"/>
              </a:rPr>
              <a:t>?</a:t>
            </a:r>
            <a:endParaRPr lang="zh-CN" altLang="zh-CN" sz="2200" b="1" smtClean="0">
              <a:latin typeface="Times New Roman" panose="02020603050405020304" pitchFamily="18" charset="0"/>
              <a:cs typeface="Times New Roman" panose="02020603050405020304" pitchFamily="18" charset="0"/>
            </a:endParaRPr>
          </a:p>
          <a:p>
            <a:pPr algn="just">
              <a:lnSpc>
                <a:spcPts val="3000"/>
              </a:lnSpc>
            </a:pPr>
            <a:r>
              <a:rPr lang="en-US" altLang="zh-CN" sz="2200" b="1" smtClean="0">
                <a:latin typeface="Times New Roman" panose="02020603050405020304" pitchFamily="18" charset="0"/>
                <a:cs typeface="Times New Roman" panose="02020603050405020304" pitchFamily="18" charset="0"/>
              </a:rPr>
              <a:t>W</a:t>
            </a:r>
            <a:r>
              <a:rPr lang="en-US" altLang="zh-CN" sz="2200" b="1">
                <a:latin typeface="Times New Roman" panose="02020603050405020304" pitchFamily="18" charset="0"/>
                <a:cs typeface="Times New Roman" panose="02020603050405020304" pitchFamily="18" charset="0"/>
              </a:rPr>
              <a:t>: Yes. </a:t>
            </a:r>
            <a:r>
              <a:rPr lang="en-US" altLang="zh-CN" sz="2200" b="1">
                <a:solidFill>
                  <a:srgbClr val="FF0000"/>
                </a:solidFill>
                <a:latin typeface="Times New Roman" panose="02020603050405020304" pitchFamily="18" charset="0"/>
                <a:cs typeface="Times New Roman" panose="02020603050405020304" pitchFamily="18" charset="0"/>
              </a:rPr>
              <a:t>You'll get your card this afternoon. Now let me </a:t>
            </a:r>
            <a:r>
              <a:rPr lang="en-US" altLang="zh-CN" sz="2200" b="1" u="sng">
                <a:solidFill>
                  <a:srgbClr val="FF0000"/>
                </a:solidFill>
                <a:latin typeface="Times New Roman" panose="02020603050405020304" pitchFamily="18" charset="0"/>
                <a:cs typeface="Times New Roman" panose="02020603050405020304" pitchFamily="18" charset="0"/>
              </a:rPr>
              <a:t>show you aroun</a:t>
            </a:r>
            <a:r>
              <a:rPr lang="en-US" altLang="zh-CN" sz="2200" b="1">
                <a:solidFill>
                  <a:srgbClr val="FF0000"/>
                </a:solidFill>
                <a:latin typeface="Times New Roman" panose="02020603050405020304" pitchFamily="18" charset="0"/>
                <a:cs typeface="Times New Roman" panose="02020603050405020304" pitchFamily="18" charset="0"/>
              </a:rPr>
              <a:t>d and say hello to everyone. And then we'll talk about your </a:t>
            </a:r>
            <a:r>
              <a:rPr lang="en-US" altLang="zh-CN" sz="2200" b="1" u="sng">
                <a:solidFill>
                  <a:srgbClr val="FF0000"/>
                </a:solidFill>
                <a:latin typeface="Times New Roman" panose="02020603050405020304" pitchFamily="18" charset="0"/>
                <a:cs typeface="Times New Roman" panose="02020603050405020304" pitchFamily="18" charset="0"/>
              </a:rPr>
              <a:t>job duties</a:t>
            </a:r>
            <a:r>
              <a:rPr lang="en-US" altLang="zh-CN" sz="2200" b="1">
                <a:latin typeface="Times New Roman" panose="02020603050405020304" pitchFamily="18" charset="0"/>
                <a:cs typeface="Times New Roman" panose="02020603050405020304" pitchFamily="18" charset="0"/>
              </a:rPr>
              <a:t>.</a:t>
            </a:r>
            <a:endParaRPr lang="zh-CN" altLang="zh-CN" sz="2200" b="1">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74568" y="192878"/>
            <a:ext cx="11684058" cy="769441"/>
          </a:xfrm>
          <a:prstGeom prst="rect">
            <a:avLst/>
          </a:prstGeom>
          <a:solidFill>
            <a:srgbClr val="FFFFCC"/>
          </a:solidFill>
          <a:ln w="28575">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 Who is the man?</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A business client.    	B. A job applicant.		C. A new staff member.</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74568" y="2929875"/>
            <a:ext cx="11684057"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 C</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。推理判断题。男士询问是否需要门卡才能进入大楼，女士给予肯定回答，并告知男士今天下午会拿到门卡。接着她说</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:“Now let me show you around and say hello to everyone. And then we'll talk about your job duties." ,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女士带男士转转，让男士跟大家打个招呼，然后再谈男士的工作职责，这是典型的新员工入职流程。由此可推断出，男士是新员工。</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3" title=""/>
          <p:cNvSpPr txBox="1"/>
          <p:nvPr>
            <p:custDataLst>
              <p:tags r:id="rId4"/>
            </p:custDataLst>
          </p:nvPr>
        </p:nvSpPr>
        <p:spPr>
          <a:xfrm>
            <a:off x="174569" y="4560861"/>
            <a:ext cx="11684056" cy="132343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000" b="1" smtClean="0">
                <a:solidFill>
                  <a:srgbClr val="00B0F0"/>
                </a:solidFill>
                <a:latin typeface="微软雅黑" panose="020b0503020204020204" pitchFamily="34" charset="-122"/>
                <a:ea typeface="微软雅黑" panose="020b0503020204020204" pitchFamily="34" charset="-122"/>
              </a:rPr>
              <a:t>【</a:t>
            </a:r>
            <a:r>
              <a:rPr lang="zh-CN" altLang="en-US" sz="2000" b="1" smtClean="0">
                <a:solidFill>
                  <a:srgbClr val="00B0F0"/>
                </a:solidFill>
                <a:latin typeface="微软雅黑" panose="020b0503020204020204" pitchFamily="34" charset="-122"/>
                <a:ea typeface="微软雅黑" panose="020b0503020204020204" pitchFamily="34" charset="-122"/>
              </a:rPr>
              <a:t>语言知识</a:t>
            </a:r>
            <a:r>
              <a:rPr lang="en-US" altLang="zh-CN" sz="2000" b="1">
                <a:solidFill>
                  <a:srgbClr val="00B0F0"/>
                </a:solidFill>
                <a:latin typeface="微软雅黑" panose="020b0503020204020204" pitchFamily="34" charset="-122"/>
                <a:ea typeface="微软雅黑" panose="020b0503020204020204" pitchFamily="34" charset="-122"/>
              </a:rPr>
              <a:t>】enter the building </a:t>
            </a:r>
            <a:r>
              <a:rPr lang="zh-CN" altLang="en-US" sz="2000" b="1">
                <a:solidFill>
                  <a:srgbClr val="00B0F0"/>
                </a:solidFill>
                <a:latin typeface="微软雅黑" panose="020b0503020204020204" pitchFamily="34" charset="-122"/>
                <a:ea typeface="微软雅黑" panose="020b0503020204020204" pitchFamily="34" charset="-122"/>
              </a:rPr>
              <a:t>进入大</a:t>
            </a:r>
            <a:r>
              <a:rPr lang="zh-CN" altLang="en-US" sz="2000" b="1" smtClean="0">
                <a:solidFill>
                  <a:srgbClr val="00B0F0"/>
                </a:solidFill>
                <a:latin typeface="微软雅黑" panose="020b0503020204020204" pitchFamily="34" charset="-122"/>
                <a:ea typeface="微软雅黑" panose="020b0503020204020204" pitchFamily="34" charset="-122"/>
              </a:rPr>
              <a:t>楼  </a:t>
            </a:r>
            <a:endParaRPr lang="zh-CN" altLang="en-US" sz="2000" b="1">
              <a:solidFill>
                <a:srgbClr val="00B0F0"/>
              </a:solidFill>
              <a:latin typeface="微软雅黑" panose="020b0503020204020204" pitchFamily="34" charset="-122"/>
              <a:ea typeface="微软雅黑" panose="020b0503020204020204" pitchFamily="34" charset="-122"/>
            </a:endParaRPr>
          </a:p>
          <a:p>
            <a:r>
              <a:rPr lang="en-US" altLang="zh-CN" sz="2000" b="1" smtClean="0">
                <a:solidFill>
                  <a:srgbClr val="00B0F0"/>
                </a:solidFill>
                <a:latin typeface="微软雅黑" panose="020b0503020204020204" pitchFamily="34" charset="-122"/>
                <a:ea typeface="微软雅黑" panose="020b0503020204020204" pitchFamily="34" charset="-122"/>
              </a:rPr>
              <a:t>                   show </a:t>
            </a:r>
            <a:r>
              <a:rPr lang="en-US" altLang="zh-CN" sz="2000" b="1">
                <a:solidFill>
                  <a:srgbClr val="00B0F0"/>
                </a:solidFill>
                <a:latin typeface="微软雅黑" panose="020b0503020204020204" pitchFamily="34" charset="-122"/>
                <a:ea typeface="微软雅黑" panose="020b0503020204020204" pitchFamily="34" charset="-122"/>
              </a:rPr>
              <a:t>someone around</a:t>
            </a:r>
            <a:r>
              <a:rPr lang="zh-CN" altLang="en-US" sz="2000" b="1">
                <a:solidFill>
                  <a:srgbClr val="00B0F0"/>
                </a:solidFill>
                <a:latin typeface="微软雅黑" panose="020b0503020204020204" pitchFamily="34" charset="-122"/>
                <a:ea typeface="微软雅黑" panose="020b0503020204020204" pitchFamily="34" charset="-122"/>
              </a:rPr>
              <a:t>带某人参观</a:t>
            </a:r>
          </a:p>
          <a:p>
            <a:r>
              <a:rPr lang="en-US" altLang="zh-CN" sz="2000" b="1" smtClean="0">
                <a:solidFill>
                  <a:srgbClr val="00B0F0"/>
                </a:solidFill>
                <a:latin typeface="微软雅黑" panose="020b0503020204020204" pitchFamily="34" charset="-122"/>
                <a:ea typeface="微软雅黑" panose="020b0503020204020204" pitchFamily="34" charset="-122"/>
              </a:rPr>
              <a:t>                   job </a:t>
            </a:r>
            <a:r>
              <a:rPr lang="en-US" altLang="zh-CN" sz="2000" b="1">
                <a:solidFill>
                  <a:srgbClr val="00B0F0"/>
                </a:solidFill>
                <a:latin typeface="微软雅黑" panose="020b0503020204020204" pitchFamily="34" charset="-122"/>
                <a:ea typeface="微软雅黑" panose="020b0503020204020204" pitchFamily="34" charset="-122"/>
              </a:rPr>
              <a:t>duty </a:t>
            </a:r>
            <a:r>
              <a:rPr lang="zh-CN" altLang="en-US" sz="2000" b="1">
                <a:solidFill>
                  <a:srgbClr val="00B0F0"/>
                </a:solidFill>
                <a:latin typeface="微软雅黑" panose="020b0503020204020204" pitchFamily="34" charset="-122"/>
                <a:ea typeface="微软雅黑" panose="020b0503020204020204" pitchFamily="34" charset="-122"/>
              </a:rPr>
              <a:t>工作职</a:t>
            </a:r>
            <a:r>
              <a:rPr lang="zh-CN" altLang="en-US" sz="2000" b="1" smtClean="0">
                <a:solidFill>
                  <a:srgbClr val="00B0F0"/>
                </a:solidFill>
                <a:latin typeface="微软雅黑" panose="020b0503020204020204" pitchFamily="34" charset="-122"/>
                <a:ea typeface="微软雅黑" panose="020b0503020204020204" pitchFamily="34" charset="-122"/>
              </a:rPr>
              <a:t>责</a:t>
            </a:r>
            <a:endParaRPr lang="en-US" altLang="zh-CN" sz="2000" b="1" smtClean="0">
              <a:solidFill>
                <a:srgbClr val="00B0F0"/>
              </a:solidFill>
              <a:latin typeface="微软雅黑" panose="020b0503020204020204" pitchFamily="34" charset="-122"/>
              <a:ea typeface="微软雅黑" panose="020b0503020204020204" pitchFamily="34" charset="-122"/>
            </a:endParaRPr>
          </a:p>
          <a:p>
            <a:r>
              <a:rPr lang="en-US" altLang="zh-CN" sz="2000" b="1" smtClean="0">
                <a:solidFill>
                  <a:srgbClr val="00B0F0"/>
                </a:solidFill>
                <a:latin typeface="微软雅黑" panose="020b0503020204020204" pitchFamily="34" charset="-122"/>
                <a:ea typeface="微软雅黑" panose="020b0503020204020204" pitchFamily="34" charset="-122"/>
              </a:rPr>
              <a:t>                   a </a:t>
            </a:r>
            <a:r>
              <a:rPr lang="en-US" altLang="zh-CN" sz="2000" b="1">
                <a:solidFill>
                  <a:srgbClr val="00B0F0"/>
                </a:solidFill>
                <a:latin typeface="微软雅黑" panose="020b0503020204020204" pitchFamily="34" charset="-122"/>
                <a:ea typeface="微软雅黑" panose="020b0503020204020204" pitchFamily="34" charset="-122"/>
              </a:rPr>
              <a:t>new staff member  </a:t>
            </a:r>
            <a:r>
              <a:rPr lang="zh-CN" altLang="en-US" sz="2000" b="1">
                <a:solidFill>
                  <a:srgbClr val="00B0F0"/>
                </a:solidFill>
                <a:latin typeface="微软雅黑" panose="020b0503020204020204" pitchFamily="34" charset="-122"/>
                <a:ea typeface="微软雅黑" panose="020b0503020204020204" pitchFamily="34" charset="-122"/>
              </a:rPr>
              <a:t>新员工</a:t>
            </a:r>
            <a:endParaRPr lang="zh-CN" altLang="en-US" sz="2000" b="1">
              <a:solidFill>
                <a:srgbClr val="00B0F0"/>
              </a:solidFill>
              <a:latin typeface="微软雅黑" panose="020b0503020204020204" pitchFamily="34" charset="-122"/>
              <a:ea typeface="微软雅黑" panose="020b0503020204020204" pitchFamily="34" charset="-122"/>
            </a:endParaRPr>
          </a:p>
        </p:txBody>
      </p:sp>
      <p:pic>
        <p:nvPicPr>
          <p:cNvPr id="10" name="图片 9" title=""/>
          <p:cNvPicPr/>
          <p:nvPr/>
        </p:nvPicPr>
        <p:blipFill>
          <a:blip r:embed="rId5">
            <a:extLst>
              <a:ext uri="{28A0092B-C50C-407E-A947-70E740481C1C}">
                <a14:useLocalDpi xmlns:a14="http://schemas.microsoft.com/office/drawing/2010/main" val="0"/>
              </a:ext>
            </a:extLst>
          </a:blip>
          <a:stretch>
            <a:fillRect/>
          </a:stretch>
        </p:blipFill>
        <p:spPr>
          <a:xfrm>
            <a:off x="7349419" y="604181"/>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82881" y="1203284"/>
            <a:ext cx="11812384" cy="1291992"/>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2) </a:t>
            </a:r>
            <a:r>
              <a:rPr lang="zh-CN"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话</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题：餐馆推荐招牌菜；词数：</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23</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 ″</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138 </a:t>
            </a:r>
            <a:r>
              <a:rPr lang="zh-CN"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fontAlgn="auto"/>
            <a:r>
              <a:rPr lang="en-US" altLang="zh-CN" sz="2200" b="1" smtClean="0">
                <a:latin typeface="Times New Roman" panose="02020603050405020304" pitchFamily="18" charset="0"/>
                <a:cs typeface="Times New Roman" panose="02020603050405020304" pitchFamily="18" charset="0"/>
              </a:rPr>
              <a:t>W: </a:t>
            </a:r>
            <a:r>
              <a:rPr lang="en-US" altLang="zh-CN" sz="2200" b="1" smtClean="0">
                <a:solidFill>
                  <a:srgbClr val="FF0000"/>
                </a:solidFill>
                <a:latin typeface="Times New Roman" panose="02020603050405020304" pitchFamily="18" charset="0"/>
                <a:cs typeface="Times New Roman" panose="02020603050405020304" pitchFamily="18" charset="0"/>
              </a:rPr>
              <a:t>Would you like some more </a:t>
            </a:r>
            <a:r>
              <a:rPr lang="en-US" altLang="zh-CN" sz="2200" b="1" u="sng" smtClean="0">
                <a:solidFill>
                  <a:srgbClr val="FF0000"/>
                </a:solidFill>
                <a:latin typeface="Times New Roman" panose="02020603050405020304" pitchFamily="18" charset="0"/>
                <a:cs typeface="Times New Roman" panose="02020603050405020304" pitchFamily="18" charset="0"/>
              </a:rPr>
              <a:t>roast beef</a:t>
            </a:r>
            <a:r>
              <a:rPr lang="en-US" altLang="zh-CN" sz="2200" b="1" smtClean="0">
                <a:solidFill>
                  <a:srgbClr val="FF0000"/>
                </a:solidFill>
                <a:latin typeface="Times New Roman" panose="02020603050405020304" pitchFamily="18" charset="0"/>
                <a:cs typeface="Times New Roman" panose="02020603050405020304" pitchFamily="18" charset="0"/>
              </a:rPr>
              <a:t>? It's the chef's </a:t>
            </a:r>
            <a:r>
              <a:rPr lang="en-US" altLang="zh-CN" sz="2200" b="1" u="sng" smtClean="0">
                <a:solidFill>
                  <a:srgbClr val="FF0000"/>
                </a:solidFill>
                <a:latin typeface="Times New Roman" panose="02020603050405020304" pitchFamily="18" charset="0"/>
                <a:cs typeface="Times New Roman" panose="02020603050405020304" pitchFamily="18" charset="0"/>
              </a:rPr>
              <a:t>signature dish</a:t>
            </a:r>
            <a:r>
              <a:rPr lang="en-US" altLang="zh-CN" sz="2200" b="1" smtClean="0">
                <a:latin typeface="Times New Roman" panose="02020603050405020304" pitchFamily="18" charset="0"/>
                <a:cs typeface="Times New Roman" panose="02020603050405020304" pitchFamily="18" charset="0"/>
              </a:rPr>
              <a:t>.</a:t>
            </a:r>
            <a:endParaRPr lang="zh-CN" altLang="zh-CN" sz="2200" b="1" smtClean="0">
              <a:latin typeface="Times New Roman" panose="02020603050405020304" pitchFamily="18" charset="0"/>
              <a:cs typeface="Times New Roman" panose="02020603050405020304" pitchFamily="18" charset="0"/>
            </a:endParaRPr>
          </a:p>
          <a:p>
            <a:pPr algn="just"/>
            <a:r>
              <a:rPr lang="en-US" altLang="zh-CN" sz="2200" b="1" smtClean="0">
                <a:latin typeface="Times New Roman" panose="02020603050405020304" pitchFamily="18" charset="0"/>
                <a:cs typeface="Times New Roman" panose="02020603050405020304" pitchFamily="18" charset="0"/>
              </a:rPr>
              <a:t>W</a:t>
            </a:r>
            <a:r>
              <a:rPr lang="en-US" altLang="zh-CN" sz="2200" b="1">
                <a:latin typeface="Times New Roman" panose="02020603050405020304" pitchFamily="18" charset="0"/>
                <a:cs typeface="Times New Roman" panose="02020603050405020304" pitchFamily="18" charset="0"/>
              </a:rPr>
              <a:t>: No, thanks. It's really good. But I can't </a:t>
            </a:r>
            <a:r>
              <a:rPr lang="en-US" altLang="zh-CN" sz="2200" b="1" u="sng">
                <a:latin typeface="Times New Roman" panose="02020603050405020304" pitchFamily="18" charset="0"/>
                <a:cs typeface="Times New Roman" panose="02020603050405020304" pitchFamily="18" charset="0"/>
              </a:rPr>
              <a:t>manage</a:t>
            </a:r>
            <a:r>
              <a:rPr lang="en-US" altLang="zh-CN" sz="2200" b="1">
                <a:latin typeface="Times New Roman" panose="02020603050405020304" pitchFamily="18" charset="0"/>
                <a:cs typeface="Times New Roman" panose="02020603050405020304" pitchFamily="18" charset="0"/>
              </a:rPr>
              <a:t> any more.</a:t>
            </a:r>
            <a:endParaRPr lang="zh-CN" altLang="zh-CN" sz="2200" b="1">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82881" y="192878"/>
            <a:ext cx="11812384"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2. Where does the conversation probably take place?</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In an office.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In a restaurant.		C. In a grocery store.</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82881" y="2674687"/>
            <a:ext cx="11812384"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分析</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考查考生获取事实性具体信息的能力。根据原文女士所说“</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Are Tom and Anne getting married in June?</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”（汤姆和安妮会在六月结婚吗？）和男士的回答“</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No. They have rescheduled their wedding for late July.</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”（不。他们已将婚礼日期改到了七月下旬。）可知，汤姆和安妮将在七月结婚，故选</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3" title=""/>
          <p:cNvSpPr txBox="1"/>
          <p:nvPr>
            <p:custDataLst>
              <p:tags r:id="rId4"/>
            </p:custDataLst>
          </p:nvPr>
        </p:nvSpPr>
        <p:spPr>
          <a:xfrm>
            <a:off x="182881" y="4315552"/>
            <a:ext cx="11812384" cy="120032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pPr eaLnBrk="0"/>
            <a:r>
              <a:rPr lang="en-US" altLang="zh-CN" sz="2400" b="1" smtClean="0">
                <a:solidFill>
                  <a:srgbClr val="00B0F0"/>
                </a:solidFill>
                <a:latin typeface="微软雅黑" panose="020b0503020204020204" pitchFamily="34" charset="-122"/>
                <a:ea typeface="微软雅黑" panose="020b0503020204020204" pitchFamily="34" charset="-122"/>
              </a:rPr>
              <a:t>【</a:t>
            </a:r>
            <a:r>
              <a:rPr lang="zh-CN" altLang="en-US" sz="2400" b="1" smtClean="0">
                <a:solidFill>
                  <a:srgbClr val="00B0F0"/>
                </a:solidFill>
                <a:latin typeface="微软雅黑" panose="020b0503020204020204" pitchFamily="34" charset="-122"/>
                <a:ea typeface="微软雅黑" panose="020b0503020204020204" pitchFamily="34" charset="-122"/>
              </a:rPr>
              <a:t>语言知识</a:t>
            </a:r>
            <a:r>
              <a:rPr lang="en-US" altLang="zh-CN" sz="2400" b="1">
                <a:solidFill>
                  <a:srgbClr val="00B0F0"/>
                </a:solidFill>
                <a:latin typeface="微软雅黑" panose="020b0503020204020204" pitchFamily="34" charset="-122"/>
                <a:ea typeface="微软雅黑" panose="020b0503020204020204" pitchFamily="34" charset="-122"/>
              </a:rPr>
              <a:t>】roast beef </a:t>
            </a:r>
            <a:r>
              <a:rPr lang="zh-CN" altLang="en-US" sz="2400" b="1">
                <a:solidFill>
                  <a:srgbClr val="00B0F0"/>
                </a:solidFill>
                <a:latin typeface="微软雅黑" panose="020b0503020204020204" pitchFamily="34" charset="-122"/>
                <a:ea typeface="微软雅黑" panose="020b0503020204020204" pitchFamily="34" charset="-122"/>
              </a:rPr>
              <a:t>烤牛肉</a:t>
            </a:r>
          </a:p>
          <a:p>
            <a:pPr eaLnBrk="0"/>
            <a:r>
              <a:rPr lang="en-US" altLang="zh-CN" sz="2400" b="1" smtClean="0">
                <a:solidFill>
                  <a:srgbClr val="00B0F0"/>
                </a:solidFill>
                <a:latin typeface="微软雅黑" panose="020b0503020204020204" pitchFamily="34" charset="-122"/>
                <a:ea typeface="微软雅黑" panose="020b0503020204020204" pitchFamily="34" charset="-122"/>
              </a:rPr>
              <a:t>                   signature </a:t>
            </a:r>
            <a:r>
              <a:rPr lang="en-US" altLang="zh-CN" sz="2400" b="1">
                <a:solidFill>
                  <a:srgbClr val="00B0F0"/>
                </a:solidFill>
                <a:latin typeface="微软雅黑" panose="020b0503020204020204" pitchFamily="34" charset="-122"/>
                <a:ea typeface="微软雅黑" panose="020b0503020204020204" pitchFamily="34" charset="-122"/>
              </a:rPr>
              <a:t>dish</a:t>
            </a:r>
            <a:r>
              <a:rPr lang="zh-CN" altLang="en-US" sz="2400" b="1">
                <a:solidFill>
                  <a:srgbClr val="00B0F0"/>
                </a:solidFill>
                <a:latin typeface="微软雅黑" panose="020b0503020204020204" pitchFamily="34" charset="-122"/>
                <a:ea typeface="微软雅黑" panose="020b0503020204020204" pitchFamily="34" charset="-122"/>
              </a:rPr>
              <a:t>主厨招牌菜</a:t>
            </a:r>
          </a:p>
          <a:p>
            <a:pPr eaLnBrk="0"/>
            <a:r>
              <a:rPr lang="en-US" altLang="zh-CN" sz="2400" b="1" smtClean="0">
                <a:solidFill>
                  <a:srgbClr val="00B0F0"/>
                </a:solidFill>
                <a:latin typeface="微软雅黑" panose="020b0503020204020204" pitchFamily="34" charset="-122"/>
                <a:ea typeface="微软雅黑" panose="020b0503020204020204" pitchFamily="34" charset="-122"/>
              </a:rPr>
              <a:t>                   manage </a:t>
            </a:r>
            <a:r>
              <a:rPr lang="zh-CN" altLang="en-US" sz="2400" b="1">
                <a:solidFill>
                  <a:srgbClr val="00B0F0"/>
                </a:solidFill>
                <a:latin typeface="微软雅黑" panose="020b0503020204020204" pitchFamily="34" charset="-122"/>
                <a:ea typeface="微软雅黑" panose="020b0503020204020204" pitchFamily="34" charset="-122"/>
              </a:rPr>
              <a:t>勉力完成</a:t>
            </a:r>
            <a:r>
              <a:rPr lang="en-US" altLang="zh-CN" sz="2400" b="1">
                <a:solidFill>
                  <a:srgbClr val="00B0F0"/>
                </a:solidFill>
                <a:latin typeface="微软雅黑" panose="020b0503020204020204" pitchFamily="34" charset="-122"/>
                <a:ea typeface="微软雅黑" panose="020b0503020204020204" pitchFamily="34" charset="-122"/>
              </a:rPr>
              <a:t>(=eat)</a:t>
            </a:r>
          </a:p>
        </p:txBody>
      </p:sp>
      <p:pic>
        <p:nvPicPr>
          <p:cNvPr id="10" name="图片 9" title=""/>
          <p:cNvPicPr/>
          <p:nvPr/>
        </p:nvPicPr>
        <p:blipFill>
          <a:blip r:embed="rId5">
            <a:extLst>
              <a:ext uri="{28A0092B-C50C-407E-A947-70E740481C1C}">
                <a14:useLocalDpi xmlns:a14="http://schemas.microsoft.com/office/drawing/2010/main" val="0"/>
              </a:ext>
            </a:extLst>
          </a:blip>
          <a:stretch>
            <a:fillRect/>
          </a:stretch>
        </p:blipFill>
        <p:spPr>
          <a:xfrm>
            <a:off x="3684637" y="615514"/>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97598" y="1717065"/>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99506" y="1203284"/>
            <a:ext cx="11687694" cy="1233727"/>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3)</a:t>
            </a:r>
          </a:p>
          <a:p>
            <a:pPr algn="just"/>
            <a:r>
              <a:rPr lang="en-US" altLang="zh-CN" sz="2200" b="1">
                <a:latin typeface="Times New Roman" panose="02020603050405020304" pitchFamily="18" charset="0"/>
                <a:cs typeface="Times New Roman" panose="02020603050405020304" pitchFamily="18" charset="0"/>
              </a:rPr>
              <a:t>W: </a:t>
            </a:r>
            <a:r>
              <a:rPr lang="en-US" altLang="zh-CN" sz="2200" b="1">
                <a:solidFill>
                  <a:srgbClr val="FF0000"/>
                </a:solidFill>
                <a:latin typeface="Times New Roman" panose="02020603050405020304" pitchFamily="18" charset="0"/>
                <a:cs typeface="Times New Roman" panose="02020603050405020304" pitchFamily="18" charset="0"/>
              </a:rPr>
              <a:t>Hey, look at this one in the newspaper: fishermen fishing at </a:t>
            </a:r>
            <a:r>
              <a:rPr lang="en-US" altLang="zh-CN" sz="2200" b="1" u="sng">
                <a:solidFill>
                  <a:srgbClr val="FF0000"/>
                </a:solidFill>
                <a:latin typeface="Times New Roman" panose="02020603050405020304" pitchFamily="18" charset="0"/>
                <a:cs typeface="Times New Roman" panose="02020603050405020304" pitchFamily="18" charset="0"/>
              </a:rPr>
              <a:t>Lake Victoria </a:t>
            </a:r>
            <a:r>
              <a:rPr lang="en-US" altLang="zh-CN" sz="2200" b="1">
                <a:solidFill>
                  <a:srgbClr val="FF0000"/>
                </a:solidFill>
                <a:latin typeface="Times New Roman" panose="02020603050405020304" pitchFamily="18" charset="0"/>
                <a:cs typeface="Times New Roman" panose="02020603050405020304" pitchFamily="18" charset="0"/>
              </a:rPr>
              <a:t>in Tanzania.</a:t>
            </a:r>
            <a:endParaRPr lang="zh-CN" altLang="zh-CN" sz="2200" b="1">
              <a:solidFill>
                <a:srgbClr val="FF0000"/>
              </a:solidFill>
              <a:latin typeface="Times New Roman" panose="02020603050405020304" pitchFamily="18" charset="0"/>
              <a:cs typeface="Times New Roman" panose="02020603050405020304" pitchFamily="18" charset="0"/>
            </a:endParaRPr>
          </a:p>
          <a:p>
            <a:r>
              <a:rPr lang="en-US" altLang="zh-CN" sz="2200" b="1">
                <a:latin typeface="Times New Roman" panose="02020603050405020304" pitchFamily="18" charset="0"/>
                <a:cs typeface="Times New Roman" panose="02020603050405020304" pitchFamily="18" charset="0"/>
              </a:rPr>
              <a:t>M: Wow, </a:t>
            </a:r>
            <a:r>
              <a:rPr lang="en-US" altLang="zh-CN" sz="2200" b="1">
                <a:solidFill>
                  <a:srgbClr val="FF0000"/>
                </a:solidFill>
                <a:latin typeface="Times New Roman" panose="02020603050405020304" pitchFamily="18" charset="0"/>
                <a:cs typeface="Times New Roman" panose="02020603050405020304" pitchFamily="18" charset="0"/>
              </a:rPr>
              <a:t>the unique atmosphere is perfectly caught by the photographer</a:t>
            </a:r>
            <a:r>
              <a:rPr lang="en-US" altLang="zh-CN" sz="2200" b="1">
                <a:latin typeface="Times New Roman" panose="02020603050405020304" pitchFamily="18" charset="0"/>
                <a:cs typeface="Times New Roman" panose="02020603050405020304" pitchFamily="18" charset="0"/>
              </a:rPr>
              <a:t>.</a:t>
            </a:r>
            <a:endParaRPr lang="zh-CN" altLang="zh-CN" sz="2200" b="1">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99506" y="192878"/>
            <a:ext cx="11678170"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3. What are the speakers talking about?</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A picture.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A fisherman.		C. A country.</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99506" y="2741340"/>
            <a:ext cx="11680495"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分析</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。主旨大意题。对话中，女士说</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:“Hey, look at this one in the newspaper: fishermen fishing at Lake Victoria in Tanzania.”(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嘿，看报纸上这张</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维多利亚湖的渔民在捕鱼。</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男士回应</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:“Wow, the unique atmosphere is perfectly caught by the photographer."(......</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被摄影师捕捉到了。</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结合男士说的“被摄影师捕捉”，显然指的是报纸上的一幅照片</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或称图片</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摄影作品</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。因此，说话者谈论的是一张图片。</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3" title=""/>
          <p:cNvSpPr txBox="1"/>
          <p:nvPr>
            <p:custDataLst>
              <p:tags r:id="rId4"/>
            </p:custDataLst>
          </p:nvPr>
        </p:nvSpPr>
        <p:spPr>
          <a:xfrm>
            <a:off x="199506" y="4522997"/>
            <a:ext cx="11687694" cy="2677656"/>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anose="020b0503020204020204" pitchFamily="34" charset="-122"/>
                <a:ea typeface="微软雅黑" panose="020b0503020204020204" pitchFamily="34" charset="-122"/>
              </a:rPr>
              <a:t>【</a:t>
            </a:r>
            <a:r>
              <a:rPr lang="zh-CN" altLang="en-US" sz="2400" b="1" smtClean="0">
                <a:solidFill>
                  <a:srgbClr val="00B0F0"/>
                </a:solidFill>
                <a:latin typeface="微软雅黑" panose="020b0503020204020204" pitchFamily="34" charset="-122"/>
                <a:ea typeface="微软雅黑" panose="020b0503020204020204" pitchFamily="34" charset="-122"/>
              </a:rPr>
              <a:t>语言知识</a:t>
            </a:r>
            <a:r>
              <a:rPr lang="en-US" altLang="zh-CN" sz="2400" b="1">
                <a:solidFill>
                  <a:srgbClr val="00B0F0"/>
                </a:solidFill>
                <a:latin typeface="微软雅黑" panose="020b0503020204020204" pitchFamily="34" charset="-122"/>
                <a:ea typeface="微软雅黑" panose="020b0503020204020204" pitchFamily="34" charset="-122"/>
              </a:rPr>
              <a:t>】fisherman n [C] (pl. fishermen)  </a:t>
            </a:r>
            <a:r>
              <a:rPr lang="zh-CN" altLang="en-US" sz="2400" b="1">
                <a:solidFill>
                  <a:srgbClr val="00B0F0"/>
                </a:solidFill>
                <a:latin typeface="微软雅黑" panose="020b0503020204020204" pitchFamily="34" charset="-122"/>
                <a:ea typeface="微软雅黑" panose="020b0503020204020204" pitchFamily="34" charset="-122"/>
              </a:rPr>
              <a:t>渔民；钓鱼者</a:t>
            </a:r>
          </a:p>
          <a:p>
            <a:r>
              <a:rPr lang="en-US" altLang="zh-CN" sz="2400" b="1" smtClean="0">
                <a:solidFill>
                  <a:srgbClr val="00B0F0"/>
                </a:solidFill>
                <a:latin typeface="微软雅黑" panose="020b0503020204020204" pitchFamily="34" charset="-122"/>
                <a:ea typeface="微软雅黑" panose="020b0503020204020204" pitchFamily="34" charset="-122"/>
              </a:rPr>
              <a:t>                    awesome </a:t>
            </a:r>
            <a:r>
              <a:rPr lang="en-US" altLang="zh-CN" sz="2400" b="1">
                <a:solidFill>
                  <a:srgbClr val="00B0F0"/>
                </a:solidFill>
                <a:latin typeface="微软雅黑" panose="020b0503020204020204" pitchFamily="34" charset="-122"/>
                <a:ea typeface="微软雅黑" panose="020b0503020204020204" pitchFamily="34" charset="-122"/>
              </a:rPr>
              <a:t>adj [</a:t>
            </a:r>
            <a:r>
              <a:rPr lang="zh-CN" altLang="en-US" sz="2400" b="1">
                <a:solidFill>
                  <a:srgbClr val="00B0F0"/>
                </a:solidFill>
                <a:latin typeface="微软雅黑" panose="020b0503020204020204" pitchFamily="34" charset="-122"/>
                <a:ea typeface="微软雅黑" panose="020b0503020204020204" pitchFamily="34" charset="-122"/>
              </a:rPr>
              <a:t>非正式</a:t>
            </a:r>
            <a:r>
              <a:rPr lang="en-US" altLang="zh-CN" sz="2400" b="1">
                <a:solidFill>
                  <a:srgbClr val="00B0F0"/>
                </a:solidFill>
                <a:latin typeface="微软雅黑" panose="020b0503020204020204" pitchFamily="34" charset="-122"/>
                <a:ea typeface="微软雅黑" panose="020b0503020204020204" pitchFamily="34" charset="-122"/>
              </a:rPr>
              <a:t>] </a:t>
            </a:r>
            <a:r>
              <a:rPr lang="zh-CN" altLang="en-US" sz="2400" b="1">
                <a:solidFill>
                  <a:srgbClr val="00B0F0"/>
                </a:solidFill>
                <a:latin typeface="微软雅黑" panose="020b0503020204020204" pitchFamily="34" charset="-122"/>
                <a:ea typeface="微软雅黑" panose="020b0503020204020204" pitchFamily="34" charset="-122"/>
              </a:rPr>
              <a:t>极棒的；极好的</a:t>
            </a:r>
          </a:p>
          <a:p>
            <a:r>
              <a:rPr lang="en-US" altLang="zh-CN" sz="2400" b="1" smtClean="0">
                <a:solidFill>
                  <a:srgbClr val="00B0F0"/>
                </a:solidFill>
                <a:latin typeface="微软雅黑" panose="020b0503020204020204" pitchFamily="34" charset="-122"/>
                <a:ea typeface="微软雅黑" panose="020b0503020204020204" pitchFamily="34" charset="-122"/>
              </a:rPr>
              <a:t>                    atmosphere </a:t>
            </a:r>
            <a:r>
              <a:rPr lang="en-US" altLang="zh-CN" sz="2400" b="1">
                <a:solidFill>
                  <a:srgbClr val="00B0F0"/>
                </a:solidFill>
                <a:latin typeface="微软雅黑" panose="020b0503020204020204" pitchFamily="34" charset="-122"/>
                <a:ea typeface="微软雅黑" panose="020b0503020204020204" pitchFamily="34" charset="-122"/>
              </a:rPr>
              <a:t>n [C] &amp; [U]  </a:t>
            </a:r>
            <a:r>
              <a:rPr lang="zh-CN" altLang="en-US" sz="2400" b="1">
                <a:solidFill>
                  <a:srgbClr val="00B0F0"/>
                </a:solidFill>
                <a:latin typeface="微软雅黑" panose="020b0503020204020204" pitchFamily="34" charset="-122"/>
                <a:ea typeface="微软雅黑" panose="020b0503020204020204" pitchFamily="34" charset="-122"/>
              </a:rPr>
              <a:t>气氛；氛围</a:t>
            </a:r>
          </a:p>
          <a:p>
            <a:r>
              <a:rPr lang="en-US" altLang="zh-CN" sz="2400" b="1" smtClean="0">
                <a:solidFill>
                  <a:srgbClr val="00B0F0"/>
                </a:solidFill>
                <a:latin typeface="微软雅黑" panose="020b0503020204020204" pitchFamily="34" charset="-122"/>
                <a:ea typeface="微软雅黑" panose="020b0503020204020204" pitchFamily="34" charset="-122"/>
              </a:rPr>
              <a:t>                    catch </a:t>
            </a:r>
            <a:r>
              <a:rPr lang="en-US" altLang="zh-CN" sz="2400" b="1">
                <a:solidFill>
                  <a:srgbClr val="00B0F0"/>
                </a:solidFill>
                <a:latin typeface="微软雅黑" panose="020b0503020204020204" pitchFamily="34" charset="-122"/>
                <a:ea typeface="微软雅黑" panose="020b0503020204020204" pitchFamily="34" charset="-122"/>
              </a:rPr>
              <a:t>vt </a:t>
            </a:r>
            <a:r>
              <a:rPr lang="zh-CN" altLang="en-US" sz="2400" b="1">
                <a:solidFill>
                  <a:srgbClr val="00B0F0"/>
                </a:solidFill>
                <a:latin typeface="微软雅黑" panose="020b0503020204020204" pitchFamily="34" charset="-122"/>
                <a:ea typeface="微软雅黑" panose="020b0503020204020204" pitchFamily="34" charset="-122"/>
              </a:rPr>
              <a:t>逼真再现；准确描绘（熟词生义）</a:t>
            </a:r>
          </a:p>
          <a:p>
            <a:r>
              <a:rPr lang="en-US" altLang="zh-CN" sz="2400" b="1" smtClean="0">
                <a:solidFill>
                  <a:srgbClr val="00B0F0"/>
                </a:solidFill>
                <a:latin typeface="微软雅黑" panose="020b0503020204020204" pitchFamily="34" charset="-122"/>
                <a:ea typeface="微软雅黑" panose="020b0503020204020204" pitchFamily="34" charset="-122"/>
              </a:rPr>
              <a:t>                    photographer </a:t>
            </a:r>
            <a:r>
              <a:rPr lang="en-US" altLang="zh-CN" sz="2400" b="1">
                <a:solidFill>
                  <a:srgbClr val="00B0F0"/>
                </a:solidFill>
                <a:latin typeface="微软雅黑" panose="020b0503020204020204" pitchFamily="34" charset="-122"/>
                <a:ea typeface="微软雅黑" panose="020b0503020204020204" pitchFamily="34" charset="-122"/>
              </a:rPr>
              <a:t>n [C]  </a:t>
            </a:r>
            <a:r>
              <a:rPr lang="zh-CN" altLang="en-US" sz="2400" b="1">
                <a:solidFill>
                  <a:srgbClr val="00B0F0"/>
                </a:solidFill>
                <a:latin typeface="微软雅黑" panose="020b0503020204020204" pitchFamily="34" charset="-122"/>
                <a:ea typeface="微软雅黑" panose="020b0503020204020204" pitchFamily="34" charset="-122"/>
              </a:rPr>
              <a:t>摄影师</a:t>
            </a:r>
          </a:p>
          <a:p>
            <a:r>
              <a:rPr lang="en-US" altLang="zh-CN" sz="2400" b="1" smtClean="0">
                <a:solidFill>
                  <a:srgbClr val="00B0F0"/>
                </a:solidFill>
                <a:latin typeface="微软雅黑" panose="020b0503020204020204" pitchFamily="34" charset="-122"/>
                <a:ea typeface="微软雅黑" panose="020b0503020204020204" pitchFamily="34" charset="-122"/>
              </a:rPr>
              <a:t>                    Lake Victoria</a:t>
            </a:r>
            <a:r>
              <a:rPr lang="zh-CN" altLang="en-US" sz="2400" b="1" smtClean="0">
                <a:solidFill>
                  <a:srgbClr val="00B0F0"/>
                </a:solidFill>
                <a:latin typeface="微软雅黑" panose="020b0503020204020204" pitchFamily="34" charset="-122"/>
                <a:ea typeface="微软雅黑" panose="020b0503020204020204" pitchFamily="34" charset="-122"/>
              </a:rPr>
              <a:t>维多利亚湖</a:t>
            </a:r>
          </a:p>
          <a:p>
            <a:r>
              <a:rPr lang="en-US" altLang="zh-CN" sz="2400" b="1" smtClean="0">
                <a:solidFill>
                  <a:srgbClr val="00B0F0"/>
                </a:solidFill>
                <a:latin typeface="微软雅黑" panose="020b0503020204020204" pitchFamily="34" charset="-122"/>
                <a:ea typeface="微软雅黑" panose="020b0503020204020204" pitchFamily="34" charset="-122"/>
              </a:rPr>
              <a:t>                    unique </a:t>
            </a:r>
            <a:r>
              <a:rPr lang="en-US" altLang="zh-CN" sz="2400" b="1">
                <a:solidFill>
                  <a:srgbClr val="00B0F0"/>
                </a:solidFill>
                <a:latin typeface="微软雅黑" panose="020b0503020204020204" pitchFamily="34" charset="-122"/>
                <a:ea typeface="微软雅黑" panose="020b0503020204020204" pitchFamily="34" charset="-122"/>
              </a:rPr>
              <a:t>atmosphere </a:t>
            </a:r>
            <a:r>
              <a:rPr lang="zh-CN" altLang="en-US" sz="2400" b="1">
                <a:solidFill>
                  <a:srgbClr val="00B0F0"/>
                </a:solidFill>
                <a:latin typeface="微软雅黑" panose="020b0503020204020204" pitchFamily="34" charset="-122"/>
                <a:ea typeface="微软雅黑" panose="020b0503020204020204" pitchFamily="34" charset="-122"/>
              </a:rPr>
              <a:t>独特的氛围</a:t>
            </a:r>
          </a:p>
        </p:txBody>
      </p:sp>
      <p:pic>
        <p:nvPicPr>
          <p:cNvPr id="10" name="图片 9" title=""/>
          <p:cNvPicPr/>
          <p:nvPr/>
        </p:nvPicPr>
        <p:blipFill>
          <a:blip r:embed="rId5">
            <a:extLst>
              <a:ext uri="{28A0092B-C50C-407E-A947-70E740481C1C}">
                <a14:useLocalDpi xmlns:a14="http://schemas.microsoft.com/office/drawing/2010/main" val="0"/>
              </a:ext>
            </a:extLst>
          </a:blip>
          <a:stretch>
            <a:fillRect/>
          </a:stretch>
        </p:blipFill>
        <p:spPr>
          <a:xfrm>
            <a:off x="335727" y="602975"/>
            <a:ext cx="206826" cy="285716"/>
          </a:xfrm>
          <a:prstGeom prst="rect">
            <a:avLst/>
          </a:prstGeom>
        </p:spPr>
      </p:pic>
      <p:sp>
        <p:nvSpPr>
          <p:cNvPr id="2" name="矩形 1" title=""/>
          <p:cNvSpPr/>
          <p:nvPr/>
        </p:nvSpPr>
        <p:spPr>
          <a:xfrm>
            <a:off x="1400619" y="1240468"/>
            <a:ext cx="8020594" cy="430887"/>
          </a:xfrm>
          <a:prstGeom prst="rect">
            <a:avLst/>
          </a:prstGeom>
        </p:spPr>
        <p:txBody>
          <a:bodyPr wrap="none">
            <a:spAutoFit/>
          </a:bodyPr>
          <a:lstStyle/>
          <a:p>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话题：讨论报</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纸照片</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；词数：</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27</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116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2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2" grpId="0"/>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74568" y="1195300"/>
            <a:ext cx="11713303" cy="1291992"/>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4)</a:t>
            </a:r>
          </a:p>
          <a:p>
            <a:r>
              <a:rPr lang="en-US" altLang="zh-CN" sz="2200" b="1">
                <a:latin typeface="Times New Roman" panose="02020603050405020304" pitchFamily="18" charset="0"/>
                <a:cs typeface="Times New Roman" panose="02020603050405020304" pitchFamily="18" charset="0"/>
              </a:rPr>
              <a:t>W: </a:t>
            </a:r>
            <a:r>
              <a:rPr lang="en-US" altLang="zh-CN" sz="2200" b="1">
                <a:solidFill>
                  <a:srgbClr val="FF0000"/>
                </a:solidFill>
                <a:latin typeface="Times New Roman" panose="02020603050405020304" pitchFamily="18" charset="0"/>
                <a:cs typeface="Times New Roman" panose="02020603050405020304" pitchFamily="18" charset="0"/>
              </a:rPr>
              <a:t>It's almost midnight, Max. You've got a </a:t>
            </a:r>
            <a:r>
              <a:rPr lang="en-US" altLang="zh-CN" sz="2200" b="1" u="sng">
                <a:solidFill>
                  <a:srgbClr val="FF0000"/>
                </a:solidFill>
                <a:latin typeface="Times New Roman" panose="02020603050405020304" pitchFamily="18" charset="0"/>
                <a:cs typeface="Times New Roman" panose="02020603050405020304" pitchFamily="18" charset="0"/>
              </a:rPr>
              <a:t>long drive</a:t>
            </a:r>
            <a:r>
              <a:rPr lang="en-US" altLang="zh-CN" sz="2200" b="1">
                <a:solidFill>
                  <a:srgbClr val="FF0000"/>
                </a:solidFill>
                <a:latin typeface="Times New Roman" panose="02020603050405020304" pitchFamily="18" charset="0"/>
                <a:cs typeface="Times New Roman" panose="02020603050405020304" pitchFamily="18" charset="0"/>
              </a:rPr>
              <a:t> tomorrow.</a:t>
            </a:r>
            <a:endParaRPr lang="zh-CN" altLang="zh-CN" sz="2200" b="1">
              <a:solidFill>
                <a:srgbClr val="FF0000"/>
              </a:solidFill>
              <a:latin typeface="Times New Roman" panose="02020603050405020304" pitchFamily="18" charset="0"/>
              <a:cs typeface="Times New Roman" panose="02020603050405020304" pitchFamily="18" charset="0"/>
            </a:endParaRPr>
          </a:p>
          <a:p>
            <a:r>
              <a:rPr lang="en-US" altLang="zh-CN" sz="2200" b="1">
                <a:latin typeface="Times New Roman" panose="02020603050405020304" pitchFamily="18" charset="0"/>
                <a:cs typeface="Times New Roman" panose="02020603050405020304" pitchFamily="18" charset="0"/>
              </a:rPr>
              <a:t>M: Okay. Another fifteen minutes from my </a:t>
            </a:r>
            <a:r>
              <a:rPr lang="en-US" altLang="zh-CN" sz="2200" b="1" u="sng">
                <a:latin typeface="Times New Roman" panose="02020603050405020304" pitchFamily="18" charset="0"/>
                <a:cs typeface="Times New Roman" panose="02020603050405020304" pitchFamily="18" charset="0"/>
              </a:rPr>
              <a:t>travel blog</a:t>
            </a:r>
            <a:r>
              <a:rPr lang="en-US" altLang="zh-CN" sz="2200" b="1">
                <a:latin typeface="Times New Roman" panose="02020603050405020304" pitchFamily="18" charset="0"/>
                <a:cs typeface="Times New Roman" panose="02020603050405020304" pitchFamily="18" charset="0"/>
              </a:rPr>
              <a:t>. And I'll be done.</a:t>
            </a:r>
            <a:endParaRPr lang="zh-CN" altLang="zh-CN" sz="2200" b="1">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74568" y="192878"/>
            <a:ext cx="11703108"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4. What does the woman suggest Max do?</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Go to bed.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Drive carefully.	</a:t>
            </a:r>
            <a:r>
              <a:rPr lang="en-US" altLang="zh-CN" sz="2200" b="1" smtClean="0">
                <a:solidFill>
                  <a:schemeClr val="dk1"/>
                </a:solidFill>
                <a:latin typeface="Times New Roman" panose="02020603050405020304" pitchFamily="18" charset="0"/>
                <a:cs typeface="Times New Roman" panose="02020603050405020304" pitchFamily="18" charset="0"/>
              </a:rPr>
              <a:t>C</a:t>
            </a:r>
            <a:r>
              <a:rPr lang="en-US" altLang="zh-CN" sz="2200" b="1">
                <a:solidFill>
                  <a:schemeClr val="dk1"/>
                </a:solidFill>
                <a:latin typeface="Times New Roman" panose="02020603050405020304" pitchFamily="18" charset="0"/>
                <a:cs typeface="Times New Roman" panose="02020603050405020304" pitchFamily="18" charset="0"/>
              </a:rPr>
              <a:t>. Update his blog.</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74569" y="3028950"/>
            <a:ext cx="11731682"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。推理判断题。女士提醒</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快半夜了，他明天要开长途车。</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回答</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好的，再给我十五分钟写旅行博客，我就写完了。”女士明确提到“快半夜了”和“明天要长途驾驶”，其潜台词是提醒</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时间晚了该休息了，以保证明天安全驾驶。因此，女士建议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去睡觉。</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title=""/>
          <p:cNvPicPr/>
          <p:nvPr/>
        </p:nvPicPr>
        <p:blipFill>
          <a:blip r:embed="rId4">
            <a:extLst>
              <a:ext uri="{28A0092B-C50C-407E-A947-70E740481C1C}">
                <a14:useLocalDpi xmlns:a14="http://schemas.microsoft.com/office/drawing/2010/main" val="0"/>
              </a:ext>
            </a:extLst>
          </a:blip>
          <a:stretch>
            <a:fillRect/>
          </a:stretch>
        </p:blipFill>
        <p:spPr>
          <a:xfrm>
            <a:off x="309669" y="638755"/>
            <a:ext cx="206826" cy="285716"/>
          </a:xfrm>
          <a:prstGeom prst="rect">
            <a:avLst/>
          </a:prstGeom>
        </p:spPr>
      </p:pic>
      <p:sp>
        <p:nvSpPr>
          <p:cNvPr id="2" name="矩形 1" title=""/>
          <p:cNvSpPr/>
          <p:nvPr/>
        </p:nvSpPr>
        <p:spPr>
          <a:xfrm>
            <a:off x="1408931" y="1240227"/>
            <a:ext cx="8036174" cy="430887"/>
          </a:xfrm>
          <a:prstGeom prst="rect">
            <a:avLst/>
          </a:prstGeom>
        </p:spPr>
        <p:txBody>
          <a:bodyPr wrap="none">
            <a:spAutoFit/>
          </a:bodyPr>
          <a:lstStyle/>
          <a:p>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：深夜催促去睡</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觉词数：</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22</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10″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132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200"/>
          </a:p>
        </p:txBody>
      </p:sp>
      <p:sp>
        <p:nvSpPr>
          <p:cNvPr id="11" name="文本框 3" title=""/>
          <p:cNvSpPr txBox="1"/>
          <p:nvPr>
            <p:custDataLst>
              <p:tags r:id="rId5"/>
            </p:custDataLst>
          </p:nvPr>
        </p:nvSpPr>
        <p:spPr>
          <a:xfrm>
            <a:off x="174569" y="4440237"/>
            <a:ext cx="11722892" cy="120032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anose="020b0503020204020204" pitchFamily="34" charset="-122"/>
                <a:ea typeface="微软雅黑" panose="020b0503020204020204" pitchFamily="34" charset="-122"/>
              </a:rPr>
              <a:t>【</a:t>
            </a:r>
            <a:r>
              <a:rPr lang="zh-CN" altLang="en-US" sz="2400" b="1" smtClean="0">
                <a:solidFill>
                  <a:srgbClr val="00B0F0"/>
                </a:solidFill>
                <a:latin typeface="微软雅黑" panose="020b0503020204020204" pitchFamily="34" charset="-122"/>
                <a:ea typeface="微软雅黑" panose="020b0503020204020204" pitchFamily="34" charset="-122"/>
              </a:rPr>
              <a:t>语言知识</a:t>
            </a:r>
            <a:r>
              <a:rPr lang="en-US" altLang="zh-CN" sz="2400" b="1">
                <a:solidFill>
                  <a:srgbClr val="00B0F0"/>
                </a:solidFill>
                <a:latin typeface="微软雅黑" panose="020b0503020204020204" pitchFamily="34" charset="-122"/>
                <a:ea typeface="微软雅黑" panose="020b0503020204020204" pitchFamily="34" charset="-122"/>
              </a:rPr>
              <a:t>】midnight n [U]  </a:t>
            </a:r>
            <a:r>
              <a:rPr lang="zh-CN" altLang="en-US" sz="2400" b="1">
                <a:solidFill>
                  <a:srgbClr val="00B0F0"/>
                </a:solidFill>
                <a:latin typeface="微软雅黑" panose="020b0503020204020204" pitchFamily="34" charset="-122"/>
                <a:ea typeface="微软雅黑" panose="020b0503020204020204" pitchFamily="34" charset="-122"/>
              </a:rPr>
              <a:t>午夜；子</a:t>
            </a:r>
            <a:r>
              <a:rPr lang="zh-CN" altLang="en-US" sz="2400" b="1" smtClean="0">
                <a:solidFill>
                  <a:srgbClr val="00B0F0"/>
                </a:solidFill>
                <a:latin typeface="微软雅黑" panose="020b0503020204020204" pitchFamily="34" charset="-122"/>
                <a:ea typeface="微软雅黑" panose="020b0503020204020204" pitchFamily="34" charset="-122"/>
              </a:rPr>
              <a:t>夜</a:t>
            </a:r>
            <a:r>
              <a:rPr lang="en-US" altLang="zh-CN" sz="2400" b="1" smtClean="0">
                <a:solidFill>
                  <a:srgbClr val="00B0F0"/>
                </a:solidFill>
                <a:latin typeface="微软雅黑" panose="020b0503020204020204" pitchFamily="34" charset="-122"/>
                <a:ea typeface="微软雅黑" panose="020b0503020204020204" pitchFamily="34" charset="-122"/>
              </a:rPr>
              <a:t>driven </a:t>
            </a:r>
            <a:r>
              <a:rPr lang="en-US" altLang="zh-CN" sz="2400" b="1">
                <a:solidFill>
                  <a:srgbClr val="00B0F0"/>
                </a:solidFill>
                <a:latin typeface="微软雅黑" panose="020b0503020204020204" pitchFamily="34" charset="-122"/>
                <a:ea typeface="微软雅黑" panose="020b0503020204020204" pitchFamily="34" charset="-122"/>
              </a:rPr>
              <a:t>[C]  </a:t>
            </a:r>
            <a:r>
              <a:rPr lang="zh-CN" altLang="en-US" sz="2400" b="1">
                <a:solidFill>
                  <a:srgbClr val="00B0F0"/>
                </a:solidFill>
                <a:latin typeface="微软雅黑" panose="020b0503020204020204" pitchFamily="34" charset="-122"/>
                <a:ea typeface="微软雅黑" panose="020b0503020204020204" pitchFamily="34" charset="-122"/>
              </a:rPr>
              <a:t>驱车旅行；驾车路程</a:t>
            </a:r>
          </a:p>
          <a:p>
            <a:r>
              <a:rPr lang="en-US" altLang="zh-CN" sz="2400" b="1" smtClean="0">
                <a:solidFill>
                  <a:srgbClr val="00B0F0"/>
                </a:solidFill>
                <a:latin typeface="微软雅黑" panose="020b0503020204020204" pitchFamily="34" charset="-122"/>
                <a:ea typeface="微软雅黑" panose="020b0503020204020204" pitchFamily="34" charset="-122"/>
              </a:rPr>
              <a:t>                    travel </a:t>
            </a:r>
            <a:r>
              <a:rPr lang="en-US" altLang="zh-CN" sz="2400" b="1">
                <a:solidFill>
                  <a:srgbClr val="00B0F0"/>
                </a:solidFill>
                <a:latin typeface="微软雅黑" panose="020b0503020204020204" pitchFamily="34" charset="-122"/>
                <a:ea typeface="微软雅黑" panose="020b0503020204020204" pitchFamily="34" charset="-122"/>
              </a:rPr>
              <a:t>blog  </a:t>
            </a:r>
            <a:r>
              <a:rPr lang="zh-CN" altLang="en-US" sz="2400" b="1">
                <a:solidFill>
                  <a:srgbClr val="00B0F0"/>
                </a:solidFill>
                <a:latin typeface="微软雅黑" panose="020b0503020204020204" pitchFamily="34" charset="-122"/>
                <a:ea typeface="微软雅黑" panose="020b0503020204020204" pitchFamily="34" charset="-122"/>
              </a:rPr>
              <a:t>旅行博</a:t>
            </a:r>
            <a:r>
              <a:rPr lang="zh-CN" altLang="en-US" sz="2400" b="1" smtClean="0">
                <a:solidFill>
                  <a:srgbClr val="00B0F0"/>
                </a:solidFill>
                <a:latin typeface="微软雅黑" panose="020b0503020204020204" pitchFamily="34" charset="-122"/>
                <a:ea typeface="微软雅黑" panose="020b0503020204020204" pitchFamily="34" charset="-122"/>
              </a:rPr>
              <a:t>客    </a:t>
            </a:r>
            <a:r>
              <a:rPr lang="en-US" altLang="zh-CN" sz="2400" b="1" smtClean="0">
                <a:solidFill>
                  <a:srgbClr val="00B0F0"/>
                </a:solidFill>
                <a:latin typeface="微软雅黑" panose="020b0503020204020204" pitchFamily="34" charset="-122"/>
                <a:ea typeface="微软雅黑" panose="020b0503020204020204" pitchFamily="34" charset="-122"/>
              </a:rPr>
              <a:t>sb </a:t>
            </a:r>
            <a:r>
              <a:rPr lang="en-US" altLang="zh-CN" sz="2400" b="1">
                <a:solidFill>
                  <a:srgbClr val="00B0F0"/>
                </a:solidFill>
                <a:latin typeface="微软雅黑" panose="020b0503020204020204" pitchFamily="34" charset="-122"/>
                <a:ea typeface="微软雅黑" panose="020b0503020204020204" pitchFamily="34" charset="-122"/>
              </a:rPr>
              <a:t>is done (with sth)  </a:t>
            </a:r>
            <a:r>
              <a:rPr lang="zh-CN" altLang="en-US" sz="2400" b="1">
                <a:solidFill>
                  <a:srgbClr val="00B0F0"/>
                </a:solidFill>
                <a:latin typeface="微软雅黑" panose="020b0503020204020204" pitchFamily="34" charset="-122"/>
                <a:ea typeface="微软雅黑" panose="020b0503020204020204" pitchFamily="34" charset="-122"/>
              </a:rPr>
              <a:t>某人完成（某事物）</a:t>
            </a:r>
          </a:p>
          <a:p>
            <a:r>
              <a:rPr lang="en-US" altLang="zh-CN" sz="2400" b="1" smtClean="0">
                <a:solidFill>
                  <a:srgbClr val="00B0F0"/>
                </a:solidFill>
                <a:latin typeface="微软雅黑" panose="020b0503020204020204" pitchFamily="34" charset="-122"/>
                <a:ea typeface="微软雅黑" panose="020b0503020204020204" pitchFamily="34" charset="-122"/>
              </a:rPr>
              <a:t>                    long drive </a:t>
            </a:r>
            <a:r>
              <a:rPr lang="zh-CN" altLang="en-US" sz="2400" b="1" smtClean="0">
                <a:solidFill>
                  <a:srgbClr val="00B0F0"/>
                </a:solidFill>
                <a:latin typeface="微软雅黑" panose="020b0503020204020204" pitchFamily="34" charset="-122"/>
                <a:ea typeface="微软雅黑" panose="020b0503020204020204" pitchFamily="34" charset="-122"/>
              </a:rPr>
              <a:t>长途开车       </a:t>
            </a:r>
            <a:r>
              <a:rPr lang="en-US" altLang="zh-CN" sz="2400" b="1" smtClean="0">
                <a:solidFill>
                  <a:srgbClr val="00B0F0"/>
                </a:solidFill>
                <a:latin typeface="微软雅黑" panose="020b0503020204020204" pitchFamily="34" charset="-122"/>
                <a:ea typeface="微软雅黑" panose="020b0503020204020204" pitchFamily="34" charset="-122"/>
              </a:rPr>
              <a:t>travel </a:t>
            </a:r>
            <a:r>
              <a:rPr lang="en-US" altLang="zh-CN" sz="2400" b="1">
                <a:solidFill>
                  <a:srgbClr val="00B0F0"/>
                </a:solidFill>
                <a:latin typeface="微软雅黑" panose="020b0503020204020204" pitchFamily="34" charset="-122"/>
                <a:ea typeface="微软雅黑" panose="020b0503020204020204" pitchFamily="34" charset="-122"/>
              </a:rPr>
              <a:t>blog</a:t>
            </a:r>
            <a:r>
              <a:rPr lang="zh-CN" altLang="en-US" sz="2400" b="1">
                <a:solidFill>
                  <a:srgbClr val="00B0F0"/>
                </a:solidFill>
                <a:latin typeface="微软雅黑" panose="020b0503020204020204" pitchFamily="34" charset="-122"/>
                <a:ea typeface="微软雅黑" panose="020b0503020204020204" pitchFamily="34" charset="-122"/>
              </a:rPr>
              <a:t>旅游博客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P spid="11" grpId="0" animBg="1"/>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207818" y="1048493"/>
            <a:ext cx="11672854" cy="1669769"/>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2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5) </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题</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：更改会</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面时间词数：</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41</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19″</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129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fontAlgn="auto"/>
            <a:r>
              <a:rPr lang="en-US" altLang="zh-CN" sz="2200" b="1" smtClean="0">
                <a:latin typeface="Times New Roman" panose="02020603050405020304" pitchFamily="18" charset="0"/>
                <a:cs typeface="Times New Roman" panose="02020603050405020304" pitchFamily="18" charset="0"/>
              </a:rPr>
              <a:t>W: Hello, Mr. Waterman. This is Sarah Jones. </a:t>
            </a:r>
            <a:r>
              <a:rPr lang="en-US" altLang="zh-CN" sz="2200" b="1" smtClean="0">
                <a:solidFill>
                  <a:srgbClr val="FF0000"/>
                </a:solidFill>
                <a:latin typeface="Times New Roman" panose="02020603050405020304" pitchFamily="18" charset="0"/>
                <a:cs typeface="Times New Roman" panose="02020603050405020304" pitchFamily="18" charset="0"/>
              </a:rPr>
              <a:t>I'm </a:t>
            </a:r>
            <a:r>
              <a:rPr lang="en-US" altLang="zh-CN" sz="2200" b="1" u="sng" smtClean="0">
                <a:solidFill>
                  <a:srgbClr val="FF0000"/>
                </a:solidFill>
                <a:latin typeface="Times New Roman" panose="02020603050405020304" pitchFamily="18" charset="0"/>
                <a:cs typeface="Times New Roman" panose="02020603050405020304" pitchFamily="18" charset="0"/>
              </a:rPr>
              <a:t>stuck</a:t>
            </a:r>
            <a:r>
              <a:rPr lang="en-US" altLang="zh-CN" sz="2200" b="1" smtClean="0">
                <a:solidFill>
                  <a:srgbClr val="FF0000"/>
                </a:solidFill>
                <a:latin typeface="Times New Roman" panose="02020603050405020304" pitchFamily="18" charset="0"/>
                <a:cs typeface="Times New Roman" panose="02020603050405020304" pitchFamily="18" charset="0"/>
              </a:rPr>
              <a:t> on the highway. There's a serious accident. I'm afraid I can't arrive before noon. Could we meet this afternoon?</a:t>
            </a:r>
            <a:endParaRPr lang="zh-CN" altLang="zh-CN" sz="2200" b="1" smtClean="0">
              <a:solidFill>
                <a:srgbClr val="FF0000"/>
              </a:solidFill>
              <a:latin typeface="Times New Roman" panose="02020603050405020304" pitchFamily="18" charset="0"/>
              <a:cs typeface="Times New Roman" panose="02020603050405020304" pitchFamily="18" charset="0"/>
            </a:endParaRPr>
          </a:p>
          <a:p>
            <a:pPr algn="just"/>
            <a:r>
              <a:rPr lang="en-US" altLang="zh-CN" sz="2200" b="1" smtClean="0">
                <a:latin typeface="Times New Roman" panose="02020603050405020304" pitchFamily="18" charset="0"/>
                <a:cs typeface="Times New Roman" panose="02020603050405020304" pitchFamily="18" charset="0"/>
              </a:rPr>
              <a:t>M</a:t>
            </a:r>
            <a:r>
              <a:rPr lang="en-US" altLang="zh-CN" sz="2200" b="1">
                <a:latin typeface="Times New Roman" panose="02020603050405020304" pitchFamily="18" charset="0"/>
                <a:cs typeface="Times New Roman" panose="02020603050405020304" pitchFamily="18" charset="0"/>
              </a:rPr>
              <a:t>: Okay. I'll see my doctor at one and will be </a:t>
            </a:r>
            <a:r>
              <a:rPr lang="en-US" altLang="zh-CN" sz="2200" b="1" u="sng">
                <a:latin typeface="Times New Roman" panose="02020603050405020304" pitchFamily="18" charset="0"/>
                <a:cs typeface="Times New Roman" panose="02020603050405020304" pitchFamily="18" charset="0"/>
              </a:rPr>
              <a:t>available</a:t>
            </a:r>
            <a:r>
              <a:rPr lang="en-US" altLang="zh-CN" sz="2200" b="1">
                <a:latin typeface="Times New Roman" panose="02020603050405020304" pitchFamily="18" charset="0"/>
                <a:cs typeface="Times New Roman" panose="02020603050405020304" pitchFamily="18" charset="0"/>
              </a:rPr>
              <a:t> after two.</a:t>
            </a:r>
            <a:endParaRPr lang="zh-CN" altLang="zh-CN" sz="2200" b="1">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207818" y="105075"/>
            <a:ext cx="11688907"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5. Why does Sarah make the phone call?</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To request sick </a:t>
            </a:r>
            <a:r>
              <a:rPr lang="en-US" altLang="zh-CN" sz="2200" b="1" smtClean="0">
                <a:solidFill>
                  <a:schemeClr val="dk1"/>
                </a:solidFill>
                <a:latin typeface="Times New Roman" panose="02020603050405020304" pitchFamily="18" charset="0"/>
                <a:cs typeface="Times New Roman" panose="02020603050405020304" pitchFamily="18" charset="0"/>
              </a:rPr>
              <a:t>leave.   B</a:t>
            </a:r>
            <a:r>
              <a:rPr lang="en-US" altLang="zh-CN" sz="2200" b="1">
                <a:solidFill>
                  <a:schemeClr val="dk1"/>
                </a:solidFill>
                <a:latin typeface="Times New Roman" panose="02020603050405020304" pitchFamily="18" charset="0"/>
                <a:cs typeface="Times New Roman" panose="02020603050405020304" pitchFamily="18" charset="0"/>
              </a:rPr>
              <a:t>. To make a complaint</a:t>
            </a:r>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To postpone a meeting</a:t>
            </a:r>
            <a:r>
              <a:rPr lang="en-US" altLang="zh-CN" sz="2200" b="1" smtClean="0">
                <a:solidFill>
                  <a:schemeClr val="dk1"/>
                </a:solidFill>
                <a:latin typeface="Times New Roman" panose="02020603050405020304" pitchFamily="18" charset="0"/>
                <a:cs typeface="Times New Roman" panose="02020603050405020304" pitchFamily="18" charset="0"/>
              </a:rPr>
              <a:t>.</a:t>
            </a:r>
            <a:endParaRPr lang="en-US" altLang="zh-CN" sz="2200" b="1">
              <a:latin typeface="Times New Roman" panose="02020603050405020304" pitchFamily="18" charset="0"/>
              <a:ea typeface="+mj-ea"/>
              <a:cs typeface="Times New Roman" panose="02020603050405020304" pitchFamily="18" charset="0"/>
            </a:endParaRPr>
          </a:p>
        </p:txBody>
      </p:sp>
      <p:sp>
        <p:nvSpPr>
          <p:cNvPr id="8" name="文本框 3" title=""/>
          <p:cNvSpPr txBox="1"/>
          <p:nvPr>
            <p:custDataLst>
              <p:tags r:id="rId3"/>
            </p:custDataLst>
          </p:nvPr>
        </p:nvSpPr>
        <p:spPr>
          <a:xfrm>
            <a:off x="207819" y="2939570"/>
            <a:ext cx="11698432"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】5. C</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。推理判断题。根据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Sarah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I’m stuck on the highway.There's a serious accident. I'm afraid I can't arrive before noon. Could we meet this afternoon?</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Sarah</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说自己因交通事故堵在高速上，无法在中午之前到达，询问男士能否将原定会面时间改到下午。由此可推断出，</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Sarah</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打电话的核心意图是推迟</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延期</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原定的见面时间。</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3" title=""/>
          <p:cNvSpPr txBox="1"/>
          <p:nvPr>
            <p:custDataLst>
              <p:tags r:id="rId4"/>
            </p:custDataLst>
          </p:nvPr>
        </p:nvSpPr>
        <p:spPr>
          <a:xfrm>
            <a:off x="207819" y="4638206"/>
            <a:ext cx="11698432" cy="1569660"/>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anose="020b0503020204020204" pitchFamily="34" charset="-122"/>
                <a:ea typeface="微软雅黑" panose="020b0503020204020204" pitchFamily="34" charset="-122"/>
              </a:rPr>
              <a:t>【</a:t>
            </a:r>
            <a:r>
              <a:rPr lang="zh-CN" altLang="en-US" sz="2400" b="1" smtClean="0">
                <a:solidFill>
                  <a:srgbClr val="00B0F0"/>
                </a:solidFill>
                <a:latin typeface="微软雅黑" panose="020b0503020204020204" pitchFamily="34" charset="-122"/>
                <a:ea typeface="微软雅黑" panose="020b0503020204020204" pitchFamily="34" charset="-122"/>
              </a:rPr>
              <a:t>语言知识</a:t>
            </a:r>
            <a:r>
              <a:rPr lang="en-US" altLang="zh-CN" sz="2400" b="1">
                <a:solidFill>
                  <a:srgbClr val="00B0F0"/>
                </a:solidFill>
                <a:latin typeface="微软雅黑" panose="020b0503020204020204" pitchFamily="34" charset="-122"/>
                <a:ea typeface="微软雅黑" panose="020b0503020204020204" pitchFamily="34" charset="-122"/>
              </a:rPr>
              <a:t>】stuck adj  </a:t>
            </a:r>
            <a:r>
              <a:rPr lang="zh-CN" altLang="en-US" sz="2400" b="1">
                <a:solidFill>
                  <a:srgbClr val="00B0F0"/>
                </a:solidFill>
                <a:latin typeface="微软雅黑" panose="020b0503020204020204" pitchFamily="34" charset="-122"/>
                <a:ea typeface="微软雅黑" panose="020b0503020204020204" pitchFamily="34" charset="-122"/>
              </a:rPr>
              <a:t>卡住的；无法移动</a:t>
            </a:r>
            <a:r>
              <a:rPr lang="zh-CN" altLang="en-US" sz="2400" b="1" smtClean="0">
                <a:solidFill>
                  <a:srgbClr val="00B0F0"/>
                </a:solidFill>
                <a:latin typeface="微软雅黑" panose="020b0503020204020204" pitchFamily="34" charset="-122"/>
                <a:ea typeface="微软雅黑" panose="020b0503020204020204" pitchFamily="34" charset="-122"/>
              </a:rPr>
              <a:t>的  </a:t>
            </a:r>
            <a:r>
              <a:rPr lang="en-US" altLang="zh-CN" sz="2400" b="1" smtClean="0">
                <a:solidFill>
                  <a:srgbClr val="00B0F0"/>
                </a:solidFill>
                <a:latin typeface="微软雅黑" panose="020b0503020204020204" pitchFamily="34" charset="-122"/>
                <a:ea typeface="微软雅黑" panose="020b0503020204020204" pitchFamily="34" charset="-122"/>
              </a:rPr>
              <a:t>  highway </a:t>
            </a:r>
            <a:r>
              <a:rPr lang="en-US" altLang="zh-CN" sz="2400" b="1">
                <a:solidFill>
                  <a:srgbClr val="00B0F0"/>
                </a:solidFill>
                <a:latin typeface="微软雅黑" panose="020b0503020204020204" pitchFamily="34" charset="-122"/>
                <a:ea typeface="微软雅黑" panose="020b0503020204020204" pitchFamily="34" charset="-122"/>
              </a:rPr>
              <a:t>n [C]  </a:t>
            </a:r>
            <a:r>
              <a:rPr lang="zh-CN" altLang="en-US" sz="2400" b="1">
                <a:solidFill>
                  <a:srgbClr val="00B0F0"/>
                </a:solidFill>
                <a:latin typeface="微软雅黑" panose="020b0503020204020204" pitchFamily="34" charset="-122"/>
                <a:ea typeface="微软雅黑" panose="020b0503020204020204" pitchFamily="34" charset="-122"/>
              </a:rPr>
              <a:t>公路</a:t>
            </a:r>
          </a:p>
          <a:p>
            <a:r>
              <a:rPr lang="en-US" altLang="zh-CN" sz="2400" b="1" smtClean="0">
                <a:solidFill>
                  <a:srgbClr val="00B0F0"/>
                </a:solidFill>
                <a:latin typeface="微软雅黑" panose="020b0503020204020204" pitchFamily="34" charset="-122"/>
                <a:ea typeface="微软雅黑" panose="020b0503020204020204" pitchFamily="34" charset="-122"/>
              </a:rPr>
              <a:t>                     available </a:t>
            </a:r>
            <a:r>
              <a:rPr lang="en-US" altLang="zh-CN" sz="2400" b="1">
                <a:solidFill>
                  <a:srgbClr val="00B0F0"/>
                </a:solidFill>
                <a:latin typeface="微软雅黑" panose="020b0503020204020204" pitchFamily="34" charset="-122"/>
                <a:ea typeface="微软雅黑" panose="020b0503020204020204" pitchFamily="34" charset="-122"/>
              </a:rPr>
              <a:t>adj  </a:t>
            </a:r>
            <a:r>
              <a:rPr lang="zh-CN" altLang="en-US" sz="2400" b="1">
                <a:solidFill>
                  <a:srgbClr val="00B0F0"/>
                </a:solidFill>
                <a:latin typeface="微软雅黑" panose="020b0503020204020204" pitchFamily="34" charset="-122"/>
                <a:ea typeface="微软雅黑" panose="020b0503020204020204" pitchFamily="34" charset="-122"/>
              </a:rPr>
              <a:t>（人）有空的 </a:t>
            </a:r>
            <a:r>
              <a:rPr lang="en-US" altLang="zh-CN" sz="2400" b="1">
                <a:solidFill>
                  <a:srgbClr val="00B0F0"/>
                </a:solidFill>
                <a:latin typeface="微软雅黑" panose="020b0503020204020204" pitchFamily="34" charset="-122"/>
                <a:ea typeface="微软雅黑" panose="020b0503020204020204" pitchFamily="34" charset="-122"/>
              </a:rPr>
              <a:t>[</a:t>
            </a:r>
            <a:r>
              <a:rPr lang="zh-CN" altLang="en-US" sz="2400" b="1">
                <a:solidFill>
                  <a:srgbClr val="00B0F0"/>
                </a:solidFill>
                <a:latin typeface="微软雅黑" panose="020b0503020204020204" pitchFamily="34" charset="-122"/>
                <a:ea typeface="微软雅黑" panose="020b0503020204020204" pitchFamily="34" charset="-122"/>
              </a:rPr>
              <a:t>不用于名词前</a:t>
            </a:r>
            <a:r>
              <a:rPr lang="en-US" altLang="zh-CN" sz="2400" b="1">
                <a:solidFill>
                  <a:srgbClr val="00B0F0"/>
                </a:solidFill>
                <a:latin typeface="微软雅黑" panose="020b0503020204020204" pitchFamily="34" charset="-122"/>
                <a:ea typeface="微软雅黑" panose="020b0503020204020204" pitchFamily="34" charset="-122"/>
              </a:rPr>
              <a:t>]</a:t>
            </a:r>
          </a:p>
          <a:p>
            <a:r>
              <a:rPr lang="en-US" altLang="zh-CN" sz="2400" b="1" smtClean="0">
                <a:solidFill>
                  <a:srgbClr val="00B0F0"/>
                </a:solidFill>
                <a:latin typeface="微软雅黑" panose="020b0503020204020204" pitchFamily="34" charset="-122"/>
                <a:ea typeface="微软雅黑" panose="020b0503020204020204" pitchFamily="34" charset="-122"/>
              </a:rPr>
              <a:t>                     postpone </a:t>
            </a:r>
            <a:r>
              <a:rPr lang="en-US" altLang="zh-CN" sz="2400" b="1">
                <a:solidFill>
                  <a:srgbClr val="00B0F0"/>
                </a:solidFill>
                <a:latin typeface="微软雅黑" panose="020b0503020204020204" pitchFamily="34" charset="-122"/>
                <a:ea typeface="微软雅黑" panose="020b0503020204020204" pitchFamily="34" charset="-122"/>
              </a:rPr>
              <a:t>vt  </a:t>
            </a:r>
            <a:r>
              <a:rPr lang="zh-CN" altLang="en-US" sz="2400" b="1">
                <a:solidFill>
                  <a:srgbClr val="00B0F0"/>
                </a:solidFill>
                <a:latin typeface="微软雅黑" panose="020b0503020204020204" pitchFamily="34" charset="-122"/>
                <a:ea typeface="微软雅黑" panose="020b0503020204020204" pitchFamily="34" charset="-122"/>
              </a:rPr>
              <a:t>推迟；延期 </a:t>
            </a:r>
            <a:r>
              <a:rPr lang="zh-CN" altLang="en-US" sz="2400" b="1" smtClean="0">
                <a:solidFill>
                  <a:srgbClr val="00B0F0"/>
                </a:solidFill>
                <a:latin typeface="微软雅黑" panose="020b0503020204020204" pitchFamily="34" charset="-122"/>
                <a:ea typeface="微软雅黑" panose="020b0503020204020204" pitchFamily="34" charset="-122"/>
              </a:rPr>
              <a:t> </a:t>
            </a:r>
            <a:r>
              <a:rPr lang="en-US" altLang="zh-CN" sz="2400" b="1" smtClean="0">
                <a:solidFill>
                  <a:srgbClr val="00B0F0"/>
                </a:solidFill>
                <a:latin typeface="微软雅黑" panose="020b0503020204020204" pitchFamily="34" charset="-122"/>
                <a:ea typeface="微软雅黑" panose="020b0503020204020204" pitchFamily="34" charset="-122"/>
              </a:rPr>
              <a:t>request </a:t>
            </a:r>
            <a:r>
              <a:rPr lang="en-US" altLang="zh-CN" sz="2400" b="1">
                <a:solidFill>
                  <a:srgbClr val="00B0F0"/>
                </a:solidFill>
                <a:latin typeface="微软雅黑" panose="020b0503020204020204" pitchFamily="34" charset="-122"/>
                <a:ea typeface="微软雅黑" panose="020b0503020204020204" pitchFamily="34" charset="-122"/>
              </a:rPr>
              <a:t>sick leave  </a:t>
            </a:r>
            <a:r>
              <a:rPr lang="zh-CN" altLang="en-US" sz="2400" b="1">
                <a:solidFill>
                  <a:srgbClr val="00B0F0"/>
                </a:solidFill>
                <a:latin typeface="微软雅黑" panose="020b0503020204020204" pitchFamily="34" charset="-122"/>
                <a:ea typeface="微软雅黑" panose="020b0503020204020204" pitchFamily="34" charset="-122"/>
              </a:rPr>
              <a:t>请病假</a:t>
            </a:r>
          </a:p>
          <a:p>
            <a:r>
              <a:rPr lang="en-US" altLang="zh-CN" sz="2400" b="1" smtClean="0">
                <a:solidFill>
                  <a:srgbClr val="00B0F0"/>
                </a:solidFill>
                <a:latin typeface="微软雅黑" panose="020b0503020204020204" pitchFamily="34" charset="-122"/>
                <a:ea typeface="微软雅黑" panose="020b0503020204020204" pitchFamily="34" charset="-122"/>
              </a:rPr>
              <a:t>                     make </a:t>
            </a:r>
            <a:r>
              <a:rPr lang="en-US" altLang="zh-CN" sz="2400" b="1">
                <a:solidFill>
                  <a:srgbClr val="00B0F0"/>
                </a:solidFill>
                <a:latin typeface="微软雅黑" panose="020b0503020204020204" pitchFamily="34" charset="-122"/>
                <a:ea typeface="微软雅黑" panose="020b0503020204020204" pitchFamily="34" charset="-122"/>
              </a:rPr>
              <a:t>a complaint  </a:t>
            </a:r>
            <a:r>
              <a:rPr lang="zh-CN" altLang="en-US" sz="2400" b="1">
                <a:solidFill>
                  <a:srgbClr val="00B0F0"/>
                </a:solidFill>
                <a:latin typeface="微软雅黑" panose="020b0503020204020204" pitchFamily="34" charset="-122"/>
                <a:ea typeface="微软雅黑" panose="020b0503020204020204" pitchFamily="34" charset="-122"/>
              </a:rPr>
              <a:t>投诉</a:t>
            </a:r>
          </a:p>
        </p:txBody>
      </p:sp>
      <p:pic>
        <p:nvPicPr>
          <p:cNvPr id="10" name="图片 9" title=""/>
          <p:cNvPicPr/>
          <p:nvPr/>
        </p:nvPicPr>
        <p:blipFill>
          <a:blip r:embed="rId5">
            <a:extLst>
              <a:ext uri="{28A0092B-C50C-407E-A947-70E740481C1C}">
                <a14:useLocalDpi xmlns:a14="http://schemas.microsoft.com/office/drawing/2010/main" val="0"/>
              </a:ext>
            </a:extLst>
          </a:blip>
          <a:stretch>
            <a:fillRect/>
          </a:stretch>
        </p:blipFill>
        <p:spPr>
          <a:xfrm>
            <a:off x="6663374" y="532931"/>
            <a:ext cx="206826" cy="285716"/>
          </a:xfrm>
          <a:prstGeom prst="rect">
            <a:avLst/>
          </a:prstGeom>
        </p:spPr>
      </p:pic>
      <p:pic>
        <p:nvPicPr>
          <p:cNvPr id="2" name="Picture 2"/>
          <p:cNvPicPr>
            <a:picLocks noChangeAspect="1"/>
          </p:cNvPicPr>
          <p:nvPr/>
        </p:nvPicPr>
        <p:blipFill>
          <a:blip r:embed="rId6"/>
          <a:stretch>
            <a:fillRect/>
          </a:stretch>
        </p:blipFill>
        <p:spPr>
          <a:xfrm flipH="1">
            <a:off x="10769600" y="12204700"/>
            <a:ext cx="0" cy="0"/>
          </a:xfrm>
          <a:prstGeom prst="rect">
            <a:avLst/>
          </a:prstGeom>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91193" y="977628"/>
            <a:ext cx="11742961" cy="2505405"/>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400"/>
              </a:lnSpc>
            </a:pPr>
            <a:r>
              <a:rPr lang="en-US"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6)</a:t>
            </a:r>
            <a:endParaRPr lang="en-US" altLang="zh-CN" sz="2200" b="1">
              <a:solidFill>
                <a:srgbClr val="0000FF"/>
              </a:solidFill>
              <a:latin typeface="微软雅黑" panose="020b0503020204020204" pitchFamily="34" charset="-122"/>
              <a:ea typeface="微软雅黑" panose="020b0503020204020204" pitchFamily="34" charset="-122"/>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M: Lisa, you're English, but you live here. What do you love about Copenhagen?</a:t>
            </a:r>
            <a:endParaRPr lang="zh-CN" altLang="zh-CN" sz="22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(6)It has everything big cities offer-cafes, theaters, museums-but it is still relaxing and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manageable</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Unlike London, you don't feel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constant pressure</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here.</a:t>
            </a:r>
            <a:endParaRPr lang="zh-CN"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M: Was this lifestyle why you first came?</a:t>
            </a:r>
            <a:endParaRPr lang="zh-CN" altLang="zh-CN" sz="22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W: No, </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(7)I originally came for a three-month project at a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law firm</a:t>
            </a:r>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 After finishing it, they offered me a </a:t>
            </a:r>
            <a:r>
              <a:rPr lang="en-US" altLang="zh-CN" sz="2200" b="1" u="sng">
                <a:latin typeface="Times New Roman" panose="02020603050405020304" pitchFamily="18" charset="0"/>
                <a:ea typeface="微软雅黑" panose="020b0503020204020204" pitchFamily="34" charset="-122"/>
                <a:cs typeface="Times New Roman" panose="02020603050405020304" pitchFamily="18" charset="0"/>
              </a:rPr>
              <a:t>permanent job</a:t>
            </a:r>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 I took it and stayed</a:t>
            </a:r>
            <a:r>
              <a:rPr lang="en-US" altLang="zh-CN" sz="2200" b="1"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200" b="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10" title=""/>
          <p:cNvSpPr txBox="1"/>
          <p:nvPr>
            <p:custDataLst>
              <p:tags r:id="rId2"/>
            </p:custDataLst>
          </p:nvPr>
        </p:nvSpPr>
        <p:spPr>
          <a:xfrm>
            <a:off x="191193" y="136136"/>
            <a:ext cx="11742961"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6. What makes Copenhagen different from London in Lisa's eyes?</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A less stressful life. </a:t>
            </a:r>
            <a:r>
              <a:rPr lang="en-US" altLang="zh-CN" sz="2200" b="1" smtClean="0">
                <a:solidFill>
                  <a:schemeClr val="dk1"/>
                </a:solidFill>
                <a:latin typeface="Times New Roman" panose="02020603050405020304" pitchFamily="18" charset="0"/>
                <a:cs typeface="Times New Roman" panose="02020603050405020304" pitchFamily="18" charset="0"/>
              </a:rPr>
              <a:t>    B. </a:t>
            </a:r>
            <a:r>
              <a:rPr lang="en-US" altLang="zh-CN" sz="2200" b="1">
                <a:solidFill>
                  <a:schemeClr val="dk1"/>
                </a:solidFill>
                <a:latin typeface="Times New Roman" panose="02020603050405020304" pitchFamily="18" charset="0"/>
                <a:cs typeface="Times New Roman" panose="02020603050405020304" pitchFamily="18" charset="0"/>
              </a:rPr>
              <a:t>Better city planning.  	C. More tourist sites.</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91193" y="3621958"/>
            <a:ext cx="11742961" cy="1631216"/>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400"/>
              </a:lnSpc>
            </a:pP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 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。事实细节题。男士问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Lisa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喜欢哥本哈根的什么，</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Lisa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回答</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:“It has everything big cities offer - cafes, theaters, museums - but it is still relaxing and manageable. Unlike London, you don't feel constant pressure here."  Lisa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认为它有大城市拥有的一切</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咖啡馆、剧院、博物馆</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但依然让人放松，生活节奏可控。不像伦敦，在这里你不会感到持续的压力。因此，</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Lisa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认为哥本哈根不同于伦敦的地方是压力更小的生活。</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71313" y="552987"/>
            <a:ext cx="206826" cy="285716"/>
          </a:xfrm>
          <a:prstGeom prst="rect">
            <a:avLst/>
          </a:prstGeom>
        </p:spPr>
      </p:pic>
      <p:sp>
        <p:nvSpPr>
          <p:cNvPr id="10" name="文本框 3" title=""/>
          <p:cNvSpPr txBox="1"/>
          <p:nvPr>
            <p:custDataLst>
              <p:tags r:id="rId5"/>
            </p:custDataLst>
          </p:nvPr>
        </p:nvSpPr>
        <p:spPr>
          <a:xfrm>
            <a:off x="191193" y="5409069"/>
            <a:ext cx="11742961" cy="120032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pPr eaLnBrk="0"/>
            <a:r>
              <a:rPr lang="en-US" altLang="zh-CN" sz="2400" b="1" smtClean="0">
                <a:solidFill>
                  <a:srgbClr val="00B0F0"/>
                </a:solidFill>
                <a:latin typeface="微软雅黑" panose="020b0503020204020204" pitchFamily="34" charset="-122"/>
                <a:ea typeface="微软雅黑" panose="020b0503020204020204" pitchFamily="34" charset="-122"/>
              </a:rPr>
              <a:t>【</a:t>
            </a:r>
            <a:r>
              <a:rPr lang="zh-CN" altLang="en-US" sz="2400" b="1" smtClean="0">
                <a:solidFill>
                  <a:srgbClr val="00B0F0"/>
                </a:solidFill>
                <a:latin typeface="微软雅黑" panose="020b0503020204020204" pitchFamily="34" charset="-122"/>
                <a:ea typeface="微软雅黑" panose="020b0503020204020204" pitchFamily="34" charset="-122"/>
              </a:rPr>
              <a:t>语言知识</a:t>
            </a:r>
            <a:r>
              <a:rPr lang="en-US" altLang="zh-CN" sz="2400" b="1">
                <a:solidFill>
                  <a:srgbClr val="00B0F0"/>
                </a:solidFill>
                <a:latin typeface="微软雅黑" panose="020b0503020204020204" pitchFamily="34" charset="-122"/>
                <a:ea typeface="微软雅黑" panose="020b0503020204020204" pitchFamily="34" charset="-122"/>
              </a:rPr>
              <a:t>】Copenhagen</a:t>
            </a:r>
            <a:r>
              <a:rPr lang="zh-CN" altLang="en-US" sz="2400" b="1">
                <a:solidFill>
                  <a:srgbClr val="00B0F0"/>
                </a:solidFill>
                <a:latin typeface="微软雅黑" panose="020b0503020204020204" pitchFamily="34" charset="-122"/>
                <a:ea typeface="微软雅黑" panose="020b0503020204020204" pitchFamily="34" charset="-122"/>
              </a:rPr>
              <a:t>哥本哈</a:t>
            </a:r>
            <a:r>
              <a:rPr lang="zh-CN" altLang="en-US" sz="2400" b="1" smtClean="0">
                <a:solidFill>
                  <a:srgbClr val="00B0F0"/>
                </a:solidFill>
                <a:latin typeface="微软雅黑" panose="020b0503020204020204" pitchFamily="34" charset="-122"/>
                <a:ea typeface="微软雅黑" panose="020b0503020204020204" pitchFamily="34" charset="-122"/>
              </a:rPr>
              <a:t>根   </a:t>
            </a:r>
            <a:r>
              <a:rPr lang="en-US" altLang="zh-CN" sz="2400" b="1" smtClean="0">
                <a:solidFill>
                  <a:srgbClr val="00B0F0"/>
                </a:solidFill>
                <a:latin typeface="微软雅黑" panose="020b0503020204020204" pitchFamily="34" charset="-122"/>
                <a:ea typeface="微软雅黑" panose="020b0503020204020204" pitchFamily="34" charset="-122"/>
              </a:rPr>
              <a:t>manageable</a:t>
            </a:r>
            <a:r>
              <a:rPr lang="zh-CN" altLang="en-US" sz="2400" b="1">
                <a:solidFill>
                  <a:srgbClr val="00B0F0"/>
                </a:solidFill>
                <a:latin typeface="微软雅黑" panose="020b0503020204020204" pitchFamily="34" charset="-122"/>
                <a:ea typeface="微软雅黑" panose="020b0503020204020204" pitchFamily="34" charset="-122"/>
              </a:rPr>
              <a:t>可操纵的</a:t>
            </a:r>
            <a:r>
              <a:rPr lang="en-US" altLang="zh-CN" sz="2400" b="1">
                <a:solidFill>
                  <a:srgbClr val="00B0F0"/>
                </a:solidFill>
                <a:latin typeface="微软雅黑" panose="020b0503020204020204" pitchFamily="34" charset="-122"/>
                <a:ea typeface="微软雅黑" panose="020b0503020204020204" pitchFamily="34" charset="-122"/>
              </a:rPr>
              <a:t>;</a:t>
            </a:r>
            <a:r>
              <a:rPr lang="zh-CN" altLang="en-US" sz="2400" b="1">
                <a:solidFill>
                  <a:srgbClr val="00B0F0"/>
                </a:solidFill>
                <a:latin typeface="微软雅黑" panose="020b0503020204020204" pitchFamily="34" charset="-122"/>
                <a:ea typeface="微软雅黑" panose="020b0503020204020204" pitchFamily="34" charset="-122"/>
              </a:rPr>
              <a:t>可处理的</a:t>
            </a:r>
          </a:p>
          <a:p>
            <a:pPr eaLnBrk="0"/>
            <a:r>
              <a:rPr lang="en-US" altLang="zh-CN" sz="2400" b="1" smtClean="0">
                <a:solidFill>
                  <a:srgbClr val="00B0F0"/>
                </a:solidFill>
                <a:latin typeface="微软雅黑" panose="020b0503020204020204" pitchFamily="34" charset="-122"/>
                <a:ea typeface="微软雅黑" panose="020b0503020204020204" pitchFamily="34" charset="-122"/>
              </a:rPr>
              <a:t>                    constant </a:t>
            </a:r>
            <a:r>
              <a:rPr lang="en-US" altLang="zh-CN" sz="2400" b="1">
                <a:solidFill>
                  <a:srgbClr val="00B0F0"/>
                </a:solidFill>
                <a:latin typeface="微软雅黑" panose="020b0503020204020204" pitchFamily="34" charset="-122"/>
                <a:ea typeface="微软雅黑" panose="020b0503020204020204" pitchFamily="34" charset="-122"/>
              </a:rPr>
              <a:t>pressure </a:t>
            </a:r>
            <a:r>
              <a:rPr lang="zh-CN" altLang="en-US" sz="2400" b="1">
                <a:solidFill>
                  <a:srgbClr val="00B0F0"/>
                </a:solidFill>
                <a:latin typeface="微软雅黑" panose="020b0503020204020204" pitchFamily="34" charset="-122"/>
                <a:ea typeface="微软雅黑" panose="020b0503020204020204" pitchFamily="34" charset="-122"/>
              </a:rPr>
              <a:t>持续的压力</a:t>
            </a:r>
            <a:r>
              <a:rPr lang="en-US" altLang="zh-CN" sz="2400" b="1">
                <a:solidFill>
                  <a:srgbClr val="00B0F0"/>
                </a:solidFill>
                <a:latin typeface="微软雅黑" panose="020b0503020204020204" pitchFamily="34" charset="-122"/>
                <a:ea typeface="微软雅黑" panose="020b0503020204020204" pitchFamily="34" charset="-122"/>
              </a:rPr>
              <a:t>;</a:t>
            </a:r>
            <a:r>
              <a:rPr lang="zh-CN" altLang="en-US" sz="2400" b="1">
                <a:solidFill>
                  <a:srgbClr val="00B0F0"/>
                </a:solidFill>
                <a:latin typeface="微软雅黑" panose="020b0503020204020204" pitchFamily="34" charset="-122"/>
                <a:ea typeface="微软雅黑" panose="020b0503020204020204" pitchFamily="34" charset="-122"/>
              </a:rPr>
              <a:t>不断的压力</a:t>
            </a:r>
          </a:p>
          <a:p>
            <a:pPr eaLnBrk="0"/>
            <a:r>
              <a:rPr lang="en-US" altLang="zh-CN" sz="2400" b="1" smtClean="0">
                <a:solidFill>
                  <a:srgbClr val="00B0F0"/>
                </a:solidFill>
                <a:latin typeface="微软雅黑" panose="020b0503020204020204" pitchFamily="34" charset="-122"/>
                <a:ea typeface="微软雅黑" panose="020b0503020204020204" pitchFamily="34" charset="-122"/>
              </a:rPr>
              <a:t>                    law </a:t>
            </a:r>
            <a:r>
              <a:rPr lang="en-US" altLang="zh-CN" sz="2400" b="1">
                <a:solidFill>
                  <a:srgbClr val="00B0F0"/>
                </a:solidFill>
                <a:latin typeface="微软雅黑" panose="020b0503020204020204" pitchFamily="34" charset="-122"/>
                <a:ea typeface="微软雅黑" panose="020b0503020204020204" pitchFamily="34" charset="-122"/>
              </a:rPr>
              <a:t>firm</a:t>
            </a:r>
            <a:r>
              <a:rPr lang="zh-CN" altLang="en-US" sz="2400" b="1">
                <a:solidFill>
                  <a:srgbClr val="00B0F0"/>
                </a:solidFill>
                <a:latin typeface="微软雅黑" panose="020b0503020204020204" pitchFamily="34" charset="-122"/>
                <a:ea typeface="微软雅黑" panose="020b0503020204020204" pitchFamily="34" charset="-122"/>
              </a:rPr>
              <a:t>律师事务</a:t>
            </a:r>
            <a:r>
              <a:rPr lang="zh-CN" altLang="en-US" sz="2400" b="1" smtClean="0">
                <a:solidFill>
                  <a:srgbClr val="00B0F0"/>
                </a:solidFill>
                <a:latin typeface="微软雅黑" panose="020b0503020204020204" pitchFamily="34" charset="-122"/>
                <a:ea typeface="微软雅黑" panose="020b0503020204020204" pitchFamily="34" charset="-122"/>
              </a:rPr>
              <a:t>所</a:t>
            </a:r>
            <a:r>
              <a:rPr lang="en-US" altLang="zh-CN" sz="2400" b="1" smtClean="0">
                <a:solidFill>
                  <a:srgbClr val="00B0F0"/>
                </a:solidFill>
                <a:latin typeface="微软雅黑" panose="020b0503020204020204" pitchFamily="34" charset="-122"/>
                <a:ea typeface="微软雅黑" panose="020b0503020204020204" pitchFamily="34" charset="-122"/>
              </a:rPr>
              <a:t>        permanent </a:t>
            </a:r>
            <a:r>
              <a:rPr lang="en-US" altLang="zh-CN" sz="2400" b="1">
                <a:solidFill>
                  <a:srgbClr val="00B0F0"/>
                </a:solidFill>
                <a:latin typeface="微软雅黑" panose="020b0503020204020204" pitchFamily="34" charset="-122"/>
                <a:ea typeface="微软雅黑" panose="020b0503020204020204" pitchFamily="34" charset="-122"/>
              </a:rPr>
              <a:t>job </a:t>
            </a:r>
            <a:r>
              <a:rPr lang="zh-CN" altLang="en-US" sz="2400" b="1">
                <a:solidFill>
                  <a:srgbClr val="00B0F0"/>
                </a:solidFill>
                <a:latin typeface="微软雅黑" panose="020b0503020204020204" pitchFamily="34" charset="-122"/>
                <a:ea typeface="微软雅黑" panose="020b0503020204020204" pitchFamily="34" charset="-122"/>
              </a:rPr>
              <a:t>固定工作</a:t>
            </a:r>
          </a:p>
        </p:txBody>
      </p:sp>
      <p:sp>
        <p:nvSpPr>
          <p:cNvPr id="2" name="矩形 1" title=""/>
          <p:cNvSpPr/>
          <p:nvPr/>
        </p:nvSpPr>
        <p:spPr>
          <a:xfrm>
            <a:off x="1447557" y="977628"/>
            <a:ext cx="8318303" cy="430887"/>
          </a:xfrm>
          <a:prstGeom prst="rect">
            <a:avLst/>
          </a:prstGeom>
        </p:spPr>
        <p:txBody>
          <a:bodyPr wrap="none">
            <a:spAutoFit/>
          </a:bodyPr>
          <a:lstStyle/>
          <a:p>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：哥</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本哈</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根生活方式 词</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36″</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117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2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2" grpId="0"/>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275596" y="1734085"/>
            <a:ext cx="11640179" cy="2655035"/>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400"/>
              </a:lnSpc>
            </a:pPr>
            <a:r>
              <a:rPr lang="en-US"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6)</a:t>
            </a:r>
            <a:endParaRPr lang="en-US" altLang="zh-CN" sz="2200" b="1">
              <a:solidFill>
                <a:srgbClr val="0000FF"/>
              </a:solidFill>
              <a:latin typeface="微软雅黑" panose="020b0503020204020204" pitchFamily="34" charset="-122"/>
              <a:ea typeface="微软雅黑" panose="020b0503020204020204" pitchFamily="34" charset="-122"/>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M: Lisa, you're English, but you live here. What do you love about Copenhagen?</a:t>
            </a:r>
            <a:endParaRPr lang="zh-CN" altLang="zh-CN" sz="22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(6)It has everything big cities offer-cafes, theaters, museums-but it is still relaxing and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manageable</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Unlike London, you don't feel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constant pressure</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here.</a:t>
            </a:r>
            <a:endParaRPr lang="zh-CN"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M: Was this lifestyle why you first came?</a:t>
            </a:r>
            <a:endParaRPr lang="zh-CN" altLang="zh-CN" sz="22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W: No, </a:t>
            </a:r>
            <a:r>
              <a:rPr lang="en-US" altLang="zh-CN" sz="22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(7)I originally came for a three-month project at a </a:t>
            </a:r>
            <a:r>
              <a:rPr lang="en-US" altLang="zh-CN" sz="22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law firm</a:t>
            </a:r>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 After finishing it, they offered me a </a:t>
            </a:r>
            <a:r>
              <a:rPr lang="en-US" altLang="zh-CN" sz="2200" b="1" u="sng">
                <a:latin typeface="Times New Roman" panose="02020603050405020304" pitchFamily="18" charset="0"/>
                <a:ea typeface="微软雅黑" panose="020b0503020204020204" pitchFamily="34" charset="-122"/>
                <a:cs typeface="Times New Roman" panose="02020603050405020304" pitchFamily="18" charset="0"/>
              </a:rPr>
              <a:t>permanent job</a:t>
            </a:r>
            <a:r>
              <a:rPr lang="en-US" altLang="zh-CN" sz="2200" b="1">
                <a:latin typeface="Times New Roman" panose="02020603050405020304" pitchFamily="18" charset="0"/>
                <a:ea typeface="微软雅黑" panose="020b0503020204020204" pitchFamily="34" charset="-122"/>
                <a:cs typeface="Times New Roman" panose="02020603050405020304" pitchFamily="18" charset="0"/>
              </a:rPr>
              <a:t>. I took it and stayed</a:t>
            </a:r>
            <a:r>
              <a:rPr lang="en-US" altLang="zh-CN" sz="2200" b="1" smtClean="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10" title=""/>
          <p:cNvSpPr txBox="1"/>
          <p:nvPr>
            <p:custDataLst>
              <p:tags r:id="rId2"/>
            </p:custDataLst>
          </p:nvPr>
        </p:nvSpPr>
        <p:spPr>
          <a:xfrm>
            <a:off x="275596" y="93125"/>
            <a:ext cx="11602079" cy="1446550"/>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7. Why did Lisa originally come to Copenhagen?</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To look for a permanent job. </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B</a:t>
            </a:r>
            <a:r>
              <a:rPr lang="en-US" altLang="zh-CN" sz="2200" b="1">
                <a:solidFill>
                  <a:schemeClr val="dk1"/>
                </a:solidFill>
                <a:latin typeface="Times New Roman" panose="02020603050405020304" pitchFamily="18" charset="0"/>
                <a:cs typeface="Times New Roman" panose="02020603050405020304" pitchFamily="18" charset="0"/>
              </a:rPr>
              <a:t>. To do a short-term project. </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To visit a famous museum.</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273270" y="4648469"/>
            <a:ext cx="11604405" cy="93871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2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】7. 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。事实细节题。男人问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Lisa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是否因为压力更小的生活来哥本哈根的，</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Lisa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"No, I originally came for a three-month project at a law firm. After finishing it, they offered me a permanent job. I took it and stayed.",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最初来一家律所做为期三个月的项目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短期项目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title=""/>
          <p:cNvPicPr/>
          <p:nvPr/>
        </p:nvPicPr>
        <p:blipFill>
          <a:blip r:embed="rId4">
            <a:extLst>
              <a:ext uri="{28A0092B-C50C-407E-A947-70E740481C1C}">
                <a14:useLocalDpi xmlns:a14="http://schemas.microsoft.com/office/drawing/2010/main" val="0"/>
              </a:ext>
            </a:extLst>
          </a:blip>
          <a:stretch>
            <a:fillRect/>
          </a:stretch>
        </p:blipFill>
        <p:spPr>
          <a:xfrm>
            <a:off x="437814" y="876409"/>
            <a:ext cx="206826" cy="285716"/>
          </a:xfrm>
          <a:prstGeom prst="rect">
            <a:avLst/>
          </a:prstGeom>
        </p:spPr>
      </p:pic>
      <p:sp>
        <p:nvSpPr>
          <p:cNvPr id="12" name="矩形 11" title=""/>
          <p:cNvSpPr/>
          <p:nvPr/>
        </p:nvSpPr>
        <p:spPr>
          <a:xfrm>
            <a:off x="1339100" y="1691301"/>
            <a:ext cx="8443786" cy="430887"/>
          </a:xfrm>
          <a:prstGeom prst="rect">
            <a:avLst/>
          </a:prstGeom>
        </p:spPr>
        <p:txBody>
          <a:bodyPr wrap="none">
            <a:spAutoFit/>
          </a:bodyPr>
          <a:lstStyle/>
          <a:p>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：哥</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本哈</a:t>
            </a:r>
            <a:r>
              <a:rPr lang="zh-CN" altLang="en-US" sz="22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根生活方式  词</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36″</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117 </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2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p:bld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43070" y="877865"/>
            <a:ext cx="11791084" cy="386095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3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7</a:t>
            </a:r>
            <a:r>
              <a:rPr lang="en-US"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题：酒店预订服</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务 词</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126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fontAlgn="auto">
              <a:lnSpc>
                <a:spcPts val="2300"/>
              </a:lnSpc>
            </a:pPr>
            <a:r>
              <a:rPr lang="en-US" altLang="zh-CN" sz="2000" b="1" smtClean="0">
                <a:solidFill>
                  <a:schemeClr val="tx1"/>
                </a:solidFill>
                <a:latin typeface="Times New Roman" panose="02020603050405020304" pitchFamily="18" charset="0"/>
                <a:cs typeface="Times New Roman" panose="02020603050405020304" pitchFamily="18" charset="0"/>
              </a:rPr>
              <a:t>W: Garden hotel. May I help you?</a:t>
            </a:r>
            <a:endParaRPr lang="zh-CN" altLang="zh-CN" sz="2000" b="1" smtClean="0">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smtClean="0">
                <a:solidFill>
                  <a:schemeClr val="tx1"/>
                </a:solidFill>
                <a:latin typeface="Times New Roman" panose="02020603050405020304" pitchFamily="18" charset="0"/>
                <a:cs typeface="Times New Roman" panose="02020603050405020304" pitchFamily="18" charset="0"/>
              </a:rPr>
              <a:t>M</a:t>
            </a:r>
            <a:r>
              <a:rPr lang="en-US" altLang="zh-CN" sz="2000" b="1">
                <a:solidFill>
                  <a:schemeClr val="tx1"/>
                </a:solidFill>
                <a:latin typeface="Times New Roman" panose="02020603050405020304" pitchFamily="18" charset="0"/>
                <a:cs typeface="Times New Roman" panose="02020603050405020304" pitchFamily="18" charset="0"/>
              </a:rPr>
              <a:t>: Hello, this is Mike from Gilbert company. We'd like to book a dinner for next Tuesday</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W: Certainly, Mr. Lee. Could you let me know how many guests you're expecting?</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And if you have a </a:t>
            </a:r>
            <a:r>
              <a:rPr lang="en-US" altLang="zh-CN" sz="2000" b="1" u="sng">
                <a:solidFill>
                  <a:schemeClr val="tx1"/>
                </a:solidFill>
                <a:latin typeface="Times New Roman" panose="02020603050405020304" pitchFamily="18" charset="0"/>
                <a:cs typeface="Times New Roman" panose="02020603050405020304" pitchFamily="18" charset="0"/>
              </a:rPr>
              <a:t>specific budget</a:t>
            </a:r>
            <a:r>
              <a:rPr lang="en-US" altLang="zh-CN" sz="2000" b="1">
                <a:solidFill>
                  <a:schemeClr val="tx1"/>
                </a:solidFill>
                <a:latin typeface="Times New Roman" panose="02020603050405020304" pitchFamily="18" charset="0"/>
                <a:cs typeface="Times New Roman" panose="02020603050405020304" pitchFamily="18" charset="0"/>
              </a:rPr>
              <a:t> in mind?</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M: Yes, </a:t>
            </a:r>
            <a:r>
              <a:rPr lang="en-US" altLang="zh-CN" sz="2000" b="1">
                <a:solidFill>
                  <a:srgbClr val="FF0000"/>
                </a:solidFill>
                <a:latin typeface="Times New Roman" panose="02020603050405020304" pitchFamily="18" charset="0"/>
                <a:cs typeface="Times New Roman" panose="02020603050405020304" pitchFamily="18" charset="0"/>
              </a:rPr>
              <a:t>(8)we're expecting twenty people. And we're aiming for thirty pounds per person</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W: Understood. Is..occasion?</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(9) Yes. It's to honor a staff member who is </a:t>
            </a:r>
            <a:r>
              <a:rPr lang="en-US" altLang="zh-CN" sz="2000" b="1" u="sng">
                <a:solidFill>
                  <a:srgbClr val="FF0000"/>
                </a:solidFill>
                <a:latin typeface="Times New Roman" panose="02020603050405020304" pitchFamily="18" charset="0"/>
                <a:cs typeface="Times New Roman" panose="02020603050405020304" pitchFamily="18" charset="0"/>
              </a:rPr>
              <a:t>retiring</a:t>
            </a:r>
            <a:r>
              <a:rPr lang="en-US" altLang="zh-CN" sz="2000" b="1">
                <a:solidFill>
                  <a:srgbClr val="FF0000"/>
                </a:solidFill>
                <a:latin typeface="Times New Roman" panose="02020603050405020304" pitchFamily="18" charset="0"/>
                <a:cs typeface="Times New Roman" panose="02020603050405020304" pitchFamily="18" charset="0"/>
              </a:rPr>
              <a:t> next month</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W: That sounds. would you like the dinner to start?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M: At six thirty pm.</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W: OK. </a:t>
            </a:r>
            <a:r>
              <a:rPr lang="en-US" altLang="zh-CN" sz="2000" b="1">
                <a:solidFill>
                  <a:srgbClr val="FF0000"/>
                </a:solidFill>
                <a:latin typeface="Times New Roman" panose="02020603050405020304" pitchFamily="18" charset="0"/>
                <a:cs typeface="Times New Roman" panose="02020603050405020304" pitchFamily="18" charset="0"/>
              </a:rPr>
              <a:t>(10)Would you like a </a:t>
            </a:r>
            <a:r>
              <a:rPr lang="en-US" altLang="zh-CN" sz="2000" b="1" u="sng">
                <a:solidFill>
                  <a:srgbClr val="FF0000"/>
                </a:solidFill>
                <a:latin typeface="Times New Roman" panose="02020603050405020304" pitchFamily="18" charset="0"/>
                <a:cs typeface="Times New Roman" panose="02020603050405020304" pitchFamily="18" charset="0"/>
              </a:rPr>
              <a:t>detailed menu</a:t>
            </a:r>
            <a:r>
              <a:rPr lang="en-US" altLang="zh-CN" sz="2000" b="1">
                <a:solidFill>
                  <a:srgbClr val="FF0000"/>
                </a:solidFill>
                <a:latin typeface="Times New Roman" panose="02020603050405020304" pitchFamily="18" charset="0"/>
                <a:cs typeface="Times New Roman" panose="02020603050405020304" pitchFamily="18" charset="0"/>
              </a:rPr>
              <a:t> with prices?</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(10)Yes. (10)Could you email it to Mike Lee at Gilbert.com?</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300"/>
              </a:lnSpc>
            </a:pPr>
            <a:r>
              <a:rPr lang="en-US" altLang="zh-CN" sz="2000" b="1">
                <a:solidFill>
                  <a:schemeClr val="tx1"/>
                </a:solidFill>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(10)No problem. I'm on it.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24692" y="68183"/>
            <a:ext cx="11809462"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8. What is the total budget for the dinner?</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£200.   		B. £300.    		C .£600.</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24691" y="4788699"/>
            <a:ext cx="11809463" cy="977191"/>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3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 C</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。推理判断题。根据 </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Mr. Lee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we're expecting twenty people. And we're aiming for thirty pounds per person."</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可知，他说此次晚宴预计到场</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位宾客，人均预算为</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英镑。经过计算可推算出，晚宴总费用为</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600</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英镑</a:t>
            </a:r>
            <a:r>
              <a:rPr lang="zh-CN"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5427967" y="501507"/>
            <a:ext cx="206826" cy="285716"/>
          </a:xfrm>
          <a:prstGeom prst="rect">
            <a:avLst/>
          </a:prstGeom>
        </p:spPr>
      </p:pic>
      <p:sp>
        <p:nvSpPr>
          <p:cNvPr id="10" name="文本框 3" title=""/>
          <p:cNvSpPr txBox="1"/>
          <p:nvPr>
            <p:custDataLst>
              <p:tags r:id="rId5"/>
            </p:custDataLst>
          </p:nvPr>
        </p:nvSpPr>
        <p:spPr>
          <a:xfrm>
            <a:off x="124691" y="5819956"/>
            <a:ext cx="11596303" cy="1015663"/>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000" b="1" smtClean="0">
                <a:solidFill>
                  <a:srgbClr val="00B0F0"/>
                </a:solidFill>
                <a:latin typeface="微软雅黑" panose="020b0503020204020204" pitchFamily="34" charset="-122"/>
                <a:ea typeface="微软雅黑" panose="020b0503020204020204" pitchFamily="34" charset="-122"/>
              </a:rPr>
              <a:t>【</a:t>
            </a:r>
            <a:r>
              <a:rPr lang="zh-CN" altLang="en-US" sz="2000" b="1" smtClean="0">
                <a:solidFill>
                  <a:srgbClr val="00B0F0"/>
                </a:solidFill>
                <a:latin typeface="微软雅黑" panose="020b0503020204020204" pitchFamily="34" charset="-122"/>
                <a:ea typeface="微软雅黑" panose="020b0503020204020204" pitchFamily="34" charset="-122"/>
              </a:rPr>
              <a:t>语言知识</a:t>
            </a:r>
            <a:r>
              <a:rPr lang="en-US" altLang="zh-CN" sz="2000" b="1">
                <a:solidFill>
                  <a:srgbClr val="00B0F0"/>
                </a:solidFill>
                <a:latin typeface="微软雅黑" panose="020b0503020204020204" pitchFamily="34" charset="-122"/>
                <a:ea typeface="微软雅黑" panose="020b0503020204020204" pitchFamily="34" charset="-122"/>
              </a:rPr>
              <a:t>】honor vt  </a:t>
            </a:r>
            <a:r>
              <a:rPr lang="zh-CN" altLang="en-US" sz="2000" b="1" smtClean="0">
                <a:solidFill>
                  <a:srgbClr val="00B0F0"/>
                </a:solidFill>
                <a:latin typeface="微软雅黑" panose="020b0503020204020204" pitchFamily="34" charset="-122"/>
                <a:ea typeface="微软雅黑" panose="020b0503020204020204" pitchFamily="34" charset="-122"/>
              </a:rPr>
              <a:t>向</a:t>
            </a:r>
            <a:r>
              <a:rPr lang="en-US" altLang="zh-CN" sz="2000" b="1">
                <a:solidFill>
                  <a:srgbClr val="00B0F0"/>
                </a:solidFill>
                <a:latin typeface="微软雅黑" panose="020b0503020204020204" pitchFamily="34" charset="-122"/>
                <a:ea typeface="微软雅黑" panose="020b0503020204020204" pitchFamily="34" charset="-122"/>
              </a:rPr>
              <a:t>……</a:t>
            </a:r>
            <a:r>
              <a:rPr lang="zh-CN" altLang="en-US" sz="2000" b="1">
                <a:solidFill>
                  <a:srgbClr val="00B0F0"/>
                </a:solidFill>
                <a:latin typeface="微软雅黑" panose="020b0503020204020204" pitchFamily="34" charset="-122"/>
                <a:ea typeface="微软雅黑" panose="020b0503020204020204" pitchFamily="34" charset="-122"/>
              </a:rPr>
              <a:t>致</a:t>
            </a:r>
            <a:r>
              <a:rPr lang="zh-CN" altLang="en-US" sz="2000" b="1" smtClean="0">
                <a:solidFill>
                  <a:srgbClr val="00B0F0"/>
                </a:solidFill>
                <a:latin typeface="微软雅黑" panose="020b0503020204020204" pitchFamily="34" charset="-122"/>
                <a:ea typeface="微软雅黑" panose="020b0503020204020204" pitchFamily="34" charset="-122"/>
              </a:rPr>
              <a:t>敬           </a:t>
            </a:r>
            <a:r>
              <a:rPr lang="en-US" altLang="zh-CN" sz="2000" b="1" smtClean="0">
                <a:solidFill>
                  <a:srgbClr val="00B0F0"/>
                </a:solidFill>
                <a:latin typeface="微软雅黑" panose="020b0503020204020204" pitchFamily="34" charset="-122"/>
                <a:ea typeface="微软雅黑" panose="020b0503020204020204" pitchFamily="34" charset="-122"/>
              </a:rPr>
              <a:t>launch </a:t>
            </a:r>
            <a:r>
              <a:rPr lang="en-US" altLang="zh-CN" sz="2000" b="1">
                <a:solidFill>
                  <a:srgbClr val="00B0F0"/>
                </a:solidFill>
                <a:latin typeface="微软雅黑" panose="020b0503020204020204" pitchFamily="34" charset="-122"/>
                <a:ea typeface="微软雅黑" panose="020b0503020204020204" pitchFamily="34" charset="-122"/>
              </a:rPr>
              <a:t>n [C]  </a:t>
            </a:r>
            <a:r>
              <a:rPr lang="zh-CN" altLang="en-US" sz="2000" b="1">
                <a:solidFill>
                  <a:srgbClr val="00B0F0"/>
                </a:solidFill>
                <a:latin typeface="微软雅黑" panose="020b0503020204020204" pitchFamily="34" charset="-122"/>
                <a:ea typeface="微软雅黑" panose="020b0503020204020204" pitchFamily="34" charset="-122"/>
              </a:rPr>
              <a:t>（产品的）上</a:t>
            </a:r>
            <a:r>
              <a:rPr lang="zh-CN" altLang="en-US" sz="2000" b="1" smtClean="0">
                <a:solidFill>
                  <a:srgbClr val="00B0F0"/>
                </a:solidFill>
                <a:latin typeface="微软雅黑" panose="020b0503020204020204" pitchFamily="34" charset="-122"/>
                <a:ea typeface="微软雅黑" panose="020b0503020204020204" pitchFamily="34" charset="-122"/>
              </a:rPr>
              <a:t>市 </a:t>
            </a:r>
            <a:r>
              <a:rPr lang="en-US" altLang="zh-CN" sz="2000" b="1" smtClean="0">
                <a:solidFill>
                  <a:srgbClr val="00B0F0"/>
                </a:solidFill>
                <a:latin typeface="微软雅黑" panose="020b0503020204020204" pitchFamily="34" charset="-122"/>
                <a:ea typeface="微软雅黑" panose="020b0503020204020204" pitchFamily="34" charset="-122"/>
              </a:rPr>
              <a:t>book </a:t>
            </a:r>
            <a:r>
              <a:rPr lang="en-US" altLang="zh-CN" sz="2000" b="1">
                <a:solidFill>
                  <a:srgbClr val="00B0F0"/>
                </a:solidFill>
                <a:latin typeface="微软雅黑" panose="020b0503020204020204" pitchFamily="34" charset="-122"/>
                <a:ea typeface="微软雅黑" panose="020b0503020204020204" pitchFamily="34" charset="-122"/>
              </a:rPr>
              <a:t>a dinner </a:t>
            </a:r>
            <a:r>
              <a:rPr lang="zh-CN" altLang="zh-CN" sz="2000" b="1">
                <a:solidFill>
                  <a:srgbClr val="00B0F0"/>
                </a:solidFill>
                <a:latin typeface="微软雅黑" panose="020b0503020204020204" pitchFamily="34" charset="-122"/>
                <a:ea typeface="微软雅黑" panose="020b0503020204020204" pitchFamily="34" charset="-122"/>
              </a:rPr>
              <a:t>预订晚</a:t>
            </a:r>
            <a:r>
              <a:rPr lang="zh-CN" altLang="zh-CN" sz="2000" b="1" smtClean="0">
                <a:solidFill>
                  <a:srgbClr val="00B0F0"/>
                </a:solidFill>
                <a:latin typeface="微软雅黑" panose="020b0503020204020204" pitchFamily="34" charset="-122"/>
                <a:ea typeface="微软雅黑" panose="020b0503020204020204" pitchFamily="34" charset="-122"/>
              </a:rPr>
              <a:t>宴</a:t>
            </a:r>
            <a:r>
              <a:rPr lang="en-US" altLang="zh-CN" sz="2000" b="1" smtClean="0">
                <a:solidFill>
                  <a:srgbClr val="00B0F0"/>
                </a:solidFill>
                <a:latin typeface="微软雅黑" panose="020b0503020204020204" pitchFamily="34" charset="-122"/>
                <a:ea typeface="微软雅黑" panose="020b0503020204020204" pitchFamily="34" charset="-122"/>
              </a:rPr>
              <a:t>        specific </a:t>
            </a:r>
            <a:r>
              <a:rPr lang="en-US" altLang="zh-CN" sz="2000" b="1">
                <a:solidFill>
                  <a:srgbClr val="00B0F0"/>
                </a:solidFill>
                <a:latin typeface="微软雅黑" panose="020b0503020204020204" pitchFamily="34" charset="-122"/>
                <a:ea typeface="微软雅黑" panose="020b0503020204020204" pitchFamily="34" charset="-122"/>
              </a:rPr>
              <a:t>budget </a:t>
            </a:r>
            <a:r>
              <a:rPr lang="zh-CN" altLang="zh-CN" sz="2000" b="1">
                <a:solidFill>
                  <a:srgbClr val="00B0F0"/>
                </a:solidFill>
                <a:latin typeface="微软雅黑" panose="020b0503020204020204" pitchFamily="34" charset="-122"/>
                <a:ea typeface="微软雅黑" panose="020b0503020204020204" pitchFamily="34" charset="-122"/>
              </a:rPr>
              <a:t>具体的预算，明确的预</a:t>
            </a:r>
            <a:r>
              <a:rPr lang="zh-CN" altLang="zh-CN" sz="2000" b="1" smtClean="0">
                <a:solidFill>
                  <a:srgbClr val="00B0F0"/>
                </a:solidFill>
                <a:latin typeface="微软雅黑" panose="020b0503020204020204" pitchFamily="34" charset="-122"/>
                <a:ea typeface="微软雅黑" panose="020b0503020204020204" pitchFamily="34" charset="-122"/>
              </a:rPr>
              <a:t>算</a:t>
            </a:r>
            <a:r>
              <a:rPr lang="en-US" altLang="zh-CN" sz="2000" b="1" smtClean="0">
                <a:solidFill>
                  <a:srgbClr val="00B0F0"/>
                </a:solidFill>
                <a:latin typeface="微软雅黑" panose="020b0503020204020204" pitchFamily="34" charset="-122"/>
                <a:ea typeface="微软雅黑" panose="020b0503020204020204" pitchFamily="34" charset="-122"/>
              </a:rPr>
              <a:t>  honor </a:t>
            </a:r>
            <a:r>
              <a:rPr lang="en-US" altLang="zh-CN" sz="2000" b="1">
                <a:solidFill>
                  <a:srgbClr val="00B0F0"/>
                </a:solidFill>
                <a:latin typeface="微软雅黑" panose="020b0503020204020204" pitchFamily="34" charset="-122"/>
                <a:ea typeface="微软雅黑" panose="020b0503020204020204" pitchFamily="34" charset="-122"/>
              </a:rPr>
              <a:t>a staff member</a:t>
            </a:r>
            <a:r>
              <a:rPr lang="zh-CN" altLang="zh-CN" sz="2000" b="1">
                <a:solidFill>
                  <a:srgbClr val="00B0F0"/>
                </a:solidFill>
                <a:latin typeface="微软雅黑" panose="020b0503020204020204" pitchFamily="34" charset="-122"/>
                <a:ea typeface="微软雅黑" panose="020b0503020204020204" pitchFamily="34" charset="-122"/>
              </a:rPr>
              <a:t>致敬一名员</a:t>
            </a:r>
            <a:r>
              <a:rPr lang="zh-CN" altLang="zh-CN" sz="2000" b="1" smtClean="0">
                <a:solidFill>
                  <a:srgbClr val="00B0F0"/>
                </a:solidFill>
                <a:latin typeface="微软雅黑" panose="020b0503020204020204" pitchFamily="34" charset="-122"/>
                <a:ea typeface="微软雅黑" panose="020b0503020204020204" pitchFamily="34" charset="-122"/>
              </a:rPr>
              <a:t>工</a:t>
            </a:r>
            <a:r>
              <a:rPr lang="en-US" altLang="zh-CN" sz="2000" b="1" smtClean="0">
                <a:solidFill>
                  <a:srgbClr val="00B0F0"/>
                </a:solidFill>
                <a:latin typeface="微软雅黑" panose="020b0503020204020204" pitchFamily="34" charset="-122"/>
                <a:ea typeface="微软雅黑" panose="020b0503020204020204" pitchFamily="34" charset="-122"/>
              </a:rPr>
              <a:t>  retire </a:t>
            </a:r>
            <a:r>
              <a:rPr lang="zh-CN" altLang="zh-CN" sz="2000" b="1">
                <a:solidFill>
                  <a:srgbClr val="00B0F0"/>
                </a:solidFill>
                <a:latin typeface="微软雅黑" panose="020b0503020204020204" pitchFamily="34" charset="-122"/>
                <a:ea typeface="微软雅黑" panose="020b0503020204020204" pitchFamily="34" charset="-122"/>
              </a:rPr>
              <a:t>退</a:t>
            </a:r>
            <a:r>
              <a:rPr lang="zh-CN" altLang="zh-CN" sz="2000" b="1" smtClean="0">
                <a:solidFill>
                  <a:srgbClr val="00B0F0"/>
                </a:solidFill>
                <a:latin typeface="微软雅黑" panose="020b0503020204020204" pitchFamily="34" charset="-122"/>
                <a:ea typeface="微软雅黑" panose="020b0503020204020204" pitchFamily="34" charset="-122"/>
              </a:rPr>
              <a:t>休</a:t>
            </a:r>
            <a:r>
              <a:rPr lang="en-US" altLang="zh-CN" sz="2000" b="1" smtClean="0">
                <a:solidFill>
                  <a:srgbClr val="00B0F0"/>
                </a:solidFill>
                <a:latin typeface="微软雅黑" panose="020b0503020204020204" pitchFamily="34" charset="-122"/>
                <a:ea typeface="微软雅黑" panose="020b0503020204020204" pitchFamily="34" charset="-122"/>
              </a:rPr>
              <a:t>             </a:t>
            </a:r>
            <a:endParaRPr lang="en-US" altLang="zh-CN" sz="2000" b="1" smtClean="0">
              <a:solidFill>
                <a:srgbClr val="00B0F0"/>
              </a:solidFill>
              <a:latin typeface="微软雅黑" panose="020b0503020204020204" pitchFamily="34" charset="-122"/>
              <a:ea typeface="微软雅黑" panose="020b0503020204020204" pitchFamily="34" charset="-122"/>
            </a:endParaRPr>
          </a:p>
          <a:p>
            <a:r>
              <a:rPr lang="en-US" altLang="zh-CN" sz="2000" b="1">
                <a:solidFill>
                  <a:srgbClr val="00B0F0"/>
                </a:solidFill>
                <a:latin typeface="微软雅黑" panose="020b0503020204020204" pitchFamily="34" charset="-122"/>
                <a:ea typeface="微软雅黑" panose="020b0503020204020204" pitchFamily="34" charset="-122"/>
              </a:rPr>
              <a:t> </a:t>
            </a:r>
            <a:r>
              <a:rPr lang="en-US" altLang="zh-CN" sz="2000" b="1" smtClean="0">
                <a:solidFill>
                  <a:srgbClr val="00B0F0"/>
                </a:solidFill>
                <a:latin typeface="微软雅黑" panose="020b0503020204020204" pitchFamily="34" charset="-122"/>
                <a:ea typeface="微软雅黑" panose="020b0503020204020204" pitchFamily="34" charset="-122"/>
              </a:rPr>
              <a:t>detailed </a:t>
            </a:r>
            <a:r>
              <a:rPr lang="en-US" altLang="zh-CN" sz="2000" b="1">
                <a:solidFill>
                  <a:srgbClr val="00B0F0"/>
                </a:solidFill>
                <a:latin typeface="微软雅黑" panose="020b0503020204020204" pitchFamily="34" charset="-122"/>
                <a:ea typeface="微软雅黑" panose="020b0503020204020204" pitchFamily="34" charset="-122"/>
              </a:rPr>
              <a:t>menu </a:t>
            </a:r>
            <a:r>
              <a:rPr lang="zh-CN" altLang="zh-CN" sz="2000" b="1">
                <a:solidFill>
                  <a:srgbClr val="00B0F0"/>
                </a:solidFill>
                <a:latin typeface="微软雅黑" panose="020b0503020204020204" pitchFamily="34" charset="-122"/>
                <a:ea typeface="微软雅黑" panose="020b0503020204020204" pitchFamily="34" charset="-122"/>
              </a:rPr>
              <a:t>详细菜</a:t>
            </a:r>
            <a:r>
              <a:rPr lang="zh-CN" altLang="zh-CN" sz="2000" b="1" smtClean="0">
                <a:solidFill>
                  <a:srgbClr val="00B0F0"/>
                </a:solidFill>
                <a:latin typeface="微软雅黑" panose="020b0503020204020204" pitchFamily="34" charset="-122"/>
                <a:ea typeface="微软雅黑" panose="020b0503020204020204" pitchFamily="34" charset="-122"/>
              </a:rPr>
              <a:t>单</a:t>
            </a:r>
            <a:r>
              <a:rPr lang="en-US" altLang="zh-CN" sz="2000" b="1">
                <a:solidFill>
                  <a:srgbClr val="00B0F0"/>
                </a:solidFill>
                <a:latin typeface="微软雅黑" panose="020b0503020204020204" pitchFamily="34" charset="-122"/>
                <a:ea typeface="微软雅黑" panose="020b0503020204020204" pitchFamily="34" charset="-122"/>
              </a:rPr>
              <a:t>    </a:t>
            </a:r>
            <a:r>
              <a:rPr lang="en-US" altLang="zh-CN" sz="2000" b="1" smtClean="0">
                <a:solidFill>
                  <a:srgbClr val="00B0F0"/>
                </a:solidFill>
                <a:latin typeface="微软雅黑" panose="020b0503020204020204" pitchFamily="34" charset="-122"/>
                <a:ea typeface="微软雅黑" panose="020b0503020204020204" pitchFamily="34" charset="-122"/>
              </a:rPr>
              <a:t>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I’m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on it.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我来处理。</a:t>
            </a:r>
            <a:endParaRPr lang="zh-CN"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91194" y="1619077"/>
            <a:ext cx="11779132" cy="3964385"/>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3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7)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话题：酒店预订服</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务 词</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126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smtClean="0">
                <a:solidFill>
                  <a:schemeClr val="tx1"/>
                </a:solidFill>
                <a:latin typeface="Times New Roman" panose="02020603050405020304" pitchFamily="18" charset="0"/>
                <a:cs typeface="Times New Roman" panose="02020603050405020304" pitchFamily="18" charset="0"/>
              </a:rPr>
              <a:t>W</a:t>
            </a:r>
            <a:r>
              <a:rPr lang="en-US" altLang="zh-CN" sz="2000" b="1">
                <a:solidFill>
                  <a:schemeClr val="tx1"/>
                </a:solidFill>
                <a:latin typeface="Times New Roman" panose="02020603050405020304" pitchFamily="18" charset="0"/>
                <a:cs typeface="Times New Roman" panose="02020603050405020304" pitchFamily="18" charset="0"/>
              </a:rPr>
              <a:t>: Garden hotel. May I help you?</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Hello, this is Mike from Gilbert company. We'd like to book a dinner for next Tuesday</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Certainly, Mr. Lee. Could you let me know how many guests you're expecting?</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And if you have a </a:t>
            </a:r>
            <a:r>
              <a:rPr lang="en-US" altLang="zh-CN" sz="2000" b="1" u="sng">
                <a:solidFill>
                  <a:schemeClr val="tx1"/>
                </a:solidFill>
                <a:latin typeface="Times New Roman" panose="02020603050405020304" pitchFamily="18" charset="0"/>
                <a:cs typeface="Times New Roman" panose="02020603050405020304" pitchFamily="18" charset="0"/>
              </a:rPr>
              <a:t>specific budget</a:t>
            </a:r>
            <a:r>
              <a:rPr lang="en-US" altLang="zh-CN" sz="2000" b="1">
                <a:solidFill>
                  <a:schemeClr val="tx1"/>
                </a:solidFill>
                <a:latin typeface="Times New Roman" panose="02020603050405020304" pitchFamily="18" charset="0"/>
                <a:cs typeface="Times New Roman" panose="02020603050405020304" pitchFamily="18" charset="0"/>
              </a:rPr>
              <a:t> in mind?</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Yes, </a:t>
            </a:r>
            <a:r>
              <a:rPr lang="en-US" altLang="zh-CN" sz="2000" b="1">
                <a:solidFill>
                  <a:srgbClr val="FF0000"/>
                </a:solidFill>
                <a:latin typeface="Times New Roman" panose="02020603050405020304" pitchFamily="18" charset="0"/>
                <a:cs typeface="Times New Roman" panose="02020603050405020304" pitchFamily="18" charset="0"/>
              </a:rPr>
              <a:t>(8)we're expecting twenty people. And we're aiming for thirty pounds per person</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Understood. Is..occasion?</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(9) Yes. It's to honor a staff member who is </a:t>
            </a:r>
            <a:r>
              <a:rPr lang="en-US" altLang="zh-CN" sz="2000" b="1" u="sng">
                <a:solidFill>
                  <a:srgbClr val="FF0000"/>
                </a:solidFill>
                <a:latin typeface="Times New Roman" panose="02020603050405020304" pitchFamily="18" charset="0"/>
                <a:cs typeface="Times New Roman" panose="02020603050405020304" pitchFamily="18" charset="0"/>
              </a:rPr>
              <a:t>retiring</a:t>
            </a:r>
            <a:r>
              <a:rPr lang="en-US" altLang="zh-CN" sz="2000" b="1">
                <a:solidFill>
                  <a:srgbClr val="FF0000"/>
                </a:solidFill>
                <a:latin typeface="Times New Roman" panose="02020603050405020304" pitchFamily="18" charset="0"/>
                <a:cs typeface="Times New Roman" panose="02020603050405020304" pitchFamily="18" charset="0"/>
              </a:rPr>
              <a:t> next month</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That sounds. would you like the dinner to start?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six thirty pm.</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OK. </a:t>
            </a:r>
            <a:r>
              <a:rPr lang="en-US" altLang="zh-CN" sz="2000" b="1">
                <a:solidFill>
                  <a:srgbClr val="FF0000"/>
                </a:solidFill>
                <a:latin typeface="Times New Roman" panose="02020603050405020304" pitchFamily="18" charset="0"/>
                <a:cs typeface="Times New Roman" panose="02020603050405020304" pitchFamily="18" charset="0"/>
              </a:rPr>
              <a:t>(10)Would you like a </a:t>
            </a:r>
            <a:r>
              <a:rPr lang="en-US" altLang="zh-CN" sz="2000" b="1" u="sng">
                <a:solidFill>
                  <a:srgbClr val="FF0000"/>
                </a:solidFill>
                <a:latin typeface="Times New Roman" panose="02020603050405020304" pitchFamily="18" charset="0"/>
                <a:cs typeface="Times New Roman" panose="02020603050405020304" pitchFamily="18" charset="0"/>
              </a:rPr>
              <a:t>detailed menu</a:t>
            </a:r>
            <a:r>
              <a:rPr lang="en-US" altLang="zh-CN" sz="2000" b="1">
                <a:solidFill>
                  <a:srgbClr val="FF0000"/>
                </a:solidFill>
                <a:latin typeface="Times New Roman" panose="02020603050405020304" pitchFamily="18" charset="0"/>
                <a:cs typeface="Times New Roman" panose="02020603050405020304" pitchFamily="18" charset="0"/>
              </a:rPr>
              <a:t> with prices?</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(10)Yes. (10)Could you email it to Mike Lee at Gilbert.com?</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(10)No problem. I'm on it.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91193" y="76496"/>
            <a:ext cx="11779133" cy="1446550"/>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9. What occasion is the dinner for?</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 The </a:t>
            </a:r>
            <a:r>
              <a:rPr lang="en-US" altLang="zh-CN" sz="2200" b="1">
                <a:solidFill>
                  <a:schemeClr val="dk1"/>
                </a:solidFill>
                <a:latin typeface="Times New Roman" panose="02020603050405020304" pitchFamily="18" charset="0"/>
                <a:cs typeface="Times New Roman" panose="02020603050405020304" pitchFamily="18" charset="0"/>
              </a:rPr>
              <a:t>retirement of an </a:t>
            </a:r>
            <a:r>
              <a:rPr lang="en-US" altLang="zh-CN" sz="2200" b="1" smtClean="0">
                <a:solidFill>
                  <a:schemeClr val="dk1"/>
                </a:solidFill>
                <a:latin typeface="Times New Roman" panose="02020603050405020304" pitchFamily="18" charset="0"/>
                <a:cs typeface="Times New Roman" panose="02020603050405020304" pitchFamily="18" charset="0"/>
              </a:rPr>
              <a:t>employee.</a:t>
            </a:r>
          </a:p>
          <a:p>
            <a:r>
              <a:rPr lang="en-US" altLang="zh-CN" sz="2200" b="1" smtClean="0">
                <a:solidFill>
                  <a:schemeClr val="dk1"/>
                </a:solidFill>
                <a:latin typeface="Times New Roman" panose="02020603050405020304" pitchFamily="18" charset="0"/>
                <a:cs typeface="Times New Roman" panose="02020603050405020304" pitchFamily="18" charset="0"/>
              </a:rPr>
              <a:t>   B</a:t>
            </a:r>
            <a:r>
              <a:rPr lang="en-US" altLang="zh-CN" sz="2200" b="1">
                <a:solidFill>
                  <a:schemeClr val="dk1"/>
                </a:solidFill>
                <a:latin typeface="Times New Roman" panose="02020603050405020304" pitchFamily="18" charset="0"/>
                <a:cs typeface="Times New Roman" panose="02020603050405020304" pitchFamily="18" charset="0"/>
              </a:rPr>
              <a:t>. The launch of a new product</a:t>
            </a:r>
            <a:r>
              <a:rPr lang="en-US" altLang="zh-CN" sz="2200" b="1" smtClean="0">
                <a:solidFill>
                  <a:schemeClr val="dk1"/>
                </a:solidFill>
                <a:latin typeface="Times New Roman" panose="02020603050405020304" pitchFamily="18" charset="0"/>
                <a:cs typeface="Times New Roman" panose="02020603050405020304" pitchFamily="18" charset="0"/>
              </a:rPr>
              <a:t>.</a:t>
            </a:r>
          </a:p>
          <a:p>
            <a:r>
              <a:rPr lang="en-US" altLang="zh-CN" sz="2200" b="1">
                <a:solidFill>
                  <a:schemeClr val="dk1"/>
                </a:solidFill>
                <a:latin typeface="Times New Roman" panose="02020603050405020304" pitchFamily="18" charset="0"/>
                <a:cs typeface="Times New Roman" panose="02020603050405020304" pitchFamily="18" charset="0"/>
              </a:rPr>
              <a:t> </a:t>
            </a:r>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The opening of a branch office.</a:t>
            </a:r>
            <a:endParaRPr lang="zh-CN" altLang="zh-CN" sz="2200" b="1">
              <a:solidFill>
                <a:schemeClr val="dk1"/>
              </a:solidFill>
              <a:latin typeface="Times New Roman" panose="02020603050405020304" pitchFamily="18" charset="0"/>
              <a:cs typeface="Times New Roman" panose="02020603050405020304" pitchFamily="18" charset="0"/>
            </a:endParaRPr>
          </a:p>
        </p:txBody>
      </p:sp>
      <p:pic>
        <p:nvPicPr>
          <p:cNvPr id="9" name="图片 8" title=""/>
          <p:cNvPicPr/>
          <p:nvPr/>
        </p:nvPicPr>
        <p:blipFill>
          <a:blip r:embed="rId3">
            <a:extLst>
              <a:ext uri="{28A0092B-C50C-407E-A947-70E740481C1C}">
                <a14:useLocalDpi xmlns:a14="http://schemas.microsoft.com/office/drawing/2010/main" val="0"/>
              </a:ext>
            </a:extLst>
          </a:blip>
          <a:stretch>
            <a:fillRect/>
          </a:stretch>
        </p:blipFill>
        <p:spPr>
          <a:xfrm>
            <a:off x="279998" y="514055"/>
            <a:ext cx="206826" cy="285716"/>
          </a:xfrm>
          <a:prstGeom prst="rect">
            <a:avLst/>
          </a:prstGeom>
        </p:spPr>
      </p:pic>
      <p:sp>
        <p:nvSpPr>
          <p:cNvPr id="10" name="文本框 3" title=""/>
          <p:cNvSpPr txBox="1"/>
          <p:nvPr>
            <p:custDataLst>
              <p:tags r:id="rId4"/>
            </p:custDataLst>
          </p:nvPr>
        </p:nvSpPr>
        <p:spPr>
          <a:xfrm>
            <a:off x="191194" y="5665805"/>
            <a:ext cx="11779131" cy="68223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3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】9. 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。事实细节题。女士询问这是否是个特殊场合，根据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Mr.Lee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Yes.It's to honor a staff member who is retiring next month."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可知，这场晚宴是为了送别一位下个月即将退休的员工。</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338938" y="1200362"/>
            <a:ext cx="11586026" cy="4011718"/>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3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7)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话题：酒店预订服</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务 词</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126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smtClean="0">
                <a:solidFill>
                  <a:schemeClr val="tx1"/>
                </a:solidFill>
                <a:latin typeface="Times New Roman" panose="02020603050405020304" pitchFamily="18" charset="0"/>
                <a:cs typeface="Times New Roman" panose="02020603050405020304" pitchFamily="18" charset="0"/>
              </a:rPr>
              <a:t>W</a:t>
            </a:r>
            <a:r>
              <a:rPr lang="en-US" altLang="zh-CN" sz="2000" b="1">
                <a:solidFill>
                  <a:schemeClr val="tx1"/>
                </a:solidFill>
                <a:latin typeface="Times New Roman" panose="02020603050405020304" pitchFamily="18" charset="0"/>
                <a:cs typeface="Times New Roman" panose="02020603050405020304" pitchFamily="18" charset="0"/>
              </a:rPr>
              <a:t>: Garden hotel. May I help you?</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Hello, this is Mike from Gilbert company. We'd like to book a dinner for next Tuesday</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Certainly, Mr. Lee. Could you let me know how many guests you're expecting?</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And if you have a </a:t>
            </a:r>
            <a:r>
              <a:rPr lang="en-US" altLang="zh-CN" sz="2000" b="1" u="sng">
                <a:solidFill>
                  <a:schemeClr val="tx1"/>
                </a:solidFill>
                <a:latin typeface="Times New Roman" panose="02020603050405020304" pitchFamily="18" charset="0"/>
                <a:cs typeface="Times New Roman" panose="02020603050405020304" pitchFamily="18" charset="0"/>
              </a:rPr>
              <a:t>specific budget</a:t>
            </a:r>
            <a:r>
              <a:rPr lang="en-US" altLang="zh-CN" sz="2000" b="1">
                <a:solidFill>
                  <a:schemeClr val="tx1"/>
                </a:solidFill>
                <a:latin typeface="Times New Roman" panose="02020603050405020304" pitchFamily="18" charset="0"/>
                <a:cs typeface="Times New Roman" panose="02020603050405020304" pitchFamily="18" charset="0"/>
              </a:rPr>
              <a:t> in mind?</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Yes, </a:t>
            </a:r>
            <a:r>
              <a:rPr lang="en-US" altLang="zh-CN" sz="2000" b="1">
                <a:solidFill>
                  <a:srgbClr val="FF0000"/>
                </a:solidFill>
                <a:latin typeface="Times New Roman" panose="02020603050405020304" pitchFamily="18" charset="0"/>
                <a:cs typeface="Times New Roman" panose="02020603050405020304" pitchFamily="18" charset="0"/>
              </a:rPr>
              <a:t>(8)we're expecting twenty people. And we're aiming for thirty pounds per person</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Understood. Is..occasion?</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(9) Yes. It's to honor a staff member who is </a:t>
            </a:r>
            <a:r>
              <a:rPr lang="en-US" altLang="zh-CN" sz="2000" b="1" u="sng">
                <a:solidFill>
                  <a:srgbClr val="FF0000"/>
                </a:solidFill>
                <a:latin typeface="Times New Roman" panose="02020603050405020304" pitchFamily="18" charset="0"/>
                <a:cs typeface="Times New Roman" panose="02020603050405020304" pitchFamily="18" charset="0"/>
              </a:rPr>
              <a:t>retiring</a:t>
            </a:r>
            <a:r>
              <a:rPr lang="en-US" altLang="zh-CN" sz="2000" b="1">
                <a:solidFill>
                  <a:srgbClr val="FF0000"/>
                </a:solidFill>
                <a:latin typeface="Times New Roman" panose="02020603050405020304" pitchFamily="18" charset="0"/>
                <a:cs typeface="Times New Roman" panose="02020603050405020304" pitchFamily="18" charset="0"/>
              </a:rPr>
              <a:t> next month</a:t>
            </a:r>
            <a:r>
              <a:rPr lang="en-US" altLang="zh-CN" sz="2000" b="1">
                <a:solidFill>
                  <a:schemeClr val="tx1"/>
                </a:solidFill>
                <a:latin typeface="Times New Roman" panose="02020603050405020304" pitchFamily="18" charset="0"/>
                <a:cs typeface="Times New Roman" panose="02020603050405020304" pitchFamily="18" charset="0"/>
              </a:rPr>
              <a: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That sounds. would you like the dinner to start?</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six thirty pm.</a:t>
            </a:r>
            <a:endParaRPr lang="zh-CN" altLang="zh-CN" sz="2000" b="1">
              <a:solidFill>
                <a:schemeClr val="tx1"/>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OK. </a:t>
            </a:r>
            <a:r>
              <a:rPr lang="en-US" altLang="zh-CN" sz="2000" b="1">
                <a:solidFill>
                  <a:srgbClr val="FF0000"/>
                </a:solidFill>
                <a:latin typeface="Times New Roman" panose="02020603050405020304" pitchFamily="18" charset="0"/>
                <a:cs typeface="Times New Roman" panose="02020603050405020304" pitchFamily="18" charset="0"/>
              </a:rPr>
              <a:t>(10)Would you like a </a:t>
            </a:r>
            <a:r>
              <a:rPr lang="en-US" altLang="zh-CN" sz="2000" b="1" u="sng">
                <a:solidFill>
                  <a:srgbClr val="FF0000"/>
                </a:solidFill>
                <a:latin typeface="Times New Roman" panose="02020603050405020304" pitchFamily="18" charset="0"/>
                <a:cs typeface="Times New Roman" panose="02020603050405020304" pitchFamily="18" charset="0"/>
              </a:rPr>
              <a:t>detailed menu</a:t>
            </a:r>
            <a:r>
              <a:rPr lang="en-US" altLang="zh-CN" sz="2000" b="1">
                <a:solidFill>
                  <a:srgbClr val="FF0000"/>
                </a:solidFill>
                <a:latin typeface="Times New Roman" panose="02020603050405020304" pitchFamily="18" charset="0"/>
                <a:cs typeface="Times New Roman" panose="02020603050405020304" pitchFamily="18" charset="0"/>
              </a:rPr>
              <a:t> with prices?</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M: </a:t>
            </a:r>
            <a:r>
              <a:rPr lang="en-US" altLang="zh-CN" sz="2000" b="1">
                <a:solidFill>
                  <a:srgbClr val="FF0000"/>
                </a:solidFill>
                <a:latin typeface="Times New Roman" panose="02020603050405020304" pitchFamily="18" charset="0"/>
                <a:cs typeface="Times New Roman" panose="02020603050405020304" pitchFamily="18" charset="0"/>
              </a:rPr>
              <a:t>(10)Yes. (10)Could you email it to Mike Lee at Gilbert.com?</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r>
              <a:rPr lang="en-US" altLang="zh-CN" sz="2000" b="1">
                <a:solidFill>
                  <a:schemeClr val="tx1"/>
                </a:solidFill>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(10)No problem. I'm on it.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275596" y="184566"/>
            <a:ext cx="11602079"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10. What is the woman going to do for Mr. Lee?</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Take his order.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Bring him the bill.		C. Email him a menu.</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320559" y="5370625"/>
            <a:ext cx="11604405"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 C</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。事实细节题。女士问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Mr.Lee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是否想要一份含有价格的详细菜单。</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Mr.Lee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让女士发送到指定邮箱。根据女士的话“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No problem. I'm on it.”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可知，女士马上处理这件事。由此可知，女士接下来要把菜单发邮件给</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Mr.Lee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7428818" y="604706"/>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82880" y="1130941"/>
            <a:ext cx="11779135" cy="3299743"/>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8)</a:t>
            </a:r>
            <a:r>
              <a:rPr lang="zh-CN" altLang="en-US" sz="2000" b="1" smtClean="0">
                <a:solidFill>
                  <a:srgbClr val="0000FF"/>
                </a:solidFill>
                <a:latin typeface="微软雅黑" panose="020b0503020204020204" pitchFamily="34" charset="-122"/>
                <a:ea typeface="微软雅黑" panose="020b0503020204020204" pitchFamily="34" charset="-122"/>
              </a:rPr>
              <a:t>  </a:t>
            </a:r>
            <a:endParaRPr lang="en-US" altLang="zh-CN" sz="2000" b="1" smtClean="0">
              <a:solidFill>
                <a:srgbClr val="0000FF"/>
              </a:solidFill>
              <a:latin typeface="微软雅黑" panose="020b0503020204020204" pitchFamily="34" charset="-122"/>
              <a:ea typeface="微软雅黑" panose="020b0503020204020204" pitchFamily="34" charset="-122"/>
            </a:endParaRPr>
          </a:p>
          <a:p>
            <a:pPr algn="just">
              <a:lnSpc>
                <a:spcPts val="2500"/>
              </a:lnSpc>
            </a:pPr>
            <a:r>
              <a:rPr lang="en-US" altLang="zh-CN" sz="2000" b="1">
                <a:latin typeface="Times New Roman" panose="02020603050405020304" pitchFamily="18" charset="0"/>
                <a:cs typeface="Times New Roman" panose="02020603050405020304" pitchFamily="18" charset="0"/>
              </a:rPr>
              <a:t>W: Dear listeners. </a:t>
            </a:r>
            <a:r>
              <a:rPr lang="en-US" altLang="zh-CN" sz="2000" b="1">
                <a:solidFill>
                  <a:srgbClr val="FF0000"/>
                </a:solidFill>
                <a:latin typeface="Times New Roman" panose="02020603050405020304" pitchFamily="18" charset="0"/>
                <a:cs typeface="Times New Roman" panose="02020603050405020304" pitchFamily="18" charset="0"/>
              </a:rPr>
              <a:t>(11) The song We've just heard was made with an </a:t>
            </a:r>
            <a:r>
              <a:rPr lang="en-US" altLang="zh-CN" sz="2000" b="1" u="sng">
                <a:solidFill>
                  <a:srgbClr val="FF0000"/>
                </a:solidFill>
                <a:latin typeface="Times New Roman" panose="02020603050405020304" pitchFamily="18" charset="0"/>
                <a:cs typeface="Times New Roman" panose="02020603050405020304" pitchFamily="18" charset="0"/>
              </a:rPr>
              <a:t>AI version</a:t>
            </a:r>
            <a:r>
              <a:rPr lang="en-US" altLang="zh-CN" sz="2000" b="1">
                <a:solidFill>
                  <a:srgbClr val="FF0000"/>
                </a:solidFill>
                <a:latin typeface="Times New Roman" panose="02020603050405020304" pitchFamily="18" charset="0"/>
                <a:cs typeface="Times New Roman" panose="02020603050405020304" pitchFamily="18" charset="0"/>
              </a:rPr>
              <a:t> of Jenny's singing voice.</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Yeah. Earlier this year, Jenny announced that she'd let anybody make a song using her AI voice as long as they were entitled and shared their profits with her. And in just a few weeks, more than three hundred new songs were created using her AI voice.</a:t>
            </a:r>
            <a:endParaRPr lang="zh-CN" altLang="zh-CN" sz="2000" b="1">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(12)Incredible. Just imagine: Jenny may have been at home, drinking a glass of wine, while her </a:t>
            </a:r>
            <a:r>
              <a:rPr lang="en-US" altLang="zh-CN" sz="2000" b="1" u="sng">
                <a:solidFill>
                  <a:srgbClr val="FF0000"/>
                </a:solidFill>
                <a:latin typeface="Times New Roman" panose="02020603050405020304" pitchFamily="18" charset="0"/>
                <a:cs typeface="Times New Roman" panose="02020603050405020304" pitchFamily="18" charset="0"/>
              </a:rPr>
              <a:t>AI clone voice</a:t>
            </a:r>
            <a:r>
              <a:rPr lang="en-US" altLang="zh-CN" sz="2000" b="1">
                <a:solidFill>
                  <a:srgbClr val="FF0000"/>
                </a:solidFill>
                <a:latin typeface="Times New Roman" panose="02020603050405020304" pitchFamily="18" charset="0"/>
                <a:cs typeface="Times New Roman" panose="02020603050405020304" pitchFamily="18" charset="0"/>
              </a:rPr>
              <a:t> worked hard to sing her songs. (11)(12) This could be an attractive new </a:t>
            </a:r>
            <a:r>
              <a:rPr lang="en-US" altLang="zh-CN" sz="2000" b="1" u="sng">
                <a:solidFill>
                  <a:srgbClr val="FF0000"/>
                </a:solidFill>
                <a:latin typeface="Times New Roman" panose="02020603050405020304" pitchFamily="18" charset="0"/>
                <a:cs typeface="Times New Roman" panose="02020603050405020304" pitchFamily="18" charset="0"/>
              </a:rPr>
              <a:t>business model</a:t>
            </a:r>
            <a:r>
              <a:rPr lang="en-US" altLang="zh-CN" sz="2000" b="1">
                <a:solidFill>
                  <a:srgbClr val="FF0000"/>
                </a:solidFill>
                <a:latin typeface="Times New Roman" panose="02020603050405020304" pitchFamily="18" charset="0"/>
                <a:cs typeface="Times New Roman" panose="02020603050405020304" pitchFamily="18" charset="0"/>
              </a:rPr>
              <a:t> for a pop star.</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Indeed. </a:t>
            </a:r>
            <a:r>
              <a:rPr lang="en-US" altLang="zh-CN" sz="2000" b="1">
                <a:solidFill>
                  <a:srgbClr val="FF0000"/>
                </a:solidFill>
                <a:latin typeface="Times New Roman" panose="02020603050405020304" pitchFamily="18" charset="0"/>
                <a:cs typeface="Times New Roman" panose="02020603050405020304" pitchFamily="18" charset="0"/>
              </a:rPr>
              <a:t>(11)(13)But some of our listeners called to say they want to hear Jenny's real voice. Now let's play one of her </a:t>
            </a:r>
            <a:r>
              <a:rPr lang="en-US" altLang="zh-CN" sz="2000" b="1" u="sng">
                <a:solidFill>
                  <a:srgbClr val="FF0000"/>
                </a:solidFill>
                <a:latin typeface="Times New Roman" panose="02020603050405020304" pitchFamily="18" charset="0"/>
                <a:cs typeface="Times New Roman" panose="02020603050405020304" pitchFamily="18" charset="0"/>
              </a:rPr>
              <a:t>greatest hits</a:t>
            </a:r>
            <a:r>
              <a:rPr lang="en-US" altLang="zh-CN" sz="2000" b="1">
                <a:solidFill>
                  <a:srgbClr val="FF0000"/>
                </a:solidFill>
                <a:latin typeface="Times New Roman" panose="02020603050405020304" pitchFamily="18" charset="0"/>
                <a:cs typeface="Times New Roman" panose="02020603050405020304" pitchFamily="18" charset="0"/>
              </a:rPr>
              <a:t>: Show me your love.</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82880" y="192878"/>
            <a:ext cx="11779135"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11. What does Jenny do?</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She's an AI engineer.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She's a pop singer.		C. She's a radio host.</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82880" y="4694430"/>
            <a:ext cx="11779135" cy="1823576"/>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】11. 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。推理判断题。根据女士的话“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The song We’ve just heard was made with an AI version of Jennie's singing voice."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可知，刚刚听到的这首歌是用</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技术制作的</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演唱版本。接下来还提到</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宣布，只要符合条件并愿意将收益分享给她，任何人都可以使用她的</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声音创作歌曲。女士认为这会成为对流行歌手有利的新型商业模式。最后男士还播放了</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的原声热歌。由此可以推断出，</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是一名流行歌手。</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714520" y="604441"/>
            <a:ext cx="206826" cy="285716"/>
          </a:xfrm>
          <a:prstGeom prst="rect">
            <a:avLst/>
          </a:prstGeom>
        </p:spPr>
      </p:pic>
      <p:sp>
        <p:nvSpPr>
          <p:cNvPr id="2" name="矩形 1" title=""/>
          <p:cNvSpPr/>
          <p:nvPr/>
        </p:nvSpPr>
        <p:spPr>
          <a:xfrm>
            <a:off x="1275925" y="1153903"/>
            <a:ext cx="8873915" cy="400110"/>
          </a:xfrm>
          <a:prstGeom prst="rect">
            <a:avLst/>
          </a:prstGeom>
        </p:spPr>
        <p:txBody>
          <a:bodyPr wrap="square">
            <a:spAutoFit/>
          </a:bodyPr>
          <a:lstStyle/>
          <a:p>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克隆歌手声音制作音乐；词数：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128</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142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207818" y="1709156"/>
            <a:ext cx="11707957" cy="3236918"/>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sz="24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8)</a:t>
            </a:r>
            <a:r>
              <a:rPr lang="zh-CN" altLang="en-US" sz="2000" b="1">
                <a:solidFill>
                  <a:srgbClr val="0000FF"/>
                </a:solidFill>
                <a:latin typeface="微软雅黑" panose="020b0503020204020204" pitchFamily="34" charset="-122"/>
                <a:ea typeface="微软雅黑" panose="020b0503020204020204" pitchFamily="34" charset="-122"/>
              </a:rPr>
              <a:t>  </a:t>
            </a:r>
            <a:endParaRPr lang="en-US" altLang="zh-CN" sz="2000" b="1">
              <a:solidFill>
                <a:srgbClr val="0000FF"/>
              </a:solidFill>
              <a:latin typeface="微软雅黑" panose="020b0503020204020204" pitchFamily="34" charset="-122"/>
              <a:ea typeface="微软雅黑" panose="020b0503020204020204" pitchFamily="34" charset="-122"/>
            </a:endParaRPr>
          </a:p>
          <a:p>
            <a:pPr algn="just">
              <a:lnSpc>
                <a:spcPts val="2500"/>
              </a:lnSpc>
            </a:pPr>
            <a:r>
              <a:rPr lang="en-US" altLang="zh-CN" sz="2000" b="1">
                <a:latin typeface="Times New Roman" panose="02020603050405020304" pitchFamily="18" charset="0"/>
                <a:cs typeface="Times New Roman" panose="02020603050405020304" pitchFamily="18" charset="0"/>
              </a:rPr>
              <a:t>W: Dear listeners. </a:t>
            </a:r>
            <a:r>
              <a:rPr lang="en-US" altLang="zh-CN" sz="2000" b="1">
                <a:solidFill>
                  <a:srgbClr val="FF0000"/>
                </a:solidFill>
                <a:latin typeface="Times New Roman" panose="02020603050405020304" pitchFamily="18" charset="0"/>
                <a:cs typeface="Times New Roman" panose="02020603050405020304" pitchFamily="18" charset="0"/>
              </a:rPr>
              <a:t>(11) The song We've just heard was made with an </a:t>
            </a:r>
            <a:r>
              <a:rPr lang="en-US" altLang="zh-CN" sz="2000" b="1" u="sng">
                <a:solidFill>
                  <a:srgbClr val="FF0000"/>
                </a:solidFill>
                <a:latin typeface="Times New Roman" panose="02020603050405020304" pitchFamily="18" charset="0"/>
                <a:cs typeface="Times New Roman" panose="02020603050405020304" pitchFamily="18" charset="0"/>
              </a:rPr>
              <a:t>AI version</a:t>
            </a:r>
            <a:r>
              <a:rPr lang="en-US" altLang="zh-CN" sz="2000" b="1">
                <a:solidFill>
                  <a:srgbClr val="FF0000"/>
                </a:solidFill>
                <a:latin typeface="Times New Roman" panose="02020603050405020304" pitchFamily="18" charset="0"/>
                <a:cs typeface="Times New Roman" panose="02020603050405020304" pitchFamily="18" charset="0"/>
              </a:rPr>
              <a:t> of Jenny's singing voice.</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Yeah. Earlier this year, Jenny announced that she'd let anybody make a song using her AI voice as long as they were entitled and shared their profits with her. And in just a few weeks, more than three hundred new songs were created using her AI voice.</a:t>
            </a:r>
            <a:endParaRPr lang="zh-CN" altLang="zh-CN" sz="2000" b="1">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(12)Incredible. Just imagine: Jenny may have been at home, drinking a glass of wine, while her </a:t>
            </a:r>
            <a:r>
              <a:rPr lang="en-US" altLang="zh-CN" sz="2000" b="1" u="sng">
                <a:solidFill>
                  <a:srgbClr val="FF0000"/>
                </a:solidFill>
                <a:latin typeface="Times New Roman" panose="02020603050405020304" pitchFamily="18" charset="0"/>
                <a:cs typeface="Times New Roman" panose="02020603050405020304" pitchFamily="18" charset="0"/>
              </a:rPr>
              <a:t>AI clone voice</a:t>
            </a:r>
            <a:r>
              <a:rPr lang="en-US" altLang="zh-CN" sz="2000" b="1">
                <a:solidFill>
                  <a:srgbClr val="FF0000"/>
                </a:solidFill>
                <a:latin typeface="Times New Roman" panose="02020603050405020304" pitchFamily="18" charset="0"/>
                <a:cs typeface="Times New Roman" panose="02020603050405020304" pitchFamily="18" charset="0"/>
              </a:rPr>
              <a:t> worked hard to sing her songs. (11)(12) This could be an attractive new </a:t>
            </a:r>
            <a:r>
              <a:rPr lang="en-US" altLang="zh-CN" sz="2000" b="1" u="sng">
                <a:solidFill>
                  <a:srgbClr val="FF0000"/>
                </a:solidFill>
                <a:latin typeface="Times New Roman" panose="02020603050405020304" pitchFamily="18" charset="0"/>
                <a:cs typeface="Times New Roman" panose="02020603050405020304" pitchFamily="18" charset="0"/>
              </a:rPr>
              <a:t>business model</a:t>
            </a:r>
            <a:r>
              <a:rPr lang="en-US" altLang="zh-CN" sz="2000" b="1">
                <a:solidFill>
                  <a:srgbClr val="FF0000"/>
                </a:solidFill>
                <a:latin typeface="Times New Roman" panose="02020603050405020304" pitchFamily="18" charset="0"/>
                <a:cs typeface="Times New Roman" panose="02020603050405020304" pitchFamily="18" charset="0"/>
              </a:rPr>
              <a:t> for a pop star.</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Indeed. </a:t>
            </a:r>
            <a:r>
              <a:rPr lang="en-US" altLang="zh-CN" sz="2000" b="1">
                <a:solidFill>
                  <a:srgbClr val="FF0000"/>
                </a:solidFill>
                <a:latin typeface="Times New Roman" panose="02020603050405020304" pitchFamily="18" charset="0"/>
                <a:cs typeface="Times New Roman" panose="02020603050405020304" pitchFamily="18" charset="0"/>
              </a:rPr>
              <a:t>(11)(13)But some of our listeners called to say they want to hear Jenny's real voice. Now let's play one of her </a:t>
            </a:r>
            <a:r>
              <a:rPr lang="en-US" altLang="zh-CN" sz="2000" b="1" u="sng">
                <a:solidFill>
                  <a:srgbClr val="FF0000"/>
                </a:solidFill>
                <a:latin typeface="Times New Roman" panose="02020603050405020304" pitchFamily="18" charset="0"/>
                <a:cs typeface="Times New Roman" panose="02020603050405020304" pitchFamily="18" charset="0"/>
              </a:rPr>
              <a:t>greatest hits</a:t>
            </a:r>
            <a:r>
              <a:rPr lang="en-US" altLang="zh-CN" sz="2000" b="1">
                <a:solidFill>
                  <a:srgbClr val="FF0000"/>
                </a:solidFill>
                <a:latin typeface="Times New Roman" panose="02020603050405020304" pitchFamily="18" charset="0"/>
                <a:cs typeface="Times New Roman" panose="02020603050405020304" pitchFamily="18" charset="0"/>
              </a:rPr>
              <a:t>: Show me your love.</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207818" y="129846"/>
            <a:ext cx="11705631" cy="1446550"/>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12. How does the woman feel about what Jenny has done?</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 It </a:t>
            </a:r>
            <a:r>
              <a:rPr lang="en-US" altLang="zh-CN" sz="2200" b="1">
                <a:solidFill>
                  <a:schemeClr val="dk1"/>
                </a:solidFill>
                <a:latin typeface="Times New Roman" panose="02020603050405020304" pitchFamily="18" charset="0"/>
                <a:cs typeface="Times New Roman" panose="02020603050405020304" pitchFamily="18" charset="0"/>
              </a:rPr>
              <a:t>might cause legal </a:t>
            </a:r>
            <a:r>
              <a:rPr lang="en-US" altLang="zh-CN" sz="2200" b="1" smtClean="0">
                <a:solidFill>
                  <a:schemeClr val="dk1"/>
                </a:solidFill>
                <a:latin typeface="Times New Roman" panose="02020603050405020304" pitchFamily="18" charset="0"/>
                <a:cs typeface="Times New Roman" panose="02020603050405020304" pitchFamily="18" charset="0"/>
              </a:rPr>
              <a:t>problems. </a:t>
            </a:r>
          </a:p>
          <a:p>
            <a:r>
              <a:rPr lang="en-US" altLang="zh-CN" sz="2200" b="1" smtClean="0">
                <a:solidFill>
                  <a:schemeClr val="dk1"/>
                </a:solidFill>
                <a:latin typeface="Times New Roman" panose="02020603050405020304" pitchFamily="18" charset="0"/>
                <a:cs typeface="Times New Roman" panose="02020603050405020304" pitchFamily="18" charset="0"/>
              </a:rPr>
              <a:t>     B</a:t>
            </a:r>
            <a:r>
              <a:rPr lang="en-US" altLang="zh-CN" sz="2200" b="1">
                <a:solidFill>
                  <a:schemeClr val="dk1"/>
                </a:solidFill>
                <a:latin typeface="Times New Roman" panose="02020603050405020304" pitchFamily="18" charset="0"/>
                <a:cs typeface="Times New Roman" panose="02020603050405020304" pitchFamily="18" charset="0"/>
              </a:rPr>
              <a:t>. It would benefit the community.</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It could be a profitable business.</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207818" y="5154677"/>
            <a:ext cx="11707957"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】12. C</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。观点态度题。男士说今年早些时候</a:t>
            </a: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宣布，只要获得授权并且和她分享收益，任何人都可以使用她的</a:t>
            </a: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声音创作歌曲，短短几周内，就有三百多首新歌借助她的</a:t>
            </a: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声音被创作出来。女士听完男士的话后非常惊讶，根据</a:t>
            </a: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I:il"..This could be an attractive new business model for a pop star, ", </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认为这会成为对流行歌手有利的新型商业模式。由此可推断出，女士认为</a:t>
            </a:r>
            <a:r>
              <a:rPr lang="en-US" altLang="zh-CN"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所做的是一种可能盈利的商业模式。</a:t>
            </a:r>
            <a:endPar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416602" y="1245718"/>
            <a:ext cx="206826" cy="285716"/>
          </a:xfrm>
          <a:prstGeom prst="rect">
            <a:avLst/>
          </a:prstGeom>
        </p:spPr>
      </p:pic>
      <p:sp>
        <p:nvSpPr>
          <p:cNvPr id="11" name="矩形 10" title=""/>
          <p:cNvSpPr/>
          <p:nvPr/>
        </p:nvSpPr>
        <p:spPr>
          <a:xfrm>
            <a:off x="1350740" y="1734734"/>
            <a:ext cx="8923791" cy="400110"/>
          </a:xfrm>
          <a:prstGeom prst="rect">
            <a:avLst/>
          </a:prstGeom>
        </p:spPr>
        <p:txBody>
          <a:bodyPr wrap="squar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克隆歌手声音制作音乐；词数：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128</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142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82880" y="1026178"/>
            <a:ext cx="11795760" cy="2938993"/>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8)</a:t>
            </a:r>
            <a:r>
              <a:rPr lang="zh-CN" altLang="en-US" sz="2000" b="1">
                <a:solidFill>
                  <a:srgbClr val="0000FF"/>
                </a:solidFill>
                <a:latin typeface="微软雅黑" panose="020b0503020204020204" pitchFamily="34" charset="-122"/>
                <a:ea typeface="微软雅黑" panose="020b0503020204020204" pitchFamily="34" charset="-122"/>
              </a:rPr>
              <a:t>  </a:t>
            </a:r>
            <a:endParaRPr lang="en-US" altLang="zh-CN" sz="2000" b="1">
              <a:solidFill>
                <a:srgbClr val="0000FF"/>
              </a:solidFill>
              <a:latin typeface="微软雅黑" panose="020b0503020204020204" pitchFamily="34" charset="-122"/>
              <a:ea typeface="微软雅黑" panose="020b0503020204020204" pitchFamily="34" charset="-122"/>
            </a:endParaRPr>
          </a:p>
          <a:p>
            <a:pPr algn="just">
              <a:lnSpc>
                <a:spcPts val="2500"/>
              </a:lnSpc>
            </a:pPr>
            <a:r>
              <a:rPr lang="en-US" altLang="zh-CN" sz="2000" b="1">
                <a:latin typeface="Times New Roman" panose="02020603050405020304" pitchFamily="18" charset="0"/>
                <a:cs typeface="Times New Roman" panose="02020603050405020304" pitchFamily="18" charset="0"/>
              </a:rPr>
              <a:t>W: Dear listeners. </a:t>
            </a:r>
            <a:r>
              <a:rPr lang="en-US" altLang="zh-CN" sz="2000" b="1">
                <a:solidFill>
                  <a:srgbClr val="FF0000"/>
                </a:solidFill>
                <a:latin typeface="Times New Roman" panose="02020603050405020304" pitchFamily="18" charset="0"/>
                <a:cs typeface="Times New Roman" panose="02020603050405020304" pitchFamily="18" charset="0"/>
              </a:rPr>
              <a:t>(11) The song We've just heard was made with an </a:t>
            </a:r>
            <a:r>
              <a:rPr lang="en-US" altLang="zh-CN" sz="2000" b="1" u="sng">
                <a:solidFill>
                  <a:srgbClr val="FF0000"/>
                </a:solidFill>
                <a:latin typeface="Times New Roman" panose="02020603050405020304" pitchFamily="18" charset="0"/>
                <a:cs typeface="Times New Roman" panose="02020603050405020304" pitchFamily="18" charset="0"/>
              </a:rPr>
              <a:t>AI version</a:t>
            </a:r>
            <a:r>
              <a:rPr lang="en-US" altLang="zh-CN" sz="2000" b="1">
                <a:solidFill>
                  <a:srgbClr val="FF0000"/>
                </a:solidFill>
                <a:latin typeface="Times New Roman" panose="02020603050405020304" pitchFamily="18" charset="0"/>
                <a:cs typeface="Times New Roman" panose="02020603050405020304" pitchFamily="18" charset="0"/>
              </a:rPr>
              <a:t> of Jenny's singing voice.</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Yeah. Earlier this year, Jenny announced that she'd let anybody make a song using her AI voice as long as they were entitled and shared their profits with her. And in just a few weeks, more than three hundred new songs were created using her AI voice.</a:t>
            </a:r>
            <a:endParaRPr lang="zh-CN" altLang="zh-CN" sz="2000" b="1">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W: </a:t>
            </a:r>
            <a:r>
              <a:rPr lang="en-US" altLang="zh-CN" sz="2000" b="1">
                <a:solidFill>
                  <a:srgbClr val="FF0000"/>
                </a:solidFill>
                <a:latin typeface="Times New Roman" panose="02020603050405020304" pitchFamily="18" charset="0"/>
                <a:cs typeface="Times New Roman" panose="02020603050405020304" pitchFamily="18" charset="0"/>
              </a:rPr>
              <a:t>(12)Incredible. Just imagine: Jenny may have been at home, drinking a glass of wine, while her </a:t>
            </a:r>
            <a:r>
              <a:rPr lang="en-US" altLang="zh-CN" sz="2000" b="1" u="sng">
                <a:solidFill>
                  <a:srgbClr val="FF0000"/>
                </a:solidFill>
                <a:latin typeface="Times New Roman" panose="02020603050405020304" pitchFamily="18" charset="0"/>
                <a:cs typeface="Times New Roman" panose="02020603050405020304" pitchFamily="18" charset="0"/>
              </a:rPr>
              <a:t>AI clone voice</a:t>
            </a:r>
            <a:r>
              <a:rPr lang="en-US" altLang="zh-CN" sz="2000" b="1">
                <a:solidFill>
                  <a:srgbClr val="FF0000"/>
                </a:solidFill>
                <a:latin typeface="Times New Roman" panose="02020603050405020304" pitchFamily="18" charset="0"/>
                <a:cs typeface="Times New Roman" panose="02020603050405020304" pitchFamily="18" charset="0"/>
              </a:rPr>
              <a:t> worked hard to sing her songs. (11)(12) This could be an attractive new </a:t>
            </a:r>
            <a:r>
              <a:rPr lang="en-US" altLang="zh-CN" sz="2000" b="1" u="sng">
                <a:solidFill>
                  <a:srgbClr val="FF0000"/>
                </a:solidFill>
                <a:latin typeface="Times New Roman" panose="02020603050405020304" pitchFamily="18" charset="0"/>
                <a:cs typeface="Times New Roman" panose="02020603050405020304" pitchFamily="18" charset="0"/>
              </a:rPr>
              <a:t>business model</a:t>
            </a:r>
            <a:r>
              <a:rPr lang="en-US" altLang="zh-CN" sz="2000" b="1">
                <a:solidFill>
                  <a:srgbClr val="FF0000"/>
                </a:solidFill>
                <a:latin typeface="Times New Roman" panose="02020603050405020304" pitchFamily="18" charset="0"/>
                <a:cs typeface="Times New Roman" panose="02020603050405020304" pitchFamily="18" charset="0"/>
              </a:rPr>
              <a:t> for a pop star.</a:t>
            </a:r>
            <a:endParaRPr lang="zh-CN" altLang="zh-CN" sz="2000" b="1">
              <a:solidFill>
                <a:srgbClr val="FF0000"/>
              </a:solidFill>
              <a:latin typeface="Times New Roman" panose="02020603050405020304" pitchFamily="18" charset="0"/>
              <a:cs typeface="Times New Roman" panose="02020603050405020304" pitchFamily="18" charset="0"/>
            </a:endParaRPr>
          </a:p>
          <a:p>
            <a:pPr algn="just">
              <a:lnSpc>
                <a:spcPts val="2500"/>
              </a:lnSpc>
            </a:pPr>
            <a:r>
              <a:rPr lang="en-US" altLang="zh-CN" sz="2000" b="1">
                <a:latin typeface="Times New Roman" panose="02020603050405020304" pitchFamily="18" charset="0"/>
                <a:cs typeface="Times New Roman" panose="02020603050405020304" pitchFamily="18" charset="0"/>
              </a:rPr>
              <a:t>M: Indeed. </a:t>
            </a:r>
            <a:r>
              <a:rPr lang="en-US" altLang="zh-CN" sz="2000" b="1">
                <a:solidFill>
                  <a:srgbClr val="FF0000"/>
                </a:solidFill>
                <a:latin typeface="Times New Roman" panose="02020603050405020304" pitchFamily="18" charset="0"/>
                <a:cs typeface="Times New Roman" panose="02020603050405020304" pitchFamily="18" charset="0"/>
              </a:rPr>
              <a:t>(11)(13)But some of our listeners called to say they want to hear Jenny's real voice. Now let's play one of her </a:t>
            </a:r>
            <a:r>
              <a:rPr lang="en-US" altLang="zh-CN" sz="2000" b="1" u="sng">
                <a:solidFill>
                  <a:srgbClr val="FF0000"/>
                </a:solidFill>
                <a:latin typeface="Times New Roman" panose="02020603050405020304" pitchFamily="18" charset="0"/>
                <a:cs typeface="Times New Roman" panose="02020603050405020304" pitchFamily="18" charset="0"/>
              </a:rPr>
              <a:t>greatest hits</a:t>
            </a:r>
            <a:r>
              <a:rPr lang="en-US" altLang="zh-CN" sz="2000" b="1">
                <a:solidFill>
                  <a:srgbClr val="FF0000"/>
                </a:solidFill>
                <a:latin typeface="Times New Roman" panose="02020603050405020304" pitchFamily="18" charset="0"/>
                <a:cs typeface="Times New Roman" panose="02020603050405020304" pitchFamily="18" charset="0"/>
              </a:rPr>
              <a:t>: Show me your love.</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82880" y="43249"/>
            <a:ext cx="11795760"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13. What will the man do next?</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Play a song.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Contact a listener.		C. Recommend a show.</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82880" y="4096006"/>
            <a:ext cx="11795760" cy="1015663"/>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]13. 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。事实细节题。根据男士的话“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But some of our listeners called to say they want to hear Jenny's real voice. Now let's play one of her greatest hits: Show me your love.”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可知，有不少听众来电，表示想听</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Jenny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原本的嗓音。他加下来为听众播放她的最人们的歌曲之一</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:《Show me your love》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512629" y="437488"/>
            <a:ext cx="206826" cy="285716"/>
          </a:xfrm>
          <a:prstGeom prst="rect">
            <a:avLst/>
          </a:prstGeom>
        </p:spPr>
      </p:pic>
      <p:sp>
        <p:nvSpPr>
          <p:cNvPr id="11" name="矩形 10" title=""/>
          <p:cNvSpPr/>
          <p:nvPr/>
        </p:nvSpPr>
        <p:spPr>
          <a:xfrm>
            <a:off x="1192797" y="1053234"/>
            <a:ext cx="8948730" cy="400110"/>
          </a:xfrm>
          <a:prstGeom prst="rect">
            <a:avLst/>
          </a:prstGeom>
        </p:spPr>
        <p:txBody>
          <a:bodyPr wrap="squar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克隆歌手声音制作音乐；词数：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128</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54″</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142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
        <p:nvSpPr>
          <p:cNvPr id="10" name="Rectangle 1" title=""/>
          <p:cNvSpPr>
            <a:spLocks noChangeArrowheads="1"/>
          </p:cNvSpPr>
          <p:nvPr/>
        </p:nvSpPr>
        <p:spPr bwMode="auto">
          <a:xfrm>
            <a:off x="182880" y="5163329"/>
            <a:ext cx="11795760" cy="1631216"/>
          </a:xfrm>
          <a:prstGeom prst="rect">
            <a:avLst/>
          </a:prstGeom>
          <a:solidFill>
            <a:schemeClr val="bg1"/>
          </a:solidFill>
          <a:ln w="19050"/>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spAutoFit/>
          </a:bodyPr>
          <a:lstStyle/>
          <a:p>
            <a:pPr lvl="0" fontAlgn="base">
              <a:spcBef>
                <a:spcPct val="0"/>
              </a:spcBef>
              <a:spcAft>
                <a:spcPct val="0"/>
              </a:spcAft>
            </a:pPr>
            <a:r>
              <a:rPr lang="zh-CN" altLang="zh-CN" sz="2000" b="1" smtClean="0">
                <a:solidFill>
                  <a:srgbClr val="00B0F0"/>
                </a:solidFill>
                <a:latin typeface="微软雅黑" panose="020b0503020204020204" pitchFamily="34" charset="-122"/>
                <a:ea typeface="微软雅黑" panose="020b0503020204020204" pitchFamily="34" charset="-122"/>
              </a:rPr>
              <a:t>【</a:t>
            </a:r>
            <a:r>
              <a:rPr lang="zh-CN" sz="2000" b="1">
                <a:solidFill>
                  <a:srgbClr val="00B0F0"/>
                </a:solidFill>
                <a:latin typeface="微软雅黑" panose="020b0503020204020204" pitchFamily="34" charset="-122"/>
                <a:ea typeface="微软雅黑" panose="020b0503020204020204" pitchFamily="34" charset="-122"/>
              </a:rPr>
              <a:t>语言知识</a:t>
            </a:r>
            <a:r>
              <a:rPr lang="zh-CN" altLang="zh-CN" sz="2000" b="1">
                <a:solidFill>
                  <a:srgbClr val="00B0F0"/>
                </a:solidFill>
                <a:latin typeface="微软雅黑" panose="020b0503020204020204" pitchFamily="34" charset="-122"/>
                <a:ea typeface="微软雅黑" panose="020b0503020204020204" pitchFamily="34" charset="-122"/>
              </a:rPr>
              <a:t>】</a:t>
            </a:r>
            <a:r>
              <a:rPr lang="en-US" altLang="zh-CN" sz="2000" b="1">
                <a:solidFill>
                  <a:srgbClr val="00B0F0"/>
                </a:solidFill>
                <a:latin typeface="微软雅黑" panose="020b0503020204020204" pitchFamily="34" charset="-122"/>
                <a:ea typeface="微软雅黑" panose="020b0503020204020204" pitchFamily="34" charset="-122"/>
              </a:rPr>
              <a:t>entitle vt  </a:t>
            </a:r>
            <a:r>
              <a:rPr lang="zh-CN" altLang="en-US" sz="2000" b="1">
                <a:solidFill>
                  <a:srgbClr val="00B0F0"/>
                </a:solidFill>
                <a:latin typeface="微软雅黑" panose="020b0503020204020204" pitchFamily="34" charset="-122"/>
                <a:ea typeface="微软雅黑" panose="020b0503020204020204" pitchFamily="34" charset="-122"/>
              </a:rPr>
              <a:t>使有权利；使有资格   </a:t>
            </a:r>
            <a:r>
              <a:rPr lang="en-US" altLang="zh-CN" sz="2000" b="1">
                <a:solidFill>
                  <a:srgbClr val="00B0F0"/>
                </a:solidFill>
                <a:latin typeface="微软雅黑" panose="020b0503020204020204" pitchFamily="34" charset="-122"/>
                <a:ea typeface="微软雅黑" panose="020b0503020204020204" pitchFamily="34" charset="-122"/>
              </a:rPr>
              <a:t>incredible adj [</a:t>
            </a:r>
            <a:r>
              <a:rPr lang="zh-CN" altLang="en-US" sz="2000" b="1">
                <a:solidFill>
                  <a:srgbClr val="00B0F0"/>
                </a:solidFill>
                <a:latin typeface="微软雅黑" panose="020b0503020204020204" pitchFamily="34" charset="-122"/>
                <a:ea typeface="微软雅黑" panose="020b0503020204020204" pitchFamily="34" charset="-122"/>
              </a:rPr>
              <a:t>非正式</a:t>
            </a:r>
            <a:r>
              <a:rPr lang="en-US" altLang="zh-CN" sz="2000" b="1">
                <a:solidFill>
                  <a:srgbClr val="00B0F0"/>
                </a:solidFill>
                <a:latin typeface="微软雅黑" panose="020b0503020204020204" pitchFamily="34" charset="-122"/>
                <a:ea typeface="微软雅黑" panose="020b0503020204020204" pitchFamily="34" charset="-122"/>
              </a:rPr>
              <a:t>]  </a:t>
            </a:r>
            <a:r>
              <a:rPr lang="zh-CN" altLang="en-US" sz="2000" b="1">
                <a:solidFill>
                  <a:srgbClr val="00B0F0"/>
                </a:solidFill>
                <a:latin typeface="微软雅黑" panose="020b0503020204020204" pitchFamily="34" charset="-122"/>
                <a:ea typeface="微软雅黑" panose="020b0503020204020204" pitchFamily="34" charset="-122"/>
              </a:rPr>
              <a:t>极好的</a:t>
            </a:r>
          </a:p>
          <a:p>
            <a:pPr lvl="0" fontAlgn="base">
              <a:spcBef>
                <a:spcPct val="0"/>
              </a:spcBef>
              <a:spcAft>
                <a:spcPct val="0"/>
              </a:spcAft>
            </a:pPr>
            <a:r>
              <a:rPr lang="en-US" altLang="zh-CN" sz="2000" b="1">
                <a:solidFill>
                  <a:srgbClr val="00B0F0"/>
                </a:solidFill>
                <a:latin typeface="微软雅黑" panose="020b0503020204020204" pitchFamily="34" charset="-122"/>
                <a:ea typeface="微软雅黑" panose="020b0503020204020204" pitchFamily="34" charset="-122"/>
              </a:rPr>
              <a:t>clone n [C]  </a:t>
            </a:r>
            <a:r>
              <a:rPr lang="zh-CN" altLang="en-US" sz="2000" b="1">
                <a:solidFill>
                  <a:srgbClr val="00B0F0"/>
                </a:solidFill>
                <a:latin typeface="微软雅黑" panose="020b0503020204020204" pitchFamily="34" charset="-122"/>
                <a:ea typeface="微软雅黑" panose="020b0503020204020204" pitchFamily="34" charset="-122"/>
              </a:rPr>
              <a:t>复制品；翻版   </a:t>
            </a:r>
            <a:r>
              <a:rPr lang="zh-CN" altLang="en-US" sz="2000" b="1" smtClean="0">
                <a:solidFill>
                  <a:srgbClr val="00B0F0"/>
                </a:solidFill>
                <a:latin typeface="微软雅黑" panose="020b0503020204020204" pitchFamily="34" charset="-122"/>
                <a:ea typeface="微软雅黑" panose="020b0503020204020204" pitchFamily="34" charset="-122"/>
              </a:rPr>
              <a:t>                          </a:t>
            </a:r>
            <a:r>
              <a:rPr lang="en-US" altLang="zh-CN" sz="2000" b="1" smtClean="0">
                <a:solidFill>
                  <a:srgbClr val="00B0F0"/>
                </a:solidFill>
                <a:latin typeface="微软雅黑" panose="020b0503020204020204" pitchFamily="34" charset="-122"/>
                <a:ea typeface="微软雅黑" panose="020b0503020204020204" pitchFamily="34" charset="-122"/>
              </a:rPr>
              <a:t>profitable </a:t>
            </a:r>
            <a:r>
              <a:rPr lang="en-US" altLang="zh-CN" sz="2000" b="1">
                <a:solidFill>
                  <a:srgbClr val="00B0F0"/>
                </a:solidFill>
                <a:latin typeface="微软雅黑" panose="020b0503020204020204" pitchFamily="34" charset="-122"/>
                <a:ea typeface="微软雅黑" panose="020b0503020204020204" pitchFamily="34" charset="-122"/>
              </a:rPr>
              <a:t>adj  </a:t>
            </a:r>
            <a:r>
              <a:rPr lang="zh-CN" altLang="en-US" sz="2000" b="1">
                <a:solidFill>
                  <a:srgbClr val="00B0F0"/>
                </a:solidFill>
                <a:latin typeface="微软雅黑" panose="020b0503020204020204" pitchFamily="34" charset="-122"/>
                <a:ea typeface="微软雅黑" panose="020b0503020204020204" pitchFamily="34" charset="-122"/>
              </a:rPr>
              <a:t>赢利的；有利可图的</a:t>
            </a:r>
          </a:p>
          <a:p>
            <a:pPr lvl="0" fontAlgn="base">
              <a:spcBef>
                <a:spcPct val="0"/>
              </a:spcBef>
              <a:spcAft>
                <a:spcPct val="0"/>
              </a:spcAft>
            </a:pPr>
            <a:r>
              <a:rPr lang="en-US" altLang="zh-CN" sz="2000" b="1">
                <a:solidFill>
                  <a:srgbClr val="00B0F0"/>
                </a:solidFill>
                <a:latin typeface="微软雅黑" panose="020b0503020204020204" pitchFamily="34" charset="-122"/>
                <a:ea typeface="微软雅黑" panose="020b0503020204020204" pitchFamily="34" charset="-122"/>
              </a:rPr>
              <a:t>version</a:t>
            </a:r>
            <a:r>
              <a:rPr lang="zh-CN" altLang="en-US" sz="2000" b="1">
                <a:solidFill>
                  <a:srgbClr val="00B0F0"/>
                </a:solidFill>
                <a:latin typeface="微软雅黑" panose="020b0503020204020204" pitchFamily="34" charset="-122"/>
                <a:ea typeface="微软雅黑" panose="020b0503020204020204" pitchFamily="34" charset="-122"/>
              </a:rPr>
              <a:t>版本                        </a:t>
            </a:r>
            <a:r>
              <a:rPr lang="zh-CN" altLang="en-US" sz="2000" b="1" smtClean="0">
                <a:solidFill>
                  <a:srgbClr val="00B0F0"/>
                </a:solidFill>
                <a:latin typeface="微软雅黑" panose="020b0503020204020204" pitchFamily="34" charset="-122"/>
                <a:ea typeface="微软雅黑" panose="020b0503020204020204" pitchFamily="34" charset="-122"/>
              </a:rPr>
              <a:t>                          </a:t>
            </a:r>
            <a:r>
              <a:rPr lang="en-US" altLang="zh-CN" sz="2000" b="1" smtClean="0">
                <a:solidFill>
                  <a:srgbClr val="00B0F0"/>
                </a:solidFill>
                <a:latin typeface="微软雅黑" panose="020b0503020204020204" pitchFamily="34" charset="-122"/>
                <a:ea typeface="微软雅黑" panose="020b0503020204020204" pitchFamily="34" charset="-122"/>
              </a:rPr>
              <a:t>Share </a:t>
            </a:r>
            <a:r>
              <a:rPr lang="en-US" altLang="zh-CN" sz="2000" b="1">
                <a:solidFill>
                  <a:srgbClr val="00B0F0"/>
                </a:solidFill>
                <a:latin typeface="微软雅黑" panose="020b0503020204020204" pitchFamily="34" charset="-122"/>
                <a:ea typeface="微软雅黑" panose="020b0503020204020204" pitchFamily="34" charset="-122"/>
              </a:rPr>
              <a:t>profits</a:t>
            </a:r>
            <a:r>
              <a:rPr lang="zh-CN" altLang="en-US" sz="2000" b="1">
                <a:solidFill>
                  <a:srgbClr val="00B0F0"/>
                </a:solidFill>
                <a:latin typeface="微软雅黑" panose="020b0503020204020204" pitchFamily="34" charset="-122"/>
                <a:ea typeface="微软雅黑" panose="020b0503020204020204" pitchFamily="34" charset="-122"/>
              </a:rPr>
              <a:t>分享利润</a:t>
            </a:r>
          </a:p>
          <a:p>
            <a:pPr lvl="0" fontAlgn="base">
              <a:spcBef>
                <a:spcPct val="0"/>
              </a:spcBef>
              <a:spcAft>
                <a:spcPct val="0"/>
              </a:spcAft>
            </a:pPr>
            <a:r>
              <a:rPr lang="en-US" altLang="zh-CN" sz="2000" b="1" smtClean="0">
                <a:solidFill>
                  <a:srgbClr val="00B0F0"/>
                </a:solidFill>
                <a:latin typeface="微软雅黑" panose="020b0503020204020204" pitchFamily="34" charset="-122"/>
                <a:ea typeface="微软雅黑" panose="020b0503020204020204" pitchFamily="34" charset="-122"/>
              </a:rPr>
              <a:t>AI </a:t>
            </a:r>
            <a:r>
              <a:rPr lang="en-US" altLang="zh-CN" sz="2000" b="1">
                <a:solidFill>
                  <a:srgbClr val="00B0F0"/>
                </a:solidFill>
                <a:latin typeface="微软雅黑" panose="020b0503020204020204" pitchFamily="34" charset="-122"/>
                <a:ea typeface="微软雅黑" panose="020b0503020204020204" pitchFamily="34" charset="-122"/>
              </a:rPr>
              <a:t>clone voice AI</a:t>
            </a:r>
            <a:r>
              <a:rPr lang="zh-CN" altLang="en-US" sz="2000" b="1">
                <a:solidFill>
                  <a:srgbClr val="00B0F0"/>
                </a:solidFill>
                <a:latin typeface="微软雅黑" panose="020b0503020204020204" pitchFamily="34" charset="-122"/>
                <a:ea typeface="微软雅黑" panose="020b0503020204020204" pitchFamily="34" charset="-122"/>
              </a:rPr>
              <a:t>克隆声</a:t>
            </a:r>
            <a:r>
              <a:rPr lang="zh-CN" altLang="en-US" sz="2000" b="1" smtClean="0">
                <a:solidFill>
                  <a:srgbClr val="00B0F0"/>
                </a:solidFill>
                <a:latin typeface="微软雅黑" panose="020b0503020204020204" pitchFamily="34" charset="-122"/>
                <a:ea typeface="微软雅黑" panose="020b0503020204020204" pitchFamily="34" charset="-122"/>
              </a:rPr>
              <a:t>音                            </a:t>
            </a:r>
            <a:r>
              <a:rPr lang="en-US" altLang="zh-CN" sz="2000" b="1" smtClean="0">
                <a:solidFill>
                  <a:srgbClr val="00B0F0"/>
                </a:solidFill>
                <a:latin typeface="微软雅黑" panose="020b0503020204020204" pitchFamily="34" charset="-122"/>
                <a:ea typeface="微软雅黑" panose="020b0503020204020204" pitchFamily="34" charset="-122"/>
              </a:rPr>
              <a:t>Business </a:t>
            </a:r>
            <a:r>
              <a:rPr lang="en-US" altLang="zh-CN" sz="2000" b="1">
                <a:solidFill>
                  <a:srgbClr val="00B0F0"/>
                </a:solidFill>
                <a:latin typeface="微软雅黑" panose="020b0503020204020204" pitchFamily="34" charset="-122"/>
                <a:ea typeface="微软雅黑" panose="020b0503020204020204" pitchFamily="34" charset="-122"/>
              </a:rPr>
              <a:t>model</a:t>
            </a:r>
            <a:r>
              <a:rPr lang="zh-CN" altLang="en-US" sz="2000" b="1">
                <a:solidFill>
                  <a:srgbClr val="00B0F0"/>
                </a:solidFill>
                <a:latin typeface="微软雅黑" panose="020b0503020204020204" pitchFamily="34" charset="-122"/>
                <a:ea typeface="微软雅黑" panose="020b0503020204020204" pitchFamily="34" charset="-122"/>
              </a:rPr>
              <a:t>商业模式</a:t>
            </a:r>
          </a:p>
          <a:p>
            <a:pPr lvl="0" fontAlgn="base">
              <a:spcBef>
                <a:spcPct val="0"/>
              </a:spcBef>
              <a:spcAft>
                <a:spcPct val="0"/>
              </a:spcAft>
            </a:pPr>
            <a:r>
              <a:rPr lang="en-US" altLang="zh-CN" sz="2000" b="1" smtClean="0">
                <a:solidFill>
                  <a:srgbClr val="00B0F0"/>
                </a:solidFill>
                <a:latin typeface="微软雅黑" panose="020b0503020204020204" pitchFamily="34" charset="-122"/>
                <a:ea typeface="微软雅黑" panose="020b0503020204020204" pitchFamily="34" charset="-122"/>
              </a:rPr>
              <a:t>greatest </a:t>
            </a:r>
            <a:r>
              <a:rPr lang="en-US" altLang="zh-CN" sz="2000" b="1">
                <a:solidFill>
                  <a:srgbClr val="00B0F0"/>
                </a:solidFill>
                <a:latin typeface="微软雅黑" panose="020b0503020204020204" pitchFamily="34" charset="-122"/>
                <a:ea typeface="微软雅黑" panose="020b0503020204020204" pitchFamily="34" charset="-122"/>
              </a:rPr>
              <a:t>hits </a:t>
            </a:r>
            <a:r>
              <a:rPr lang="zh-CN" altLang="en-US" sz="2000" b="1">
                <a:solidFill>
                  <a:srgbClr val="00B0F0"/>
                </a:solidFill>
                <a:latin typeface="微软雅黑" panose="020b0503020204020204" pitchFamily="34" charset="-122"/>
                <a:ea typeface="微软雅黑" panose="020b0503020204020204" pitchFamily="34" charset="-122"/>
              </a:rPr>
              <a:t>最热门的歌曲</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p:bldP spid="10" grpId="0" animBg="1"/>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52400" y="1605834"/>
            <a:ext cx="11820525" cy="342336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2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9) </a:t>
            </a:r>
          </a:p>
          <a:p>
            <a:pPr algn="just"/>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M: Dr. Evans, you just said that these ancient texts are actually the recipes from ancient Babylonia. Can you tell us more?</a:t>
            </a:r>
            <a:endParaRPr lang="zh-CN" altLang="zh-CN" sz="20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(14) Ancient Babylonia is home to many of the things that we use in our cooking today. I bet about fifty percent of the energy you need every day comes from vegetables or animals that originated in this area.</a:t>
            </a:r>
            <a:endParaRPr lang="zh-CN"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M: Why have these texts taken so long to </a:t>
            </a:r>
            <a:r>
              <a:rPr lang="en-US" altLang="zh-CN" sz="2000" b="1" u="sng">
                <a:latin typeface="Times New Roman" panose="02020603050405020304" pitchFamily="18" charset="0"/>
                <a:ea typeface="微软雅黑" panose="020b0503020204020204" pitchFamily="34" charset="-122"/>
                <a:cs typeface="Times New Roman" panose="02020603050405020304" pitchFamily="18" charset="0"/>
              </a:rPr>
              <a:t>come to light</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(15) These ancient texts have been known since the 1920s but were thought to be </a:t>
            </a:r>
            <a:r>
              <a:rPr lang="en-US" altLang="zh-CN" sz="20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medical text</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 (16) In the 1940s, Mary Hussey, an American scholar,suggested that they might be about food. But people didn't believe her until French author, Jean Bottero, in the 1980s was asked to write an article about cooking in the past. He had heard about the texts, so he went to </a:t>
            </a:r>
            <a:r>
              <a:rPr lang="en-US" altLang="zh-CN" sz="20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Yale Universit</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 and found out that they were indeed about food.</a:t>
            </a:r>
            <a:endParaRPr lang="zh-CN"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10" title=""/>
          <p:cNvSpPr txBox="1"/>
          <p:nvPr>
            <p:custDataLst>
              <p:tags r:id="rId2"/>
            </p:custDataLst>
          </p:nvPr>
        </p:nvSpPr>
        <p:spPr>
          <a:xfrm>
            <a:off x="152400" y="97628"/>
            <a:ext cx="11820525" cy="1446550"/>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14. What does Evans say about ancient Babylonia?</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It is rich in energy resources.</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B</a:t>
            </a:r>
            <a:r>
              <a:rPr lang="en-US" altLang="zh-CN" sz="2200" b="1">
                <a:solidFill>
                  <a:schemeClr val="dk1"/>
                </a:solidFill>
                <a:latin typeface="Times New Roman" panose="02020603050405020304" pitchFamily="18" charset="0"/>
                <a:cs typeface="Times New Roman" panose="02020603050405020304" pitchFamily="18" charset="0"/>
              </a:rPr>
              <a:t>. It is home to several languages.</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It is the birthplace of many foods.</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52400" y="5158813"/>
            <a:ext cx="11861580"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]14.C</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 </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Dr. Evans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Ancient Babylonia is home to many of the things that we use in our cooking today. I bet about fifty percent of the energy you need every day comes from vegetables or animals that originated in this area."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知，如今我们烹饪所用的不少食材都源于古巴比伦。她认为在人们每日摄取的能量中，约有一半来自于古巴比伦的动植物。由此可知，古巴比伦是诸多食材的发源地。</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17889" y="1209246"/>
            <a:ext cx="206826" cy="285716"/>
          </a:xfrm>
          <a:prstGeom prst="rect">
            <a:avLst/>
          </a:prstGeom>
        </p:spPr>
      </p:pic>
      <p:sp>
        <p:nvSpPr>
          <p:cNvPr id="2" name="矩形 1" title=""/>
          <p:cNvSpPr/>
          <p:nvPr/>
        </p:nvSpPr>
        <p:spPr>
          <a:xfrm>
            <a:off x="1151236" y="1605834"/>
            <a:ext cx="8066632" cy="400110"/>
          </a:xfrm>
          <a:prstGeom prst="rect">
            <a:avLst/>
          </a:prstGeom>
        </p:spPr>
        <p:txBody>
          <a:bodyPr wrap="non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话题：古巴比伦食</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谱发</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现词数：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145</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05″</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134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52400" y="1076424"/>
            <a:ext cx="11887200" cy="3354260"/>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2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9) </a:t>
            </a:r>
          </a:p>
          <a:p>
            <a:pPr algn="just"/>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M: Dr. Evans, you just said that these ancient texts are actually the recipes from ancient Babylonia. Can you tell us more?</a:t>
            </a:r>
            <a:endParaRPr lang="zh-CN" altLang="zh-CN" sz="200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(14) Ancient Babylonia is home to many of the things that we use in our cooking today. I bet about fifty percent of the energy you need every day comes from vegetables or animals that originated in this area.</a:t>
            </a:r>
            <a:endParaRPr lang="zh-CN"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M: Why have these texts taken so long to </a:t>
            </a:r>
            <a:r>
              <a:rPr lang="en-US" altLang="zh-CN" sz="2000" u="sng">
                <a:latin typeface="Times New Roman" panose="02020603050405020304" pitchFamily="18" charset="0"/>
                <a:ea typeface="微软雅黑" panose="020b0503020204020204" pitchFamily="34" charset="-122"/>
                <a:cs typeface="Times New Roman" panose="02020603050405020304" pitchFamily="18" charset="0"/>
              </a:rPr>
              <a:t>come to light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(15) These ancient texts have been known since the 1920s but were thought to be </a:t>
            </a:r>
            <a:r>
              <a:rPr lang="en-US" altLang="zh-CN" sz="20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medical text</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 (16) In the 1940s, Mary Hussey, an American scholar,suggested that they might be about food. But people didn't believe her until French author, Jean Bottero, in the 1980s was asked to write an article about cooking in the past. He had heard about the texts, so he went to </a:t>
            </a:r>
            <a:r>
              <a:rPr lang="en-US" altLang="zh-CN" sz="2000"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Yale Universit</a:t>
            </a:r>
            <a:r>
              <a:rPr lang="en-US" altLang="zh-CN" sz="2000"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 and found out that they were indeed about food</a:t>
            </a:r>
            <a:r>
              <a:rPr lang="en-US"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10" title=""/>
          <p:cNvSpPr txBox="1"/>
          <p:nvPr>
            <p:custDataLst>
              <p:tags r:id="rId2"/>
            </p:custDataLst>
          </p:nvPr>
        </p:nvSpPr>
        <p:spPr>
          <a:xfrm>
            <a:off x="152400" y="97628"/>
            <a:ext cx="11820525"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15. What did people initially think the ancient texts were about?</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Cookery. 		</a:t>
            </a:r>
            <a:r>
              <a:rPr lang="en-US" altLang="zh-CN" sz="2200" b="1" smtClean="0">
                <a:solidFill>
                  <a:schemeClr val="dk1"/>
                </a:solidFill>
                <a:latin typeface="Times New Roman" panose="02020603050405020304" pitchFamily="18" charset="0"/>
                <a:cs typeface="Times New Roman" panose="02020603050405020304" pitchFamily="18" charset="0"/>
              </a:rPr>
              <a:t>B</a:t>
            </a:r>
            <a:r>
              <a:rPr lang="en-US" altLang="zh-CN" sz="2200" b="1">
                <a:solidFill>
                  <a:schemeClr val="dk1"/>
                </a:solidFill>
                <a:latin typeface="Times New Roman" panose="02020603050405020304" pitchFamily="18" charset="0"/>
                <a:cs typeface="Times New Roman" panose="02020603050405020304" pitchFamily="18" charset="0"/>
              </a:rPr>
              <a:t>. Medicine.		</a:t>
            </a:r>
            <a:r>
              <a:rPr lang="en-US" altLang="zh-CN" sz="2200" b="1" smtClean="0">
                <a:solidFill>
                  <a:schemeClr val="dk1"/>
                </a:solidFill>
                <a:latin typeface="Times New Roman" panose="02020603050405020304" pitchFamily="18" charset="0"/>
                <a:cs typeface="Times New Roman" panose="02020603050405020304" pitchFamily="18" charset="0"/>
              </a:rPr>
              <a:t>C</a:t>
            </a:r>
            <a:r>
              <a:rPr lang="en-US" altLang="zh-CN" sz="2200" b="1">
                <a:solidFill>
                  <a:schemeClr val="dk1"/>
                </a:solidFill>
                <a:latin typeface="Times New Roman" panose="02020603050405020304" pitchFamily="18" charset="0"/>
                <a:cs typeface="Times New Roman" panose="02020603050405020304" pitchFamily="18" charset="0"/>
              </a:rPr>
              <a:t>. Education.</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78020" y="4640039"/>
            <a:ext cx="11861580" cy="75911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 </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Dr. Evans </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的话“</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These ancient texts have been known since the 1920s but were thought to be medical texts."</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可知，这些古籍白</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年代就被发现，但被认为是医学文献。</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648176" y="496572"/>
            <a:ext cx="206826" cy="285716"/>
          </a:xfrm>
          <a:prstGeom prst="rect">
            <a:avLst/>
          </a:prstGeom>
        </p:spPr>
      </p:pic>
      <p:sp>
        <p:nvSpPr>
          <p:cNvPr id="10" name="矩形 9" title=""/>
          <p:cNvSpPr/>
          <p:nvPr/>
        </p:nvSpPr>
        <p:spPr>
          <a:xfrm>
            <a:off x="1230566" y="1076424"/>
            <a:ext cx="7194598" cy="369332"/>
          </a:xfrm>
          <a:prstGeom prst="rect">
            <a:avLst/>
          </a:prstGeom>
        </p:spPr>
        <p:txBody>
          <a:bodyPr wrap="none">
            <a:spAutoFit/>
          </a:bodyPr>
          <a:lstStyle/>
          <a:p>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话题：古巴比伦食谱发现词数：</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145</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 05″</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134 </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41316" y="1607623"/>
            <a:ext cx="11820525" cy="2815923"/>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200"/>
              </a:lnSpc>
            </a:pPr>
            <a:r>
              <a:rPr lang="en-US"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9) </a:t>
            </a:r>
          </a:p>
          <a:p>
            <a:pPr algn="just"/>
            <a:r>
              <a:rPr lang="en-US" altLang="zh-CN" b="1">
                <a:latin typeface="Times New Roman" panose="02020603050405020304" pitchFamily="18" charset="0"/>
                <a:ea typeface="微软雅黑" panose="020b0503020204020204" pitchFamily="34" charset="-122"/>
                <a:cs typeface="Times New Roman" panose="02020603050405020304" pitchFamily="18" charset="0"/>
              </a:rPr>
              <a:t>M: Dr. Evans, you just said that these ancient texts are actually the recipes from ancient Babylonia. Can you tell us more?</a:t>
            </a:r>
            <a:endParaRPr lang="zh-CN" altLang="zh-CN"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b="1">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(14) Ancient Babylonia is home to many of the things that we use in our cooking today. I bet about fifty percent of the energy you need every day comes from vegetables or animals that originated in this area.</a:t>
            </a:r>
            <a:endParaRPr lang="zh-CN"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b="1">
                <a:latin typeface="Times New Roman" panose="02020603050405020304" pitchFamily="18" charset="0"/>
                <a:ea typeface="微软雅黑" panose="020b0503020204020204" pitchFamily="34" charset="-122"/>
                <a:cs typeface="Times New Roman" panose="02020603050405020304" pitchFamily="18" charset="0"/>
              </a:rPr>
              <a:t>M: Why have these texts taken so long to </a:t>
            </a:r>
            <a:r>
              <a:rPr lang="en-US" altLang="zh-CN" b="1" u="sng">
                <a:latin typeface="Times New Roman" panose="02020603050405020304" pitchFamily="18" charset="0"/>
                <a:ea typeface="微软雅黑" panose="020b0503020204020204" pitchFamily="34" charset="-122"/>
                <a:cs typeface="Times New Roman" panose="02020603050405020304" pitchFamily="18" charset="0"/>
              </a:rPr>
              <a:t>come to light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b="1">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b="1">
                <a:latin typeface="Times New Roman" panose="02020603050405020304" pitchFamily="18" charset="0"/>
                <a:ea typeface="微软雅黑" panose="020b0503020204020204" pitchFamily="34" charset="-122"/>
                <a:cs typeface="Times New Roman" panose="02020603050405020304" pitchFamily="18" charset="0"/>
              </a:rPr>
              <a:t>W: </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(15) These ancient texts have been known since the 1920s but were thought to be </a:t>
            </a:r>
            <a:r>
              <a:rPr lang="en-US" altLang="zh-CN"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medical text</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 (16) In the 1940s, Mary Hussey, an American scholar,suggested that they might be about food. But people didn't believe her until French author, Jean Bottero, in the 1980s was asked to write an article about cooking in the past. He had heard about the texts, so he went to </a:t>
            </a:r>
            <a:r>
              <a:rPr lang="en-US" altLang="zh-CN" b="1" u="sng">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Yale Universit</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 and found out that they were indeed about food.</a:t>
            </a:r>
            <a:endParaRPr lang="zh-CN"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10" title=""/>
          <p:cNvSpPr txBox="1"/>
          <p:nvPr>
            <p:custDataLst>
              <p:tags r:id="rId2"/>
            </p:custDataLst>
          </p:nvPr>
        </p:nvSpPr>
        <p:spPr>
          <a:xfrm>
            <a:off x="152400" y="61052"/>
            <a:ext cx="11820525" cy="1446550"/>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16. What do we know about the French author Jean Bottero?</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He proved Mary Hussey right.</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B</a:t>
            </a:r>
            <a:r>
              <a:rPr lang="en-US" altLang="zh-CN" sz="2200" b="1">
                <a:solidFill>
                  <a:schemeClr val="dk1"/>
                </a:solidFill>
                <a:latin typeface="Times New Roman" panose="02020603050405020304" pitchFamily="18" charset="0"/>
                <a:cs typeface="Times New Roman" panose="02020603050405020304" pitchFamily="18" charset="0"/>
              </a:rPr>
              <a:t>. He taught history at Yale University.</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C</a:t>
            </a:r>
            <a:r>
              <a:rPr lang="en-US" altLang="zh-CN" sz="2200" b="1">
                <a:solidFill>
                  <a:schemeClr val="dk1"/>
                </a:solidFill>
                <a:latin typeface="Times New Roman" panose="02020603050405020304" pitchFamily="18" charset="0"/>
                <a:cs typeface="Times New Roman" panose="02020603050405020304" pitchFamily="18" charset="0"/>
              </a:rPr>
              <a:t>. He was the first to translate the texts.</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52400" y="4493570"/>
            <a:ext cx="11831609" cy="1105367"/>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分析</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】16. 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考查考生获取事实性具体信息的能力。根据女士所说“</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Apart from that, there’s a list of books that you’re required to read. Now let’s have a close look at it.</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”（除此之外，还有一份你需要阅读的书单。现在让我们仔细看看这份书单吧。）可知，摩尔教授接下来将带学生们浏览阅读清单。故选</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88894" y="820903"/>
            <a:ext cx="206826" cy="285716"/>
          </a:xfrm>
          <a:prstGeom prst="rect">
            <a:avLst/>
          </a:prstGeom>
        </p:spPr>
      </p:pic>
      <p:sp>
        <p:nvSpPr>
          <p:cNvPr id="11" name="矩形 10" title=""/>
          <p:cNvSpPr/>
          <p:nvPr/>
        </p:nvSpPr>
        <p:spPr>
          <a:xfrm>
            <a:off x="1080937" y="1671632"/>
            <a:ext cx="7194598" cy="369332"/>
          </a:xfrm>
          <a:prstGeom prst="rect">
            <a:avLst/>
          </a:prstGeom>
        </p:spPr>
        <p:txBody>
          <a:bodyPr wrap="none">
            <a:spAutoFit/>
          </a:bodyPr>
          <a:lstStyle/>
          <a:p>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话题：古巴比伦食谱发现词数：</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145</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 05″</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 </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134 </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a:p>
        </p:txBody>
      </p:sp>
      <p:sp>
        <p:nvSpPr>
          <p:cNvPr id="12" name="Rectangle 1" title=""/>
          <p:cNvSpPr>
            <a:spLocks noChangeArrowheads="1"/>
          </p:cNvSpPr>
          <p:nvPr/>
        </p:nvSpPr>
        <p:spPr bwMode="auto">
          <a:xfrm>
            <a:off x="141316" y="5668960"/>
            <a:ext cx="11831609" cy="1077218"/>
          </a:xfrm>
          <a:prstGeom prst="rect">
            <a:avLst/>
          </a:prstGeom>
          <a:solidFill>
            <a:schemeClr val="bg1"/>
          </a:solidFill>
          <a:ln w="19050"/>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spAutoFit/>
          </a:bodyPr>
          <a:lstStyle/>
          <a:p>
            <a:pPr lvl="0" fontAlgn="base">
              <a:spcBef>
                <a:spcPct val="0"/>
              </a:spcBef>
              <a:spcAft>
                <a:spcPct val="0"/>
              </a:spcAft>
            </a:pPr>
            <a:r>
              <a:rPr lang="zh-CN" altLang="zh-CN" sz="2400" b="1" smtClean="0">
                <a:solidFill>
                  <a:srgbClr val="00B0F0"/>
                </a:solidFill>
                <a:latin typeface="微软雅黑" panose="020b0503020204020204" pitchFamily="34" charset="-122"/>
                <a:ea typeface="微软雅黑" panose="020b0503020204020204" pitchFamily="34" charset="-122"/>
              </a:rPr>
              <a:t>【</a:t>
            </a:r>
            <a:r>
              <a:rPr lang="zh-CN" sz="2000" b="1" smtClean="0">
                <a:solidFill>
                  <a:srgbClr val="00B0F0"/>
                </a:solidFill>
                <a:latin typeface="微软雅黑" panose="020b0503020204020204" pitchFamily="34" charset="-122"/>
                <a:ea typeface="微软雅黑" panose="020b0503020204020204" pitchFamily="34" charset="-122"/>
              </a:rPr>
              <a:t>语言知识</a:t>
            </a:r>
            <a:r>
              <a:rPr lang="zh-CN" altLang="zh-CN" sz="2000" b="1" smtClean="0">
                <a:solidFill>
                  <a:srgbClr val="00B0F0"/>
                </a:solidFill>
                <a:latin typeface="微软雅黑" panose="020b0503020204020204" pitchFamily="34" charset="-122"/>
                <a:ea typeface="微软雅黑" panose="020b0503020204020204" pitchFamily="34" charset="-122"/>
              </a:rPr>
              <a:t>】</a:t>
            </a:r>
            <a:r>
              <a:rPr lang="en-US" altLang="zh-CN" sz="2000" b="1">
                <a:solidFill>
                  <a:srgbClr val="00B0F0"/>
                </a:solidFill>
                <a:latin typeface="微软雅黑" panose="020b0503020204020204" pitchFamily="34" charset="-122"/>
                <a:ea typeface="微软雅黑" panose="020b0503020204020204" pitchFamily="34" charset="-122"/>
              </a:rPr>
              <a:t>recipe</a:t>
            </a:r>
            <a:r>
              <a:rPr lang="zh-CN" altLang="en-US" sz="2000" b="1">
                <a:solidFill>
                  <a:srgbClr val="00B0F0"/>
                </a:solidFill>
                <a:latin typeface="微软雅黑" panose="020b0503020204020204" pitchFamily="34" charset="-122"/>
                <a:ea typeface="微软雅黑" panose="020b0503020204020204" pitchFamily="34" charset="-122"/>
              </a:rPr>
              <a:t>食</a:t>
            </a:r>
            <a:r>
              <a:rPr lang="zh-CN" altLang="en-US" sz="2000" b="1" smtClean="0">
                <a:solidFill>
                  <a:srgbClr val="00B0F0"/>
                </a:solidFill>
                <a:latin typeface="微软雅黑" panose="020b0503020204020204" pitchFamily="34" charset="-122"/>
                <a:ea typeface="微软雅黑" panose="020b0503020204020204" pitchFamily="34" charset="-122"/>
              </a:rPr>
              <a:t>谱                                            </a:t>
            </a:r>
            <a:r>
              <a:rPr lang="en-US" altLang="zh-CN" sz="2000" b="1" smtClean="0">
                <a:solidFill>
                  <a:srgbClr val="00B0F0"/>
                </a:solidFill>
                <a:latin typeface="微软雅黑" panose="020b0503020204020204" pitchFamily="34" charset="-122"/>
                <a:ea typeface="微软雅黑" panose="020b0503020204020204" pitchFamily="34" charset="-122"/>
              </a:rPr>
              <a:t>ancient </a:t>
            </a:r>
            <a:r>
              <a:rPr lang="en-US" altLang="zh-CN" sz="2000" b="1">
                <a:solidFill>
                  <a:srgbClr val="00B0F0"/>
                </a:solidFill>
                <a:latin typeface="微软雅黑" panose="020b0503020204020204" pitchFamily="34" charset="-122"/>
                <a:ea typeface="微软雅黑" panose="020b0503020204020204" pitchFamily="34" charset="-122"/>
              </a:rPr>
              <a:t>Babylonia </a:t>
            </a:r>
            <a:r>
              <a:rPr lang="zh-CN" altLang="en-US" sz="2000" b="1">
                <a:solidFill>
                  <a:srgbClr val="00B0F0"/>
                </a:solidFill>
                <a:latin typeface="微软雅黑" panose="020b0503020204020204" pitchFamily="34" charset="-122"/>
                <a:ea typeface="微软雅黑" panose="020b0503020204020204" pitchFamily="34" charset="-122"/>
              </a:rPr>
              <a:t>古巴比伦</a:t>
            </a:r>
          </a:p>
          <a:p>
            <a:pPr lvl="0" fontAlgn="base">
              <a:spcBef>
                <a:spcPct val="0"/>
              </a:spcBef>
              <a:spcAft>
                <a:spcPct val="0"/>
              </a:spcAft>
            </a:pPr>
            <a:r>
              <a:rPr lang="en-US" altLang="zh-CN" sz="2000" b="1" smtClean="0">
                <a:solidFill>
                  <a:srgbClr val="00B0F0"/>
                </a:solidFill>
                <a:latin typeface="微软雅黑" panose="020b0503020204020204" pitchFamily="34" charset="-122"/>
                <a:ea typeface="微软雅黑" panose="020b0503020204020204" pitchFamily="34" charset="-122"/>
              </a:rPr>
              <a:t>                    come </a:t>
            </a:r>
            <a:r>
              <a:rPr lang="en-US" altLang="zh-CN" sz="2000" b="1">
                <a:solidFill>
                  <a:srgbClr val="00B0F0"/>
                </a:solidFill>
                <a:latin typeface="微软雅黑" panose="020b0503020204020204" pitchFamily="34" charset="-122"/>
                <a:ea typeface="微软雅黑" panose="020b0503020204020204" pitchFamily="34" charset="-122"/>
              </a:rPr>
              <a:t>to light </a:t>
            </a:r>
            <a:r>
              <a:rPr lang="zh-CN" altLang="en-US" sz="2000" b="1">
                <a:solidFill>
                  <a:srgbClr val="00B0F0"/>
                </a:solidFill>
                <a:latin typeface="微软雅黑" panose="020b0503020204020204" pitchFamily="34" charset="-122"/>
                <a:ea typeface="微软雅黑" panose="020b0503020204020204" pitchFamily="34" charset="-122"/>
              </a:rPr>
              <a:t>被发现</a:t>
            </a:r>
            <a:r>
              <a:rPr lang="en-US" altLang="zh-CN" sz="2000" b="1">
                <a:solidFill>
                  <a:srgbClr val="00B0F0"/>
                </a:solidFill>
                <a:latin typeface="微软雅黑" panose="020b0503020204020204" pitchFamily="34" charset="-122"/>
                <a:ea typeface="微软雅黑" panose="020b0503020204020204" pitchFamily="34" charset="-122"/>
              </a:rPr>
              <a:t>;</a:t>
            </a:r>
            <a:r>
              <a:rPr lang="zh-CN" altLang="en-US" sz="2000" b="1">
                <a:solidFill>
                  <a:srgbClr val="00B0F0"/>
                </a:solidFill>
                <a:latin typeface="微软雅黑" panose="020b0503020204020204" pitchFamily="34" charset="-122"/>
                <a:ea typeface="微软雅黑" panose="020b0503020204020204" pitchFamily="34" charset="-122"/>
              </a:rPr>
              <a:t>为人所知</a:t>
            </a:r>
            <a:r>
              <a:rPr lang="en-US" altLang="zh-CN" sz="2000" b="1">
                <a:solidFill>
                  <a:srgbClr val="00B0F0"/>
                </a:solidFill>
                <a:latin typeface="微软雅黑" panose="020b0503020204020204" pitchFamily="34" charset="-122"/>
                <a:ea typeface="微软雅黑" panose="020b0503020204020204" pitchFamily="34" charset="-122"/>
              </a:rPr>
              <a:t>;</a:t>
            </a:r>
            <a:r>
              <a:rPr lang="zh-CN" altLang="en-US" sz="2000" b="1">
                <a:solidFill>
                  <a:srgbClr val="00B0F0"/>
                </a:solidFill>
                <a:latin typeface="微软雅黑" panose="020b0503020204020204" pitchFamily="34" charset="-122"/>
                <a:ea typeface="微软雅黑" panose="020b0503020204020204" pitchFamily="34" charset="-122"/>
              </a:rPr>
              <a:t>真相大</a:t>
            </a:r>
            <a:r>
              <a:rPr lang="zh-CN" altLang="en-US" sz="2000" b="1" smtClean="0">
                <a:solidFill>
                  <a:srgbClr val="00B0F0"/>
                </a:solidFill>
                <a:latin typeface="微软雅黑" panose="020b0503020204020204" pitchFamily="34" charset="-122"/>
                <a:ea typeface="微软雅黑" panose="020b0503020204020204" pitchFamily="34" charset="-122"/>
              </a:rPr>
              <a:t>白</a:t>
            </a:r>
            <a:r>
              <a:rPr lang="en-US" altLang="zh-CN" sz="2000" b="1">
                <a:solidFill>
                  <a:srgbClr val="00B0F0"/>
                </a:solidFill>
                <a:latin typeface="微软雅黑" panose="020b0503020204020204" pitchFamily="34" charset="-122"/>
                <a:ea typeface="微软雅黑" panose="020b0503020204020204" pitchFamily="34" charset="-122"/>
              </a:rPr>
              <a:t>scholar</a:t>
            </a:r>
            <a:r>
              <a:rPr lang="zh-CN" altLang="en-US" sz="2000" b="1">
                <a:solidFill>
                  <a:srgbClr val="00B0F0"/>
                </a:solidFill>
                <a:latin typeface="微软雅黑" panose="020b0503020204020204" pitchFamily="34" charset="-122"/>
                <a:ea typeface="微软雅黑" panose="020b0503020204020204" pitchFamily="34" charset="-122"/>
              </a:rPr>
              <a:t>学者</a:t>
            </a:r>
            <a:r>
              <a:rPr lang="en-US" altLang="zh-CN" sz="2000" b="1">
                <a:solidFill>
                  <a:srgbClr val="00B0F0"/>
                </a:solidFill>
                <a:latin typeface="微软雅黑" panose="020b0503020204020204" pitchFamily="34" charset="-122"/>
                <a:ea typeface="微软雅黑" panose="020b0503020204020204" pitchFamily="34" charset="-122"/>
              </a:rPr>
              <a:t> </a:t>
            </a:r>
            <a:endParaRPr lang="zh-CN" altLang="en-US" sz="2000" b="1">
              <a:solidFill>
                <a:srgbClr val="00B0F0"/>
              </a:solidFill>
              <a:latin typeface="微软雅黑" panose="020b0503020204020204" pitchFamily="34" charset="-122"/>
              <a:ea typeface="微软雅黑" panose="020b0503020204020204" pitchFamily="34" charset="-122"/>
            </a:endParaRPr>
          </a:p>
          <a:p>
            <a:pPr lvl="0" fontAlgn="base">
              <a:spcBef>
                <a:spcPct val="0"/>
              </a:spcBef>
              <a:spcAft>
                <a:spcPct val="0"/>
              </a:spcAft>
            </a:pPr>
            <a:r>
              <a:rPr lang="en-US" altLang="zh-CN" sz="2000" b="1" smtClean="0">
                <a:solidFill>
                  <a:srgbClr val="00B0F0"/>
                </a:solidFill>
                <a:latin typeface="微软雅黑" panose="020b0503020204020204" pitchFamily="34" charset="-122"/>
                <a:ea typeface="微软雅黑" panose="020b0503020204020204" pitchFamily="34" charset="-122"/>
              </a:rPr>
              <a:t>                    medical </a:t>
            </a:r>
            <a:r>
              <a:rPr lang="en-US" altLang="zh-CN" sz="2000" b="1">
                <a:solidFill>
                  <a:srgbClr val="00B0F0"/>
                </a:solidFill>
                <a:latin typeface="微软雅黑" panose="020b0503020204020204" pitchFamily="34" charset="-122"/>
                <a:ea typeface="微软雅黑" panose="020b0503020204020204" pitchFamily="34" charset="-122"/>
              </a:rPr>
              <a:t>texts </a:t>
            </a:r>
            <a:r>
              <a:rPr lang="zh-CN" altLang="en-US" sz="2000" b="1">
                <a:solidFill>
                  <a:srgbClr val="00B0F0"/>
                </a:solidFill>
                <a:latin typeface="微软雅黑" panose="020b0503020204020204" pitchFamily="34" charset="-122"/>
                <a:ea typeface="微软雅黑" panose="020b0503020204020204" pitchFamily="34" charset="-122"/>
              </a:rPr>
              <a:t>医学文</a:t>
            </a:r>
            <a:r>
              <a:rPr lang="zh-CN" altLang="en-US" sz="2000" b="1" smtClean="0">
                <a:solidFill>
                  <a:srgbClr val="00B0F0"/>
                </a:solidFill>
                <a:latin typeface="微软雅黑" panose="020b0503020204020204" pitchFamily="34" charset="-122"/>
                <a:ea typeface="微软雅黑" panose="020b0503020204020204" pitchFamily="34" charset="-122"/>
              </a:rPr>
              <a:t>献                          </a:t>
            </a:r>
            <a:r>
              <a:rPr lang="en-US" altLang="zh-CN" sz="2000" b="1" smtClean="0">
                <a:solidFill>
                  <a:srgbClr val="00B0F0"/>
                </a:solidFill>
                <a:latin typeface="微软雅黑" panose="020b0503020204020204" pitchFamily="34" charset="-122"/>
                <a:ea typeface="微软雅黑" panose="020b0503020204020204" pitchFamily="34" charset="-122"/>
              </a:rPr>
              <a:t>Yale </a:t>
            </a:r>
            <a:r>
              <a:rPr lang="en-US" altLang="zh-CN" sz="2000" b="1">
                <a:solidFill>
                  <a:srgbClr val="00B0F0"/>
                </a:solidFill>
                <a:latin typeface="微软雅黑" panose="020b0503020204020204" pitchFamily="34" charset="-122"/>
                <a:ea typeface="微软雅黑" panose="020b0503020204020204" pitchFamily="34" charset="-122"/>
              </a:rPr>
              <a:t>University </a:t>
            </a:r>
            <a:r>
              <a:rPr lang="zh-CN" altLang="en-US" sz="2000" b="1">
                <a:solidFill>
                  <a:srgbClr val="00B0F0"/>
                </a:solidFill>
                <a:latin typeface="微软雅黑" panose="020b0503020204020204" pitchFamily="34" charset="-122"/>
                <a:ea typeface="微软雅黑" panose="020b0503020204020204" pitchFamily="34" charset="-122"/>
              </a:rPr>
              <a:t>耶鲁大学</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52399" y="1018420"/>
            <a:ext cx="11820525" cy="313373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a:lnSpc>
                <a:spcPts val="2200"/>
              </a:lnSpc>
            </a:pPr>
            <a:r>
              <a:rPr lang="en-US"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10)</a:t>
            </a:r>
            <a:endPar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cs typeface="Times New Roman" panose="02020603050405020304" pitchFamily="18" charset="0"/>
              </a:rPr>
              <a:t>Before we begin today's experiment, let's review the lab rules. </a:t>
            </a:r>
            <a:r>
              <a:rPr lang="en-US" altLang="zh-CN" sz="2000" b="1">
                <a:solidFill>
                  <a:srgbClr val="FF0000"/>
                </a:solidFill>
                <a:latin typeface="Times New Roman" panose="02020603050405020304" pitchFamily="18" charset="0"/>
                <a:cs typeface="Times New Roman" panose="02020603050405020304" pitchFamily="18" charset="0"/>
              </a:rPr>
              <a:t>(17)First, </a:t>
            </a:r>
            <a:r>
              <a:rPr lang="en-US" altLang="zh-CN" sz="2000" b="1" u="sng">
                <a:solidFill>
                  <a:srgbClr val="FF0000"/>
                </a:solidFill>
                <a:latin typeface="Times New Roman" panose="02020603050405020304" pitchFamily="18" charset="0"/>
                <a:cs typeface="Times New Roman" panose="02020603050405020304" pitchFamily="18" charset="0"/>
              </a:rPr>
              <a:t>safety glasses</a:t>
            </a:r>
            <a:r>
              <a:rPr lang="en-US" altLang="zh-CN" sz="2000" b="1">
                <a:solidFill>
                  <a:srgbClr val="FF0000"/>
                </a:solidFill>
                <a:latin typeface="Times New Roman" panose="02020603050405020304" pitchFamily="18" charset="0"/>
                <a:cs typeface="Times New Roman" panose="02020603050405020304" pitchFamily="18" charset="0"/>
              </a:rPr>
              <a:t> must be worn at all times, even if you're only watching. </a:t>
            </a:r>
            <a:r>
              <a:rPr lang="en-US" altLang="zh-CN" sz="2000" b="1">
                <a:latin typeface="Times New Roman" panose="02020603050405020304" pitchFamily="18" charset="0"/>
                <a:cs typeface="Times New Roman" panose="02020603050405020304" pitchFamily="18" charset="0"/>
              </a:rPr>
              <a:t>Second, never mix chemicals unless the instructions tell you to do so. Today we're using a strong acid which can cause serious burns if it touches your skin. </a:t>
            </a:r>
            <a:r>
              <a:rPr lang="en-US" altLang="zh-CN" sz="2000" b="1">
                <a:solidFill>
                  <a:srgbClr val="FF0000"/>
                </a:solidFill>
                <a:latin typeface="Times New Roman" panose="02020603050405020304" pitchFamily="18" charset="0"/>
                <a:cs typeface="Times New Roman" panose="02020603050405020304" pitchFamily="18" charset="0"/>
              </a:rPr>
              <a:t>(18)If any chemical container is knocked over, don't panic. Tell me immediately and I'll </a:t>
            </a:r>
            <a:r>
              <a:rPr lang="en-US" altLang="zh-CN" sz="2000" b="1" u="sng">
                <a:solidFill>
                  <a:srgbClr val="FF0000"/>
                </a:solidFill>
                <a:latin typeface="Times New Roman" panose="02020603050405020304" pitchFamily="18" charset="0"/>
                <a:cs typeface="Times New Roman" panose="02020603050405020304" pitchFamily="18" charset="0"/>
              </a:rPr>
              <a:t>handle the cleanup</a:t>
            </a:r>
            <a:r>
              <a:rPr lang="en-US" altLang="zh-CN" sz="2000" b="1">
                <a:latin typeface="Times New Roman" panose="02020603050405020304" pitchFamily="18" charset="0"/>
                <a:cs typeface="Times New Roman" panose="02020603050405020304" pitchFamily="18" charset="0"/>
              </a:rPr>
              <a:t>. Also, keep your hair tied back and avoid wearing loose clothes. We will work in pairs.One person will handle the tools while the other records the data. </a:t>
            </a:r>
            <a:r>
              <a:rPr lang="en-US" altLang="zh-CN" sz="2000" b="1">
                <a:solidFill>
                  <a:srgbClr val="FF0000"/>
                </a:solidFill>
                <a:latin typeface="Times New Roman" panose="02020603050405020304" pitchFamily="18" charset="0"/>
                <a:cs typeface="Times New Roman" panose="02020603050405020304" pitchFamily="18" charset="0"/>
              </a:rPr>
              <a:t>(19)</a:t>
            </a:r>
            <a:r>
              <a:rPr lang="en-US" altLang="zh-CN" sz="2000" b="1" u="sng">
                <a:solidFill>
                  <a:srgbClr val="FF0000"/>
                </a:solidFill>
                <a:latin typeface="Times New Roman" panose="02020603050405020304" pitchFamily="18" charset="0"/>
                <a:cs typeface="Times New Roman" panose="02020603050405020304" pitchFamily="18" charset="0"/>
              </a:rPr>
              <a:t>Switch role</a:t>
            </a:r>
            <a:r>
              <a:rPr lang="en-US" altLang="zh-CN" sz="2000" b="1">
                <a:solidFill>
                  <a:srgbClr val="FF0000"/>
                </a:solidFill>
                <a:latin typeface="Times New Roman" panose="02020603050405020304" pitchFamily="18" charset="0"/>
                <a:cs typeface="Times New Roman" panose="02020603050405020304" pitchFamily="18" charset="0"/>
              </a:rPr>
              <a:t>s after every three trials to ensure everyone gets practice. Remember: the goal is accurate data, not speed</a:t>
            </a:r>
            <a:r>
              <a:rPr lang="en-US" altLang="zh-CN" sz="2000" b="1">
                <a:latin typeface="Times New Roman" panose="02020603050405020304" pitchFamily="18" charset="0"/>
                <a:cs typeface="Times New Roman" panose="02020603050405020304" pitchFamily="18" charset="0"/>
              </a:rPr>
              <a:t>. </a:t>
            </a:r>
            <a:r>
              <a:rPr lang="en-US" altLang="zh-CN" sz="2000" b="1">
                <a:solidFill>
                  <a:srgbClr val="FF0000"/>
                </a:solidFill>
                <a:latin typeface="Times New Roman" panose="02020603050405020304" pitchFamily="18" charset="0"/>
                <a:cs typeface="Times New Roman" panose="02020603050405020304" pitchFamily="18" charset="0"/>
              </a:rPr>
              <a:t>(20)If you finish early, do not start a new experiment.Instead, clean your workspace thoroughly. Any questions? No? All right. Let's have a safe and </a:t>
            </a:r>
            <a:r>
              <a:rPr lang="en-US" altLang="zh-CN" sz="2000" b="1" u="sng">
                <a:solidFill>
                  <a:srgbClr val="FF0000"/>
                </a:solidFill>
                <a:latin typeface="Times New Roman" panose="02020603050405020304" pitchFamily="18" charset="0"/>
                <a:cs typeface="Times New Roman" panose="02020603050405020304" pitchFamily="18" charset="0"/>
              </a:rPr>
              <a:t>productive class</a:t>
            </a:r>
            <a:r>
              <a:rPr lang="en-US" altLang="zh-CN" sz="2000" b="1">
                <a:solidFill>
                  <a:srgbClr val="FF0000"/>
                </a:solidFill>
                <a:latin typeface="Times New Roman" panose="02020603050405020304" pitchFamily="18" charset="0"/>
                <a:cs typeface="Times New Roman" panose="02020603050405020304" pitchFamily="18" charset="0"/>
              </a:rPr>
              <a: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52400" y="97628"/>
            <a:ext cx="11820525" cy="769441"/>
          </a:xfrm>
          <a:prstGeom prst="rect">
            <a:avLst/>
          </a:prstGeom>
          <a:solidFill>
            <a:srgbClr val="FFFFCC"/>
          </a:solidFill>
          <a:ln w="19050">
            <a:solidFill>
              <a:schemeClr val="tx1"/>
            </a:solidFill>
          </a:ln>
        </p:spPr>
        <p:txBody>
          <a:bodyPr wrap="square" anchor="t" anchorCtr="0">
            <a:spAutoFit/>
          </a:bodyPr>
          <a:lstStyle/>
          <a:p>
            <a:r>
              <a:rPr lang="en-US" altLang="zh-CN" sz="2200" b="1">
                <a:solidFill>
                  <a:schemeClr val="dk1"/>
                </a:solidFill>
                <a:latin typeface="Times New Roman" panose="02020603050405020304" pitchFamily="18" charset="0"/>
                <a:cs typeface="Times New Roman" panose="02020603050405020304" pitchFamily="18" charset="0"/>
              </a:rPr>
              <a:t>17. What must the students wear when doing the experiment?</a:t>
            </a:r>
            <a:endParaRPr lang="zh-CN" altLang="zh-CN" sz="2200" b="1">
              <a:solidFill>
                <a:schemeClr val="dk1"/>
              </a:solidFill>
              <a:latin typeface="Times New Roman" panose="02020603050405020304" pitchFamily="18" charset="0"/>
              <a:cs typeface="Times New Roman" panose="02020603050405020304" pitchFamily="18" charset="0"/>
            </a:endParaRPr>
          </a:p>
          <a:p>
            <a:r>
              <a:rPr lang="en-US" altLang="zh-CN" sz="2200" b="1" smtClean="0">
                <a:solidFill>
                  <a:schemeClr val="dk1"/>
                </a:solidFill>
                <a:latin typeface="Times New Roman" panose="02020603050405020304" pitchFamily="18" charset="0"/>
                <a:cs typeface="Times New Roman" panose="02020603050405020304" pitchFamily="18" charset="0"/>
              </a:rPr>
              <a:t>      A</a:t>
            </a:r>
            <a:r>
              <a:rPr lang="en-US" altLang="zh-CN" sz="2200" b="1">
                <a:solidFill>
                  <a:schemeClr val="dk1"/>
                </a:solidFill>
                <a:latin typeface="Times New Roman" panose="02020603050405020304" pitchFamily="18" charset="0"/>
                <a:cs typeface="Times New Roman" panose="02020603050405020304" pitchFamily="18" charset="0"/>
              </a:rPr>
              <a:t>. Loose clothes.    		B. Protective glasses.		C. Waterproof caps.</a:t>
            </a:r>
            <a:endParaRPr lang="zh-CN" altLang="zh-CN" sz="2200" b="1">
              <a:solidFill>
                <a:schemeClr val="dk1"/>
              </a:solidFill>
              <a:latin typeface="Times New Roman" panose="02020603050405020304" pitchFamily="18" charset="0"/>
              <a:cs typeface="Times New Roman" panose="02020603050405020304" pitchFamily="18" charset="0"/>
            </a:endParaRPr>
          </a:p>
        </p:txBody>
      </p:sp>
      <p:sp>
        <p:nvSpPr>
          <p:cNvPr id="8" name="文本框 3" title=""/>
          <p:cNvSpPr txBox="1"/>
          <p:nvPr>
            <p:custDataLst>
              <p:tags r:id="rId3"/>
            </p:custDataLst>
          </p:nvPr>
        </p:nvSpPr>
        <p:spPr>
          <a:xfrm>
            <a:off x="152399" y="4303507"/>
            <a:ext cx="11820524"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]17. 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...safety glasses must be worn at all times..."</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学生做实验时必须全程佩戴防护眼镜。“</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Protective glasses"</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safety glasses”</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同义。</a:t>
            </a:r>
            <a:endParaRPr lang="zh-CN" altLang="en-US" sz="2400"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646516" y="514170"/>
            <a:ext cx="206826" cy="285716"/>
          </a:xfrm>
          <a:prstGeom prst="rect">
            <a:avLst/>
          </a:prstGeom>
        </p:spPr>
      </p:pic>
      <p:sp>
        <p:nvSpPr>
          <p:cNvPr id="2" name="矩形 1" title=""/>
          <p:cNvSpPr/>
          <p:nvPr/>
        </p:nvSpPr>
        <p:spPr>
          <a:xfrm>
            <a:off x="1317490" y="1018419"/>
            <a:ext cx="7759112" cy="400110"/>
          </a:xfrm>
          <a:prstGeom prst="rect">
            <a:avLst/>
          </a:prstGeom>
        </p:spPr>
        <p:txBody>
          <a:bodyPr wrap="non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：实</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验室安</a:t>
            </a:r>
            <a:r>
              <a:rPr lang="zh-CN" altLang="en-US" sz="2000" b="1"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全规范 词</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 ″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118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133350" y="1032700"/>
            <a:ext cx="11887200" cy="2826097"/>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a:lnSpc>
                <a:spcPts val="2200"/>
              </a:lnSpc>
            </a:pPr>
            <a:r>
              <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10)</a:t>
            </a:r>
            <a:endPar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cs typeface="Times New Roman" panose="02020603050405020304" pitchFamily="18" charset="0"/>
              </a:rPr>
              <a:t>Before we begin today's experiment, let's review the lab rules. </a:t>
            </a:r>
            <a:r>
              <a:rPr lang="en-US" altLang="zh-CN" sz="2000" b="1">
                <a:solidFill>
                  <a:srgbClr val="FF0000"/>
                </a:solidFill>
                <a:latin typeface="Times New Roman" panose="02020603050405020304" pitchFamily="18" charset="0"/>
                <a:cs typeface="Times New Roman" panose="02020603050405020304" pitchFamily="18" charset="0"/>
              </a:rPr>
              <a:t>(17)First, </a:t>
            </a:r>
            <a:r>
              <a:rPr lang="en-US" altLang="zh-CN" sz="2000" b="1" u="sng">
                <a:solidFill>
                  <a:srgbClr val="FF0000"/>
                </a:solidFill>
                <a:latin typeface="Times New Roman" panose="02020603050405020304" pitchFamily="18" charset="0"/>
                <a:cs typeface="Times New Roman" panose="02020603050405020304" pitchFamily="18" charset="0"/>
              </a:rPr>
              <a:t>safety glasses</a:t>
            </a:r>
            <a:r>
              <a:rPr lang="en-US" altLang="zh-CN" sz="2000" b="1">
                <a:solidFill>
                  <a:srgbClr val="FF0000"/>
                </a:solidFill>
                <a:latin typeface="Times New Roman" panose="02020603050405020304" pitchFamily="18" charset="0"/>
                <a:cs typeface="Times New Roman" panose="02020603050405020304" pitchFamily="18" charset="0"/>
              </a:rPr>
              <a:t> must be worn at all times, even if you're only watching. </a:t>
            </a:r>
            <a:r>
              <a:rPr lang="en-US" altLang="zh-CN" sz="2000" b="1">
                <a:latin typeface="Times New Roman" panose="02020603050405020304" pitchFamily="18" charset="0"/>
                <a:cs typeface="Times New Roman" panose="02020603050405020304" pitchFamily="18" charset="0"/>
              </a:rPr>
              <a:t>Second, never mix chemicals unless the instructions tell you to do so. Today we're using a strong acid which can cause serious burns if it touches your skin. </a:t>
            </a:r>
            <a:r>
              <a:rPr lang="en-US" altLang="zh-CN" sz="2000" b="1">
                <a:solidFill>
                  <a:srgbClr val="FF0000"/>
                </a:solidFill>
                <a:latin typeface="Times New Roman" panose="02020603050405020304" pitchFamily="18" charset="0"/>
                <a:cs typeface="Times New Roman" panose="02020603050405020304" pitchFamily="18" charset="0"/>
              </a:rPr>
              <a:t>(18)If any chemical container is knocked over, don't panic. Tell me immediately and I'll </a:t>
            </a:r>
            <a:r>
              <a:rPr lang="en-US" altLang="zh-CN" sz="2000" b="1" u="sng">
                <a:solidFill>
                  <a:srgbClr val="FF0000"/>
                </a:solidFill>
                <a:latin typeface="Times New Roman" panose="02020603050405020304" pitchFamily="18" charset="0"/>
                <a:cs typeface="Times New Roman" panose="02020603050405020304" pitchFamily="18" charset="0"/>
              </a:rPr>
              <a:t>handle the cleanup</a:t>
            </a:r>
            <a:r>
              <a:rPr lang="en-US" altLang="zh-CN" sz="2000" b="1">
                <a:latin typeface="Times New Roman" panose="02020603050405020304" pitchFamily="18" charset="0"/>
                <a:cs typeface="Times New Roman" panose="02020603050405020304" pitchFamily="18" charset="0"/>
              </a:rPr>
              <a:t>. Also, keep your hair tied back and avoid wearing loose clothes. We will work in pairs.One person will handle the tools while the other records the data. </a:t>
            </a:r>
            <a:r>
              <a:rPr lang="en-US" altLang="zh-CN" sz="2000" b="1">
                <a:solidFill>
                  <a:srgbClr val="FF0000"/>
                </a:solidFill>
                <a:latin typeface="Times New Roman" panose="02020603050405020304" pitchFamily="18" charset="0"/>
                <a:cs typeface="Times New Roman" panose="02020603050405020304" pitchFamily="18" charset="0"/>
              </a:rPr>
              <a:t>(19)</a:t>
            </a:r>
            <a:r>
              <a:rPr lang="en-US" altLang="zh-CN" sz="2000" b="1" u="sng">
                <a:solidFill>
                  <a:srgbClr val="FF0000"/>
                </a:solidFill>
                <a:latin typeface="Times New Roman" panose="02020603050405020304" pitchFamily="18" charset="0"/>
                <a:cs typeface="Times New Roman" panose="02020603050405020304" pitchFamily="18" charset="0"/>
              </a:rPr>
              <a:t>Switch role</a:t>
            </a:r>
            <a:r>
              <a:rPr lang="en-US" altLang="zh-CN" sz="2000" b="1">
                <a:solidFill>
                  <a:srgbClr val="FF0000"/>
                </a:solidFill>
                <a:latin typeface="Times New Roman" panose="02020603050405020304" pitchFamily="18" charset="0"/>
                <a:cs typeface="Times New Roman" panose="02020603050405020304" pitchFamily="18" charset="0"/>
              </a:rPr>
              <a:t>s after every three trials to ensure everyone gets practice. Remember: the goal is accurate data, not speed</a:t>
            </a:r>
            <a:r>
              <a:rPr lang="en-US" altLang="zh-CN" sz="2000" b="1">
                <a:latin typeface="Times New Roman" panose="02020603050405020304" pitchFamily="18" charset="0"/>
                <a:cs typeface="Times New Roman" panose="02020603050405020304" pitchFamily="18" charset="0"/>
              </a:rPr>
              <a:t>. </a:t>
            </a:r>
            <a:r>
              <a:rPr lang="en-US" altLang="zh-CN" sz="2000" b="1">
                <a:solidFill>
                  <a:srgbClr val="FF0000"/>
                </a:solidFill>
                <a:latin typeface="Times New Roman" panose="02020603050405020304" pitchFamily="18" charset="0"/>
                <a:cs typeface="Times New Roman" panose="02020603050405020304" pitchFamily="18" charset="0"/>
              </a:rPr>
              <a:t>(20)If you finish early, do not start a new experiment.Instead, clean your workspace thoroughly. Any questions? No? All right. Let's have a safe and </a:t>
            </a:r>
            <a:r>
              <a:rPr lang="en-US" altLang="zh-CN" sz="2000" b="1" u="sng">
                <a:solidFill>
                  <a:srgbClr val="FF0000"/>
                </a:solidFill>
                <a:latin typeface="Times New Roman" panose="02020603050405020304" pitchFamily="18" charset="0"/>
                <a:cs typeface="Times New Roman" panose="02020603050405020304" pitchFamily="18" charset="0"/>
              </a:rPr>
              <a:t>productive class</a:t>
            </a:r>
            <a:r>
              <a:rPr lang="en-US" altLang="zh-CN" sz="2000" b="1">
                <a:solidFill>
                  <a:srgbClr val="FF0000"/>
                </a:solidFill>
                <a:latin typeface="Times New Roman" panose="02020603050405020304" pitchFamily="18" charset="0"/>
                <a:cs typeface="Times New Roman" panose="02020603050405020304" pitchFamily="18" charset="0"/>
              </a:rPr>
              <a: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33350" y="72696"/>
            <a:ext cx="11820525" cy="769441"/>
          </a:xfrm>
          <a:prstGeom prst="rect">
            <a:avLst/>
          </a:prstGeom>
          <a:solidFill>
            <a:srgbClr val="FFFFCC"/>
          </a:solidFill>
          <a:ln w="19050">
            <a:solidFill>
              <a:schemeClr val="tx1"/>
            </a:solidFill>
          </a:ln>
        </p:spPr>
        <p:txBody>
          <a:bodyPr wrap="square" anchor="t" anchorCtr="0">
            <a:spAutoFit/>
          </a:bodyPr>
          <a:lstStyle/>
          <a:p>
            <a:r>
              <a:rPr lang="en-US" altLang="zh-CN" sz="2200" b="1">
                <a:latin typeface="Times New Roman" panose="02020603050405020304" pitchFamily="18" charset="0"/>
                <a:ea typeface="+mj-ea"/>
                <a:cs typeface="Times New Roman" panose="02020603050405020304" pitchFamily="18" charset="0"/>
              </a:rPr>
              <a:t>18. What should the students do if they knock over a chemical container?</a:t>
            </a:r>
          </a:p>
          <a:p>
            <a:r>
              <a:rPr lang="en-US" altLang="zh-CN" sz="2200" b="1" smtClean="0">
                <a:latin typeface="Times New Roman" panose="02020603050405020304" pitchFamily="18" charset="0"/>
                <a:ea typeface="+mj-ea"/>
                <a:cs typeface="Times New Roman" panose="02020603050405020304" pitchFamily="18" charset="0"/>
              </a:rPr>
              <a:t>      A</a:t>
            </a:r>
            <a:r>
              <a:rPr lang="en-US" altLang="zh-CN" sz="2200" b="1">
                <a:latin typeface="Times New Roman" panose="02020603050405020304" pitchFamily="18" charset="0"/>
                <a:ea typeface="+mj-ea"/>
                <a:cs typeface="Times New Roman" panose="02020603050405020304" pitchFamily="18" charset="0"/>
              </a:rPr>
              <a:t>. Report to the teacher.   </a:t>
            </a:r>
            <a:r>
              <a:rPr lang="en-US" altLang="zh-CN" sz="2200" b="1" smtClean="0">
                <a:latin typeface="Times New Roman" panose="02020603050405020304" pitchFamily="18" charset="0"/>
                <a:ea typeface="+mj-ea"/>
                <a:cs typeface="Times New Roman" panose="02020603050405020304" pitchFamily="18" charset="0"/>
              </a:rPr>
              <a:t>  B</a:t>
            </a:r>
            <a:r>
              <a:rPr lang="en-US" altLang="zh-CN" sz="2200" b="1">
                <a:latin typeface="Times New Roman" panose="02020603050405020304" pitchFamily="18" charset="0"/>
                <a:ea typeface="+mj-ea"/>
                <a:cs typeface="Times New Roman" panose="02020603050405020304" pitchFamily="18" charset="0"/>
              </a:rPr>
              <a:t>. Clear up the mess.  	</a:t>
            </a:r>
            <a:r>
              <a:rPr lang="en-US" altLang="zh-CN" sz="2200" b="1" smtClean="0">
                <a:latin typeface="Times New Roman" panose="02020603050405020304" pitchFamily="18" charset="0"/>
                <a:ea typeface="+mj-ea"/>
                <a:cs typeface="Times New Roman" panose="02020603050405020304" pitchFamily="18" charset="0"/>
              </a:rPr>
              <a:t>C</a:t>
            </a:r>
            <a:r>
              <a:rPr lang="en-US" altLang="zh-CN" sz="2200" b="1">
                <a:latin typeface="Times New Roman" panose="02020603050405020304" pitchFamily="18" charset="0"/>
                <a:ea typeface="+mj-ea"/>
                <a:cs typeface="Times New Roman" panose="02020603050405020304" pitchFamily="18" charset="0"/>
              </a:rPr>
              <a:t>. Check the instructions.</a:t>
            </a:r>
          </a:p>
        </p:txBody>
      </p:sp>
      <p:sp>
        <p:nvSpPr>
          <p:cNvPr id="8" name="文本框 3" title=""/>
          <p:cNvSpPr txBox="1"/>
          <p:nvPr>
            <p:custDataLst>
              <p:tags r:id="rId3"/>
            </p:custDataLst>
          </p:nvPr>
        </p:nvSpPr>
        <p:spPr>
          <a:xfrm>
            <a:off x="133350" y="4056411"/>
            <a:ext cx="11861580" cy="1015663"/>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4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】18. A</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If any chemical container is knocked over, don't panic.Tell me immediately and I'll handle the cleanup."</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可知，学生若不慎打翻化学容器，不要惊慌，应立即告知老师，由老师负责清理。“</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Report to the teacher”</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是对“</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Tell me immediately”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的同义转述。</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92704" y="505319"/>
            <a:ext cx="206826" cy="285716"/>
          </a:xfrm>
          <a:prstGeom prst="rect">
            <a:avLst/>
          </a:prstGeom>
        </p:spPr>
      </p:pic>
      <p:sp>
        <p:nvSpPr>
          <p:cNvPr id="2" name="矩形 1" title=""/>
          <p:cNvSpPr/>
          <p:nvPr/>
        </p:nvSpPr>
        <p:spPr>
          <a:xfrm>
            <a:off x="1365467" y="1036697"/>
            <a:ext cx="7759112" cy="400110"/>
          </a:xfrm>
          <a:prstGeom prst="rect">
            <a:avLst/>
          </a:prstGeom>
        </p:spPr>
        <p:txBody>
          <a:bodyPr wrap="non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话题：实验室安全规范 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 ″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118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200023" y="1738146"/>
            <a:ext cx="11782425" cy="3207927"/>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a:lnSpc>
                <a:spcPts val="2200"/>
              </a:lnSpc>
            </a:pPr>
            <a:r>
              <a:rPr lang="en-US"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10)</a:t>
            </a:r>
            <a:endPar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cs typeface="Times New Roman" panose="02020603050405020304" pitchFamily="18" charset="0"/>
              </a:rPr>
              <a:t>Before we begin today's experiment, let's review the lab rules. </a:t>
            </a:r>
            <a:r>
              <a:rPr lang="en-US" altLang="zh-CN" sz="2000" b="1">
                <a:solidFill>
                  <a:srgbClr val="FF0000"/>
                </a:solidFill>
                <a:latin typeface="Times New Roman" panose="02020603050405020304" pitchFamily="18" charset="0"/>
                <a:cs typeface="Times New Roman" panose="02020603050405020304" pitchFamily="18" charset="0"/>
              </a:rPr>
              <a:t>(17)First, </a:t>
            </a:r>
            <a:r>
              <a:rPr lang="en-US" altLang="zh-CN" sz="2000" b="1" u="sng">
                <a:solidFill>
                  <a:srgbClr val="FF0000"/>
                </a:solidFill>
                <a:latin typeface="Times New Roman" panose="02020603050405020304" pitchFamily="18" charset="0"/>
                <a:cs typeface="Times New Roman" panose="02020603050405020304" pitchFamily="18" charset="0"/>
              </a:rPr>
              <a:t>safety glasses</a:t>
            </a:r>
            <a:r>
              <a:rPr lang="en-US" altLang="zh-CN" sz="2000" b="1">
                <a:solidFill>
                  <a:srgbClr val="FF0000"/>
                </a:solidFill>
                <a:latin typeface="Times New Roman" panose="02020603050405020304" pitchFamily="18" charset="0"/>
                <a:cs typeface="Times New Roman" panose="02020603050405020304" pitchFamily="18" charset="0"/>
              </a:rPr>
              <a:t> must be worn at all times, even if you're only watching. </a:t>
            </a:r>
            <a:r>
              <a:rPr lang="en-US" altLang="zh-CN" sz="2000" b="1">
                <a:latin typeface="Times New Roman" panose="02020603050405020304" pitchFamily="18" charset="0"/>
                <a:cs typeface="Times New Roman" panose="02020603050405020304" pitchFamily="18" charset="0"/>
              </a:rPr>
              <a:t>Second, never mix chemicals unless the instructions tell you to do so. Today we're using a strong acid which can cause serious burns if it touches your skin. </a:t>
            </a:r>
            <a:r>
              <a:rPr lang="en-US" altLang="zh-CN" sz="2000" b="1">
                <a:solidFill>
                  <a:srgbClr val="FF0000"/>
                </a:solidFill>
                <a:latin typeface="Times New Roman" panose="02020603050405020304" pitchFamily="18" charset="0"/>
                <a:cs typeface="Times New Roman" panose="02020603050405020304" pitchFamily="18" charset="0"/>
              </a:rPr>
              <a:t>(18)If any chemical container is knocked over, don't panic. Tell me immediately and I'll </a:t>
            </a:r>
            <a:r>
              <a:rPr lang="en-US" altLang="zh-CN" sz="2000" b="1" u="sng">
                <a:solidFill>
                  <a:srgbClr val="FF0000"/>
                </a:solidFill>
                <a:latin typeface="Times New Roman" panose="02020603050405020304" pitchFamily="18" charset="0"/>
                <a:cs typeface="Times New Roman" panose="02020603050405020304" pitchFamily="18" charset="0"/>
              </a:rPr>
              <a:t>handle the cleanup</a:t>
            </a:r>
            <a:r>
              <a:rPr lang="en-US" altLang="zh-CN" sz="2000" b="1">
                <a:latin typeface="Times New Roman" panose="02020603050405020304" pitchFamily="18" charset="0"/>
                <a:cs typeface="Times New Roman" panose="02020603050405020304" pitchFamily="18" charset="0"/>
              </a:rPr>
              <a:t>. Also, keep your hair tied back and avoid wearing loose clothes. We will work in pairs.One person will handle the tools while the other records the data. </a:t>
            </a:r>
            <a:r>
              <a:rPr lang="en-US" altLang="zh-CN" sz="2000" b="1">
                <a:solidFill>
                  <a:srgbClr val="FF0000"/>
                </a:solidFill>
                <a:latin typeface="Times New Roman" panose="02020603050405020304" pitchFamily="18" charset="0"/>
                <a:cs typeface="Times New Roman" panose="02020603050405020304" pitchFamily="18" charset="0"/>
              </a:rPr>
              <a:t>(19)</a:t>
            </a:r>
            <a:r>
              <a:rPr lang="en-US" altLang="zh-CN" sz="2000" b="1" u="sng">
                <a:solidFill>
                  <a:srgbClr val="FF0000"/>
                </a:solidFill>
                <a:latin typeface="Times New Roman" panose="02020603050405020304" pitchFamily="18" charset="0"/>
                <a:cs typeface="Times New Roman" panose="02020603050405020304" pitchFamily="18" charset="0"/>
              </a:rPr>
              <a:t>Switch role</a:t>
            </a:r>
            <a:r>
              <a:rPr lang="en-US" altLang="zh-CN" sz="2000" b="1">
                <a:solidFill>
                  <a:srgbClr val="FF0000"/>
                </a:solidFill>
                <a:latin typeface="Times New Roman" panose="02020603050405020304" pitchFamily="18" charset="0"/>
                <a:cs typeface="Times New Roman" panose="02020603050405020304" pitchFamily="18" charset="0"/>
              </a:rPr>
              <a:t>s after every three trials to ensure everyone gets practice. Remember: the goal is accurate data, not speed</a:t>
            </a:r>
            <a:r>
              <a:rPr lang="en-US" altLang="zh-CN" sz="2000" b="1">
                <a:latin typeface="Times New Roman" panose="02020603050405020304" pitchFamily="18" charset="0"/>
                <a:cs typeface="Times New Roman" panose="02020603050405020304" pitchFamily="18" charset="0"/>
              </a:rPr>
              <a:t>. </a:t>
            </a:r>
            <a:r>
              <a:rPr lang="en-US" altLang="zh-CN" sz="2000" b="1">
                <a:solidFill>
                  <a:srgbClr val="FF0000"/>
                </a:solidFill>
                <a:latin typeface="Times New Roman" panose="02020603050405020304" pitchFamily="18" charset="0"/>
                <a:cs typeface="Times New Roman" panose="02020603050405020304" pitchFamily="18" charset="0"/>
              </a:rPr>
              <a:t>(20)If you finish early, do not start a new experiment.Instead, clean your workspace thoroughly. Any questions? No? All right. Let's have a safe and </a:t>
            </a:r>
            <a:r>
              <a:rPr lang="en-US" altLang="zh-CN" sz="2000" b="1" u="sng">
                <a:solidFill>
                  <a:srgbClr val="FF0000"/>
                </a:solidFill>
                <a:latin typeface="Times New Roman" panose="02020603050405020304" pitchFamily="18" charset="0"/>
                <a:cs typeface="Times New Roman" panose="02020603050405020304" pitchFamily="18" charset="0"/>
              </a:rPr>
              <a:t>productive class</a:t>
            </a:r>
            <a:r>
              <a:rPr lang="en-US" altLang="zh-CN" sz="2000" b="1">
                <a:solidFill>
                  <a:srgbClr val="FF0000"/>
                </a:solidFill>
                <a:latin typeface="Times New Roman" panose="02020603050405020304" pitchFamily="18" charset="0"/>
                <a:cs typeface="Times New Roman" panose="02020603050405020304" pitchFamily="18" charset="0"/>
              </a:rPr>
              <a: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200025" y="7054"/>
            <a:ext cx="11820525" cy="1446550"/>
          </a:xfrm>
          <a:prstGeom prst="rect">
            <a:avLst/>
          </a:prstGeom>
          <a:solidFill>
            <a:srgbClr val="FFFFCC"/>
          </a:solidFill>
          <a:ln w="19050">
            <a:solidFill>
              <a:schemeClr val="tx1"/>
            </a:solidFill>
          </a:ln>
        </p:spPr>
        <p:txBody>
          <a:bodyPr wrap="square" anchor="t" anchorCtr="0">
            <a:spAutoFit/>
          </a:bodyPr>
          <a:lstStyle/>
          <a:p>
            <a:r>
              <a:rPr lang="en-US" altLang="zh-CN" sz="2200" b="1">
                <a:latin typeface="Times New Roman" panose="02020603050405020304" pitchFamily="18" charset="0"/>
                <a:ea typeface="+mj-ea"/>
                <a:cs typeface="Times New Roman" panose="02020603050405020304" pitchFamily="18" charset="0"/>
              </a:rPr>
              <a:t>19. Why should the students switch roles?</a:t>
            </a:r>
          </a:p>
          <a:p>
            <a:r>
              <a:rPr lang="en-US" altLang="zh-CN" sz="2200" b="1" smtClean="0">
                <a:latin typeface="Times New Roman" panose="02020603050405020304" pitchFamily="18" charset="0"/>
                <a:ea typeface="+mj-ea"/>
                <a:cs typeface="Times New Roman" panose="02020603050405020304" pitchFamily="18" charset="0"/>
              </a:rPr>
              <a:t>     A. To </a:t>
            </a:r>
            <a:r>
              <a:rPr lang="en-US" altLang="zh-CN" sz="2200" b="1">
                <a:latin typeface="Times New Roman" panose="02020603050405020304" pitchFamily="18" charset="0"/>
                <a:ea typeface="+mj-ea"/>
                <a:cs typeface="Times New Roman" panose="02020603050405020304" pitchFamily="18" charset="0"/>
              </a:rPr>
              <a:t>speed up the experiment.  </a:t>
            </a:r>
            <a:endParaRPr lang="en-US" altLang="zh-CN" sz="2200" b="1" smtClean="0">
              <a:latin typeface="Times New Roman" panose="02020603050405020304" pitchFamily="18" charset="0"/>
              <a:ea typeface="+mj-ea"/>
              <a:cs typeface="Times New Roman" panose="02020603050405020304" pitchFamily="18" charset="0"/>
            </a:endParaRPr>
          </a:p>
          <a:p>
            <a:r>
              <a:rPr lang="en-US" altLang="zh-CN" sz="2200" b="1" smtClean="0">
                <a:latin typeface="Times New Roman" panose="02020603050405020304" pitchFamily="18" charset="0"/>
                <a:ea typeface="+mj-ea"/>
                <a:cs typeface="Times New Roman" panose="02020603050405020304" pitchFamily="18" charset="0"/>
              </a:rPr>
              <a:t>     B</a:t>
            </a:r>
            <a:r>
              <a:rPr lang="en-US" altLang="zh-CN" sz="2200" b="1">
                <a:latin typeface="Times New Roman" panose="02020603050405020304" pitchFamily="18" charset="0"/>
                <a:ea typeface="+mj-ea"/>
                <a:cs typeface="Times New Roman" panose="02020603050405020304" pitchFamily="18" charset="0"/>
              </a:rPr>
              <a:t>. To double-check the final results.</a:t>
            </a:r>
          </a:p>
          <a:p>
            <a:r>
              <a:rPr lang="en-US" altLang="zh-CN" sz="2200" b="1" smtClean="0">
                <a:latin typeface="Times New Roman" panose="02020603050405020304" pitchFamily="18" charset="0"/>
                <a:ea typeface="+mj-ea"/>
                <a:cs typeface="Times New Roman" panose="02020603050405020304" pitchFamily="18" charset="0"/>
              </a:rPr>
              <a:t>     C</a:t>
            </a:r>
            <a:r>
              <a:rPr lang="en-US" altLang="zh-CN" sz="2200" b="1">
                <a:latin typeface="Times New Roman" panose="02020603050405020304" pitchFamily="18" charset="0"/>
                <a:ea typeface="+mj-ea"/>
                <a:cs typeface="Times New Roman" panose="02020603050405020304" pitchFamily="18" charset="0"/>
              </a:rPr>
              <a:t>. To get an equal chance to practice.</a:t>
            </a:r>
          </a:p>
        </p:txBody>
      </p:sp>
      <p:sp>
        <p:nvSpPr>
          <p:cNvPr id="8" name="文本框 3" title=""/>
          <p:cNvSpPr txBox="1"/>
          <p:nvPr>
            <p:custDataLst>
              <p:tags r:id="rId3"/>
            </p:custDataLst>
          </p:nvPr>
        </p:nvSpPr>
        <p:spPr>
          <a:xfrm>
            <a:off x="200023" y="5148741"/>
            <a:ext cx="11782425"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I】19. C</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Switch roles after every three trials to ensure everyone gets practice.”</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可知，每完成三次实验就互换分工，确保每位学生都能参与实操。正确选项是对原文进行了同义转述。</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89934" y="1079227"/>
            <a:ext cx="206826" cy="285716"/>
          </a:xfrm>
          <a:prstGeom prst="rect">
            <a:avLst/>
          </a:prstGeom>
        </p:spPr>
      </p:pic>
      <p:sp>
        <p:nvSpPr>
          <p:cNvPr id="2" name="矩形 1" title=""/>
          <p:cNvSpPr/>
          <p:nvPr/>
        </p:nvSpPr>
        <p:spPr>
          <a:xfrm>
            <a:off x="1348841" y="1747379"/>
            <a:ext cx="7759112" cy="400110"/>
          </a:xfrm>
          <a:prstGeom prst="rect">
            <a:avLst/>
          </a:prstGeom>
        </p:spPr>
        <p:txBody>
          <a:bodyPr wrap="non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话题：实验室安全规范 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 ″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118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 name="文本框 10" title=""/>
          <p:cNvSpPr txBox="1"/>
          <p:nvPr/>
        </p:nvSpPr>
        <p:spPr>
          <a:xfrm>
            <a:off x="218827" y="891312"/>
            <a:ext cx="11782425" cy="3207927"/>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a:lnSpc>
                <a:spcPts val="2200"/>
              </a:lnSpc>
            </a:pPr>
            <a:r>
              <a:rPr lang="en-US" altLang="en-US"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(Text 10)</a:t>
            </a:r>
            <a:endParaRPr lang="en-US" altLang="zh-CN" sz="22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2000" b="1">
                <a:latin typeface="Times New Roman" panose="02020603050405020304" pitchFamily="18" charset="0"/>
                <a:cs typeface="Times New Roman" panose="02020603050405020304" pitchFamily="18" charset="0"/>
              </a:rPr>
              <a:t>Before we begin today's experiment, let's review the lab rules. </a:t>
            </a:r>
            <a:r>
              <a:rPr lang="en-US" altLang="zh-CN" sz="2000" b="1">
                <a:solidFill>
                  <a:srgbClr val="FF0000"/>
                </a:solidFill>
                <a:latin typeface="Times New Roman" panose="02020603050405020304" pitchFamily="18" charset="0"/>
                <a:cs typeface="Times New Roman" panose="02020603050405020304" pitchFamily="18" charset="0"/>
              </a:rPr>
              <a:t>(17)First, </a:t>
            </a:r>
            <a:r>
              <a:rPr lang="en-US" altLang="zh-CN" sz="2000" b="1" u="sng">
                <a:solidFill>
                  <a:srgbClr val="FF0000"/>
                </a:solidFill>
                <a:latin typeface="Times New Roman" panose="02020603050405020304" pitchFamily="18" charset="0"/>
                <a:cs typeface="Times New Roman" panose="02020603050405020304" pitchFamily="18" charset="0"/>
              </a:rPr>
              <a:t>safety glasses</a:t>
            </a:r>
            <a:r>
              <a:rPr lang="en-US" altLang="zh-CN" sz="2000" b="1">
                <a:solidFill>
                  <a:srgbClr val="FF0000"/>
                </a:solidFill>
                <a:latin typeface="Times New Roman" panose="02020603050405020304" pitchFamily="18" charset="0"/>
                <a:cs typeface="Times New Roman" panose="02020603050405020304" pitchFamily="18" charset="0"/>
              </a:rPr>
              <a:t> must be worn at all times, even if you're only watching. </a:t>
            </a:r>
            <a:r>
              <a:rPr lang="en-US" altLang="zh-CN" sz="2000" b="1">
                <a:latin typeface="Times New Roman" panose="02020603050405020304" pitchFamily="18" charset="0"/>
                <a:cs typeface="Times New Roman" panose="02020603050405020304" pitchFamily="18" charset="0"/>
              </a:rPr>
              <a:t>Second, never mix chemicals unless the instructions tell you to do so. Today we're using a strong acid which can cause serious burns if it touches your skin. </a:t>
            </a:r>
            <a:r>
              <a:rPr lang="en-US" altLang="zh-CN" sz="2000" b="1">
                <a:solidFill>
                  <a:srgbClr val="FF0000"/>
                </a:solidFill>
                <a:latin typeface="Times New Roman" panose="02020603050405020304" pitchFamily="18" charset="0"/>
                <a:cs typeface="Times New Roman" panose="02020603050405020304" pitchFamily="18" charset="0"/>
              </a:rPr>
              <a:t>(18)If any chemical container is knocked over, don't panic. Tell me immediately and I'll </a:t>
            </a:r>
            <a:r>
              <a:rPr lang="en-US" altLang="zh-CN" sz="2000" b="1" u="sng">
                <a:solidFill>
                  <a:srgbClr val="FF0000"/>
                </a:solidFill>
                <a:latin typeface="Times New Roman" panose="02020603050405020304" pitchFamily="18" charset="0"/>
                <a:cs typeface="Times New Roman" panose="02020603050405020304" pitchFamily="18" charset="0"/>
              </a:rPr>
              <a:t>handle the cleanup</a:t>
            </a:r>
            <a:r>
              <a:rPr lang="en-US" altLang="zh-CN" sz="2000" b="1">
                <a:latin typeface="Times New Roman" panose="02020603050405020304" pitchFamily="18" charset="0"/>
                <a:cs typeface="Times New Roman" panose="02020603050405020304" pitchFamily="18" charset="0"/>
              </a:rPr>
              <a:t>. Also, keep your hair tied back and avoid wearing loose clothes. We will work in pairs.One person will handle the tools while the other records the data. </a:t>
            </a:r>
            <a:r>
              <a:rPr lang="en-US" altLang="zh-CN" sz="2000" b="1">
                <a:solidFill>
                  <a:srgbClr val="FF0000"/>
                </a:solidFill>
                <a:latin typeface="Times New Roman" panose="02020603050405020304" pitchFamily="18" charset="0"/>
                <a:cs typeface="Times New Roman" panose="02020603050405020304" pitchFamily="18" charset="0"/>
              </a:rPr>
              <a:t>(19)</a:t>
            </a:r>
            <a:r>
              <a:rPr lang="en-US" altLang="zh-CN" sz="2000" b="1" u="sng">
                <a:solidFill>
                  <a:srgbClr val="FF0000"/>
                </a:solidFill>
                <a:latin typeface="Times New Roman" panose="02020603050405020304" pitchFamily="18" charset="0"/>
                <a:cs typeface="Times New Roman" panose="02020603050405020304" pitchFamily="18" charset="0"/>
              </a:rPr>
              <a:t>Switch role</a:t>
            </a:r>
            <a:r>
              <a:rPr lang="en-US" altLang="zh-CN" sz="2000" b="1">
                <a:solidFill>
                  <a:srgbClr val="FF0000"/>
                </a:solidFill>
                <a:latin typeface="Times New Roman" panose="02020603050405020304" pitchFamily="18" charset="0"/>
                <a:cs typeface="Times New Roman" panose="02020603050405020304" pitchFamily="18" charset="0"/>
              </a:rPr>
              <a:t>s after every three trials to ensure everyone gets practice. Remember: the goal is accurate data, not speed</a:t>
            </a:r>
            <a:r>
              <a:rPr lang="en-US" altLang="zh-CN" sz="2000" b="1">
                <a:latin typeface="Times New Roman" panose="02020603050405020304" pitchFamily="18" charset="0"/>
                <a:cs typeface="Times New Roman" panose="02020603050405020304" pitchFamily="18" charset="0"/>
              </a:rPr>
              <a:t>. </a:t>
            </a:r>
            <a:r>
              <a:rPr lang="en-US" altLang="zh-CN" sz="2000" b="1">
                <a:solidFill>
                  <a:srgbClr val="FF0000"/>
                </a:solidFill>
                <a:latin typeface="Times New Roman" panose="02020603050405020304" pitchFamily="18" charset="0"/>
                <a:cs typeface="Times New Roman" panose="02020603050405020304" pitchFamily="18" charset="0"/>
              </a:rPr>
              <a:t>(20)If you finish early, do not start a new experiment.Instead, clean your workspace thoroughly. Any questions? No? All right. Let's have a safe and </a:t>
            </a:r>
            <a:r>
              <a:rPr lang="en-US" altLang="zh-CN" sz="2000" b="1" u="sng">
                <a:solidFill>
                  <a:srgbClr val="FF0000"/>
                </a:solidFill>
                <a:latin typeface="Times New Roman" panose="02020603050405020304" pitchFamily="18" charset="0"/>
                <a:cs typeface="Times New Roman" panose="02020603050405020304" pitchFamily="18" charset="0"/>
              </a:rPr>
              <a:t>productive class</a:t>
            </a:r>
            <a:r>
              <a:rPr lang="en-US" altLang="zh-CN" sz="2000" b="1">
                <a:solidFill>
                  <a:srgbClr val="FF0000"/>
                </a:solidFill>
                <a:latin typeface="Times New Roman" panose="02020603050405020304" pitchFamily="18" charset="0"/>
                <a:cs typeface="Times New Roman" panose="02020603050405020304" pitchFamily="18" charset="0"/>
              </a:rPr>
              <a:t>.</a:t>
            </a:r>
            <a:endParaRPr lang="zh-CN" altLang="zh-CN" sz="2000" b="1">
              <a:solidFill>
                <a:srgbClr val="FF0000"/>
              </a:solidFill>
              <a:latin typeface="Times New Roman" panose="02020603050405020304" pitchFamily="18" charset="0"/>
              <a:cs typeface="Times New Roman" panose="02020603050405020304" pitchFamily="18" charset="0"/>
            </a:endParaRPr>
          </a:p>
        </p:txBody>
      </p:sp>
      <p:sp>
        <p:nvSpPr>
          <p:cNvPr id="7" name="文本框 10" title=""/>
          <p:cNvSpPr txBox="1"/>
          <p:nvPr>
            <p:custDataLst>
              <p:tags r:id="rId2"/>
            </p:custDataLst>
          </p:nvPr>
        </p:nvSpPr>
        <p:spPr>
          <a:xfrm>
            <a:off x="199778" y="47303"/>
            <a:ext cx="11820525" cy="769441"/>
          </a:xfrm>
          <a:prstGeom prst="rect">
            <a:avLst/>
          </a:prstGeom>
          <a:solidFill>
            <a:srgbClr val="FFFFCC"/>
          </a:solidFill>
          <a:ln w="19050">
            <a:solidFill>
              <a:schemeClr val="tx1"/>
            </a:solidFill>
          </a:ln>
        </p:spPr>
        <p:txBody>
          <a:bodyPr wrap="square" anchor="t" anchorCtr="0">
            <a:spAutoFit/>
          </a:bodyPr>
          <a:lstStyle/>
          <a:p>
            <a:r>
              <a:rPr lang="en-US" altLang="zh-CN" sz="2200" b="1">
                <a:latin typeface="Times New Roman" panose="02020603050405020304" pitchFamily="18" charset="0"/>
                <a:ea typeface="+mj-ea"/>
                <a:cs typeface="Times New Roman" panose="02020603050405020304" pitchFamily="18" charset="0"/>
              </a:rPr>
              <a:t>20. What should the students do if they finish early?</a:t>
            </a:r>
          </a:p>
          <a:p>
            <a:r>
              <a:rPr lang="en-US" altLang="zh-CN" sz="2200" b="1" smtClean="0">
                <a:latin typeface="Times New Roman" panose="02020603050405020304" pitchFamily="18" charset="0"/>
                <a:ea typeface="+mj-ea"/>
                <a:cs typeface="Times New Roman" panose="02020603050405020304" pitchFamily="18" charset="0"/>
              </a:rPr>
              <a:t>      A</a:t>
            </a:r>
            <a:r>
              <a:rPr lang="en-US" altLang="zh-CN" sz="2200" b="1">
                <a:latin typeface="Times New Roman" panose="02020603050405020304" pitchFamily="18" charset="0"/>
                <a:ea typeface="+mj-ea"/>
                <a:cs typeface="Times New Roman" panose="02020603050405020304" pitchFamily="18" charset="0"/>
              </a:rPr>
              <a:t>. Analyze the data.   	B. Clean their workspace.   	C. Start a new experiment.</a:t>
            </a:r>
            <a:endParaRPr lang="en-US" altLang="zh-CN" sz="2200" b="1">
              <a:latin typeface="Times New Roman" panose="02020603050405020304" pitchFamily="18" charset="0"/>
              <a:ea typeface="+mj-ea"/>
              <a:cs typeface="Times New Roman" panose="02020603050405020304" pitchFamily="18" charset="0"/>
            </a:endParaRPr>
          </a:p>
        </p:txBody>
      </p:sp>
      <p:sp>
        <p:nvSpPr>
          <p:cNvPr id="8" name="文本框 3" title=""/>
          <p:cNvSpPr txBox="1"/>
          <p:nvPr>
            <p:custDataLst>
              <p:tags r:id="rId3"/>
            </p:custDataLst>
          </p:nvPr>
        </p:nvSpPr>
        <p:spPr>
          <a:xfrm>
            <a:off x="218827" y="4173422"/>
            <a:ext cx="11782425"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】20. B</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。事实细节题。根据“</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If you finish early,do not start a new experiment.Instead, clean your workspace thoroughly."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可知，如果学生提前完成实验，切勿开始新的实验，应当彻底清理自己的实验区域</a:t>
            </a:r>
            <a:r>
              <a:rPr lang="zh-CN" altLang="en-US"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clean </a:t>
            </a:r>
            <a:r>
              <a:rPr lang="en-US" altLang="zh-CN"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your workspace thoroughly"</a:t>
            </a:r>
            <a:r>
              <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为关键信息。</a:t>
            </a:r>
            <a:endParaRPr lang="zh-CN"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title=""/>
          <p:cNvPicPr/>
          <p:nvPr/>
        </p:nvPicPr>
        <p:blipFill>
          <a:blip r:embed="rId4">
            <a:extLst>
              <a:ext uri="{28A0092B-C50C-407E-A947-70E740481C1C}">
                <a14:useLocalDpi xmlns:a14="http://schemas.microsoft.com/office/drawing/2010/main" val="0"/>
              </a:ext>
            </a:extLst>
          </a:blip>
          <a:stretch>
            <a:fillRect/>
          </a:stretch>
        </p:blipFill>
        <p:spPr>
          <a:xfrm>
            <a:off x="3698399" y="422942"/>
            <a:ext cx="206826" cy="285716"/>
          </a:xfrm>
          <a:prstGeom prst="rect">
            <a:avLst/>
          </a:prstGeom>
        </p:spPr>
      </p:pic>
      <p:sp>
        <p:nvSpPr>
          <p:cNvPr id="2" name="矩形 1" title=""/>
          <p:cNvSpPr/>
          <p:nvPr/>
        </p:nvSpPr>
        <p:spPr>
          <a:xfrm>
            <a:off x="1373779" y="904943"/>
            <a:ext cx="7759112" cy="400110"/>
          </a:xfrm>
          <a:prstGeom prst="rect">
            <a:avLst/>
          </a:prstGeom>
        </p:spPr>
        <p:txBody>
          <a:bodyPr wrap="none">
            <a:spAutoFit/>
          </a:bodyPr>
          <a:lstStyle/>
          <a:p>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话题：实验室安全规范 词数：</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143</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 </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1′13 ″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；语速：</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118 </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词</a:t>
            </a:r>
            <a:r>
              <a:rPr lang="en-US" altLang="zh-CN"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a:t>
            </a:r>
            <a:endParaRPr lang="zh-CN" altLang="en-US" sz="2000"/>
          </a:p>
        </p:txBody>
      </p:sp>
      <p:sp>
        <p:nvSpPr>
          <p:cNvPr id="10" name="Rectangle 1" title=""/>
          <p:cNvSpPr>
            <a:spLocks noChangeArrowheads="1"/>
          </p:cNvSpPr>
          <p:nvPr/>
        </p:nvSpPr>
        <p:spPr bwMode="auto">
          <a:xfrm>
            <a:off x="218827" y="5264857"/>
            <a:ext cx="11782425" cy="1384995"/>
          </a:xfrm>
          <a:prstGeom prst="rect">
            <a:avLst/>
          </a:prstGeom>
          <a:solidFill>
            <a:schemeClr val="bg1"/>
          </a:solidFill>
          <a:ln w="19050"/>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spAutoFit/>
          </a:bodyPr>
          <a:lstStyle/>
          <a:p>
            <a:pPr lvl="0" fontAlgn="base">
              <a:spcBef>
                <a:spcPct val="0"/>
              </a:spcBef>
              <a:spcAft>
                <a:spcPct val="0"/>
              </a:spcAft>
            </a:pPr>
            <a:r>
              <a:rPr lang="zh-CN" altLang="zh-CN" sz="24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t>
            </a:r>
            <a:r>
              <a:rPr 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语言知识</a:t>
            </a:r>
            <a:r>
              <a:rPr lang="zh-CN"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recipe</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食</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谱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ancient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Babylonia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古巴比</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伦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 come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to light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被发现</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为人所知</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真相大</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白 </a:t>
            </a:r>
            <a:endPar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a:p>
            <a:pPr fontAlgn="base">
              <a:spcBef>
                <a:spcPct val="0"/>
              </a:spcBef>
              <a:spcAft>
                <a:spcPct val="0"/>
              </a:spcAft>
            </a:pP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 medical texts </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医学文献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scholar</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学者</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Yale University </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耶鲁大学</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thoroughly adv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彻底地；仔细地</a:t>
            </a:r>
          </a:p>
          <a:p>
            <a:pPr lvl="0" fontAlgn="base">
              <a:spcBef>
                <a:spcPct val="0"/>
              </a:spcBef>
              <a:spcAft>
                <a:spcPct val="0"/>
              </a:spcAft>
            </a:pP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safety glasses n [</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复数</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安全眼镜；护目镜</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productive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adj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富有成效</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waterproof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adj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防水的</a:t>
            </a:r>
          </a:p>
          <a:p>
            <a:pPr lvl="0" fontAlgn="base">
              <a:spcBef>
                <a:spcPct val="0"/>
              </a:spcBef>
              <a:spcAft>
                <a:spcPct val="0"/>
              </a:spcAft>
            </a:pP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knock over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撞</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倒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tie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one’s hair back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把头发扎在脑</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后 </a:t>
            </a:r>
            <a:r>
              <a:rPr lang="en-US" altLang="zh-CN"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in </a:t>
            </a:r>
            <a:r>
              <a:rPr lang="en-US" altLang="zh-CN"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pairs  </a:t>
            </a:r>
            <a:r>
              <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两个一组地；成对</a:t>
            </a:r>
            <a:r>
              <a:rPr lang="zh-CN" altLang="en-US" sz="2000" b="1"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地</a:t>
            </a:r>
            <a:endParaRPr lang="zh-CN" altLang="en-US" sz="2000"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852423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p:bldP spid="10" grpId="0" animBg="1"/>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anose="020b0503020204020204" pitchFamily="34" charset="-122"/>
                <a:ea typeface="微软雅黑" panose="020b0503020204020204" pitchFamily="34" charset="-122"/>
                <a:cs typeface="Meiryo UI" panose="020b0604030504040204" pitchFamily="34" charset="-128"/>
              </a:rPr>
              <a:t>适用省份</a:t>
            </a:r>
            <a:endParaRPr lang="zh-CN" altLang="en-US" sz="4800" b="1">
              <a:solidFill>
                <a:schemeClr val="bg1"/>
              </a:solidFill>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12" name="Freeform 2" title=""/>
          <p:cNvSpPr/>
          <p:nvPr/>
        </p:nvSpPr>
        <p:spPr>
          <a:xfrm>
            <a:off x="0" y="655092"/>
            <a:ext cx="12192000" cy="5909481"/>
          </a:xfrm>
          <a:custGeom>
            <a:rect l="l" t="t" r="r" b="b"/>
            <a:pathLst>
              <a:path w="18288000" h="10287000">
                <a:moveTo>
                  <a:pt x="0" y="0"/>
                </a:moveTo>
                <a:lnTo>
                  <a:pt x="18288000" y="0"/>
                </a:lnTo>
                <a:lnTo>
                  <a:pt x="18288000" y="10287000"/>
                </a:lnTo>
                <a:lnTo>
                  <a:pt x="0" y="10287000"/>
                </a:lnTo>
                <a:lnTo>
                  <a:pt x="0" y="0"/>
                </a:lnTo>
                <a:close/>
              </a:path>
            </a:pathLst>
          </a:custGeom>
          <a:blipFill rotWithShape="1">
            <a:blip r:embed="rId2"/>
            <a:stretch>
              <a:fillRect t="-9222" b="-9222"/>
            </a:stretch>
          </a:blipFill>
        </p:spPr>
        <p:txBody>
          <a:bodyPr/>
          <a:lstStyle/>
          <a:p>
            <a:pPr defTabSz="609600"/>
            <a:endParaRPr lang="zh-CN" altLang="en-US" sz="1200">
              <a:solidFill>
                <a:prstClr val="black"/>
              </a:solidFill>
              <a:latin typeface="Calibri" panose="020f0502020204030204"/>
              <a:ea typeface="宋体" panose="02010600030101010101" pitchFamily="2" charset="-122"/>
            </a:endParaRPr>
          </a:p>
        </p:txBody>
      </p:sp>
      <p:sp>
        <p:nvSpPr>
          <p:cNvPr id="13" name="TextBox 5" title=""/>
          <p:cNvSpPr txBox="1"/>
          <p:nvPr/>
        </p:nvSpPr>
        <p:spPr>
          <a:xfrm>
            <a:off x="1881653" y="3027237"/>
            <a:ext cx="9041765" cy="855233"/>
          </a:xfrm>
          <a:prstGeom prst="rect">
            <a:avLst/>
          </a:prstGeom>
        </p:spPr>
        <p:txBody>
          <a:bodyPr lIns="0" tIns="0" rIns="0" bIns="0" rtlCol="0" anchor="t">
            <a:noAutofit/>
          </a:bodyPr>
          <a:lstStyle/>
          <a:p>
            <a:pPr indent="0" algn="ctr" defTabSz="609600" fontAlgn="auto">
              <a:lnSpc>
                <a:spcPts val="8000"/>
              </a:lnSpc>
              <a:spcBef>
                <a:spcPct val="0"/>
              </a:spcBef>
              <a:spcAft>
                <a:spcPct val="0"/>
              </a:spcAft>
              <a:buClrTx/>
              <a:buSzTx/>
              <a:buFontTx/>
              <a:defRPr/>
            </a:pPr>
            <a:r>
              <a:rPr lang="en-US" altLang="zh-CN" sz="13800" noProof="0">
                <a:ln>
                  <a:noFill/>
                </a:ln>
                <a:solidFill>
                  <a:schemeClr val="accent6">
                    <a:lumMod val="75000"/>
                  </a:schemeClr>
                </a:solidFill>
                <a:effectLst/>
                <a:uLnTx/>
                <a:uFillTx/>
                <a:latin typeface="Cooper Black" panose="0208090404030b020404" pitchFamily="18" charset="0"/>
                <a:ea typeface="宋体" panose="02010600030101010101" pitchFamily="2" charset="-122"/>
                <a:sym typeface="+mn-ea"/>
              </a:rPr>
              <a:t>Thanks!</a:t>
            </a:r>
            <a:endParaRPr lang="en-US" altLang="zh-CN" sz="13800" b="1" noProof="0">
              <a:ln>
                <a:noFill/>
              </a:ln>
              <a:solidFill>
                <a:schemeClr val="accent6">
                  <a:lumMod val="75000"/>
                </a:schemeClr>
              </a:solidFill>
              <a:effectLst/>
              <a:uLnTx/>
              <a:uFillTx/>
              <a:latin typeface="Cooper Black" panose="0208090404030b020404" pitchFamily="18" charset="0"/>
              <a:ea typeface="宋体" panose="02010600030101010101" pitchFamily="2" charset="-122"/>
              <a:sym typeface="+mn-ea"/>
            </a:endParaRPr>
          </a:p>
        </p:txBody>
      </p:sp>
      <p:pic>
        <p:nvPicPr>
          <p:cNvPr id="14" name="图片 13" tit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Tree>
  </p:cSld>
  <p:clrMapOvr>
    <a:masterClrMapping/>
  </p:clrMapOvr>
  <p:transition/>
  <p:timing/>
</p:sld>
</file>

<file path=ppt/tags/tag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8.xml><?xml version="1.0" encoding="utf-8"?>
<p:tagLst xmlns:p="http://schemas.openxmlformats.org/presentationml/2006/main">
  <p:tag name="AS_OS" val="Unix 3.10 unknown"/>
  <p:tag name="AS_RELEASE_DATE" val="2023.03.31"/>
  <p:tag name="AS_TITLE" val="Aspose.Slides for Java"/>
  <p:tag name="AS_VERSION" val="23.3"/>
  <p:tag name="COMMONDATA" val="eyJoZGlkIjoiMjQxNzI1M2Y5NjQ2OGI3YzRkNTFiMDU4YmQ0MmY4OTMifQ=="/>
  <p:tag name="KSO_WPP_MARK_KEY" val="369cf29a-0f70-4642-ae7a-6824c4ec562d"/>
</p:tagLst>
</file>

<file path=ppt/theme/theme1.xml><?xml version="1.0" encoding="utf-8"?>
<a:theme xmlns:r="http://schemas.openxmlformats.org/officeDocument/2006/relationships"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258</Paragraphs>
  <Slides>24</Slides>
  <Notes>0</Notes>
  <TotalTime>0</TotalTime>
  <HiddenSlides>0</HiddenSlides>
  <MMClips>0</MMClips>
  <ScaleCrop>0</ScaleCrop>
  <HeadingPairs>
    <vt:vector baseType="variant" size="6">
      <vt:variant>
        <vt:lpstr>Fonts used</vt:lpstr>
      </vt:variant>
      <vt:variant>
        <vt:i4>9</vt:i4>
      </vt:variant>
      <vt:variant>
        <vt:lpstr>Theme</vt:lpstr>
      </vt:variant>
      <vt:variant>
        <vt:i4>1</vt:i4>
      </vt:variant>
      <vt:variant>
        <vt:lpstr>Slide Titles</vt:lpstr>
      </vt:variant>
      <vt:variant>
        <vt:i4>24</vt:i4>
      </vt:variant>
    </vt:vector>
  </HeadingPairs>
  <TitlesOfParts>
    <vt:vector baseType="lpstr" size="34">
      <vt:lpstr>Arial</vt:lpstr>
      <vt:lpstr>等线 Light</vt:lpstr>
      <vt:lpstr>等线</vt:lpstr>
      <vt:lpstr>微软雅黑</vt:lpstr>
      <vt:lpstr>Times New Roman</vt:lpstr>
      <vt:lpstr>Meiryo UI</vt:lpstr>
      <vt:lpstr>Calibri</vt:lpstr>
      <vt:lpstr>宋体</vt:lpstr>
      <vt:lpstr>Cooper Black</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2026-06-12T09:25:40.930</cp:lastPrinted>
  <dcterms:created xsi:type="dcterms:W3CDTF">2026-06-12T09:25:40Z</dcterms:created>
  <dcterms:modified xsi:type="dcterms:W3CDTF">2026-06-12T01:25:40Z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